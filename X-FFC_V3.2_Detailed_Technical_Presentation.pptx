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2367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STRUCTURED LIGHT · HIGHLIGHT REMOVAL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X-FFC V3.2 / YFFC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模型结构与模块详细技术说明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面向单通道灰度结构光条纹图像的高反光分离、镜面分量分解与漫反射重建网络。本 PPT 在保留原有架构图的基础上，对每个模块的结构、输入输出与数据流给出完整文字说明。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5120640"/>
            <a:ext cx="3200400" cy="1005840"/>
          </a:xfrm>
          <a:prstGeom prst="rect">
            <a:avLst/>
          </a:prstGeom>
          <a:solidFill>
            <a:srgbClr val="2A3B7E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14400" y="5212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双分支编码器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5623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ResNet50 + Swin-Tiny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5120640"/>
            <a:ext cx="3200400" cy="1005840"/>
          </a:xfrm>
          <a:prstGeom prst="rect">
            <a:avLst/>
          </a:prstGeom>
          <a:solidFill>
            <a:srgbClr val="2A3B7E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389120" y="5212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FFC 频域核心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0" y="5623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FourierUnit 全局感受野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80960" y="5120640"/>
            <a:ext cx="3200400" cy="1005840"/>
          </a:xfrm>
          <a:prstGeom prst="rect">
            <a:avLst/>
          </a:prstGeom>
          <a:solidFill>
            <a:srgbClr val="2A3B7E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863840" y="5212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双路漫反射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863840" y="5623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α 融合 + 残差精修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Y_FFC_unified.py · train.py · process_images.py · X-FFC_当前模型完整技术说明文档.md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目录 · 讲解大纲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2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029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3716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任务定义与设计目标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13716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P3–4 · 输入/输出与设计要点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5029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48640" y="18288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18288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总体架构与数据流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18288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P5–7 · X 型双分支拓扑、端到端流程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286000"/>
            <a:ext cx="5029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48640" y="22860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22860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Encoder 双分支编码器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22860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P8–13 · ResNet50 + Swin + 融合 + FFC 瓶颈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743200"/>
            <a:ext cx="5029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48640" y="27432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27432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FFC 频域卷积核心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0" y="2743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P14–18 · FourierUnit / SpectralT. / FFC_BN_ACT 与包含关系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200400"/>
            <a:ext cx="502920" cy="38404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48640" y="32004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32004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GradientDecoder 梯度辅助解码器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0" y="32004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P19–22 · 5 个 Block 每级输入输出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657600"/>
            <a:ext cx="5029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548640" y="36576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80160" y="36576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EnhancementLayers 增强桥接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00800" y="36576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P23–26 · 输入与输出完整说明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114800"/>
            <a:ext cx="502920" cy="384048"/>
          </a:xfrm>
          <a:prstGeom prst="rect">
            <a:avLst/>
          </a:prstGeom>
          <a:solidFill>
            <a:srgbClr val="2A3B7E"/>
          </a:solidFill>
          <a:ln w="12700">
            <a:solidFill>
              <a:srgbClr val="2A3B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548640" y="41148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80160" y="41148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MainDecoder 主解码器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00800" y="41148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P27–35 · 每一级输入输出、SpecAware、双头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572000"/>
            <a:ext cx="5029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548640" y="45720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80160" y="45720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双路融合 + 残差精修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00800" y="45720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P36–37 · α 融合公式与 RefinementHead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5029200"/>
            <a:ext cx="5029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548640" y="50292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09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280160" y="50292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损失函数 EnhancedCompositeLoss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400800" y="5029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P38–40 · 多任务复合损失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" y="5486400"/>
            <a:ext cx="5029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548640" y="54864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280160" y="54864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训练 + 推理流程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6400800" y="54864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P41–45 · 训练循环、滑窗、TTA、优化器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48640" y="5943600"/>
            <a:ext cx="502920" cy="38404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548640" y="59436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11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280160" y="59436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总结与模块包含关系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6400800" y="59436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P46–50 · 关键设计回顾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TASK DEFINITION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任务定义 · 把输入分解为漫反射与高反光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3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124712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x  ≈  r  +  b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943600" y="132588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输入 x 视作漫反射 r 与镜面/高反光 b 的叠加；模型同时恢复 r、估计 b 并产生辅助先验 g 与 s。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3657600" cy="1737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73152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85800" y="2423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输入 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788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 1, H, W]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1089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</a:rPr>
              <a:t>灰度结构光条纹图，已归一化到 [0,1]。包含条纹纹理、真实反射、高亮饱和区与噪声。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51960" y="2331720"/>
            <a:ext cx="3657600" cy="1737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4251960" y="2331720"/>
            <a:ext cx="73152" cy="1737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480560" y="2423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输出 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80560" y="2788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 1, H, W]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80560" y="31089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</a:rPr>
              <a:t>最终漫反射图，是推理主结果。由 r_direct 与 r_sub 经 α 融合后，再经过 ResidualRefinementHead 精修得到。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6720" y="2331720"/>
            <a:ext cx="3657600" cy="1737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046720" y="2331720"/>
            <a:ext cx="73152" cy="173736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275320" y="2423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输出 b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75320" y="2788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 1, H, W]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75320" y="31089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</a:rPr>
              <a:t>模型估计的镜面/高反光分量。可解释“从输入中被移除的高动态亮斑”，并构建物理减法路径。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206240"/>
            <a:ext cx="3657600" cy="1737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457200" y="4206240"/>
            <a:ext cx="73152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85800" y="4297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辅助 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" y="4663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 1, H, W]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49834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</a:rPr>
              <a:t>输入图像 Sobel 梯度幅值。帮助模型显式看见条纹边界、高光边缘和局部结构突变。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51960" y="4206240"/>
            <a:ext cx="3657600" cy="1737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4251960" y="4206240"/>
            <a:ext cx="73152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4480560" y="4297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辅助 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480560" y="4663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 1, H, W]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80560" y="49834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</a:rPr>
              <a:t>高反光软概率图。监督目标为 clamp(input - target, 0, 1)，作为高光位置的可微 soft mask。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046720" y="4206240"/>
            <a:ext cx="3657600" cy="1737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046720" y="4206240"/>
            <a:ext cx="73152" cy="1737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275320" y="4297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训练辅助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275320" y="4663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r_direct / alpha / cs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75320" y="49834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</a:rPr>
              <a:t>r_direct 是主解码器直接预测的漫反射；alpha 为双路融合系数；cs 为跨尺度一致性标量。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DESIGN GOALS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要实现的效果与六大设计要点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4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0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4937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核心目标 · 保留条纹，去除高光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52120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去除局部饱和与强反光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同时尽可能保留条纹连续性、边缘位置和灰度结构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输出 r 不是“全图变暗”，而是恢复后续相位解算可用的条纹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同时输出 b/g/s 的原因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b 解释“被移除了哪些亮度”，提供物理减法路径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g 提供边界先验，强化条纹/高光边缘的恢复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s 提供高光位置先验，参与增强层与主解码门控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为何需要 r_direct + r_sub 双路径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r_sub = clamp(x - b) 保留物理含义，但暗区易丢细节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r_direct 由解码器直接预测，作为暗部和困难区域兜底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两路用可学习 α 自适应融合，再用残差头做 ±0.15 微调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2651760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73152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0080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全局感受野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19202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</a:rPr>
              <a:t>FFC 频域 1×1 卷积，等价空间域全局加权 O(N·logN)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06840" y="1371600"/>
            <a:ext cx="2651760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9006840" y="1371600"/>
            <a:ext cx="73152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18972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双分支互补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89720" y="19202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</a:rPr>
              <a:t>ResNet 局部纹理 + Swin 窗口长程上下文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063240"/>
            <a:ext cx="2651760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217920" y="3063240"/>
            <a:ext cx="73152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40080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多任务监督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3611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</a:rPr>
              <a:t>梯度 g + 高光概率 s + 漫反射 r 联合学习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06840" y="3063240"/>
            <a:ext cx="2651760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9006840" y="3063240"/>
            <a:ext cx="73152" cy="155448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18972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物理可解释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89720" y="3611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</a:rPr>
              <a:t>保留 r_sub = clamp(x − b) 物理减法路径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4754880"/>
            <a:ext cx="2651760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217920" y="4754880"/>
            <a:ext cx="73152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400800" y="4892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暗部兜底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0" y="53035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</a:rPr>
              <a:t>r_direct 直接预测路径覆盖减法盲区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006840" y="4754880"/>
            <a:ext cx="2651760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9006840" y="4754880"/>
            <a:ext cx="73152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9189720" y="4892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像素级精修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89720" y="53035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</a:rPr>
              <a:t>ResidualRefinementHead 做 ±0.15 微调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OVERALL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X-FFC / YFFC 总体架构图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5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images/image-5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771" y="1325880"/>
            <a:ext cx="8079410" cy="4526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75569"/>
                </a:solidFill>
              </a:rPr>
              <a:t>数据流: x → Encoder (双分支 + FFC) → x_c / x_bb_1..4 → GradientDecoder (g, s, xe1..4) → EnhancementLayers (enh1..4) → MainDecoder (b, r_direct, α) → 双路融合 → 残差精修 → r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OVERALL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总体架构 · 文字详细说明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6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0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4937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X 型双分支结构 · 五大组成部分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52120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Encoder (双分支编码器)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ResNet50 提取局部纹理与条纹边缘; Swin-Tiny 提供窗口上下文与长程依赖。多尺度融合后经 FFC 瓶颈与 HighFrequencyEnhancement 输出 5 路特征 (x_bb_1..4 + x_c)。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GradientDecoder (梯度辅助解码器)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从编码特征解码 5 个 Block, 得到 4 个中间特征 xe1..xe4, 并通过两个独立输出头给出梯度图 g 与高反光软概率 s。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EnhancementLayers (增强桥接)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把 xe1..xe4 与 g、原图 x 和 s 一起送入 4 个 _SpectralDecompositionUnit, 输出 4 级增强特征 enh1..enh4 给主解码器。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MainDecoder (主解码器)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5 级解码: 编码 skip + 增强特征 + 三路先验门控 + SpecularAwareAttention。共享解码主体之后分成两个头: b (高反光) 与 r_direct (直接漫反射), 并预测 alpha_logit。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双路融合 + ResidualRefinementHead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r_sub = clamp(x − b); α = sigmoid(alpha_logit); r_fused = α·r_direct + (1−α)·r_sub; 最终 r = clamp(r_fused + 0.15·Δ)。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53212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73152" cy="4937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00800" y="1463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模型完整输出 · YFFC.forward 返回字典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1874520"/>
            <a:ext cx="5257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· 最终漫反射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形状 [B,1,H,W], 推理主结果。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镜面反射 / 高反光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形状 [B,1,H,W], 构成 r_sub 的依据。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· 梯度图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形状 [B,1,H,W], 监督目标为 Sobel(input)。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· 高光软概率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形状 [B,1,H,W], 监督目标 gt_specular。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r_direct · 直接预测漫反射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形状 [B,1,H,W], 参与训练损失与最终融合。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· 双路融合系数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可学习标量/广播张量, 控制 r_direct 与 r_sub 比例。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· 跨尺度一致性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标量, 作用于 H/4、H/8、H/16 融合特征响应图, 仅参与训练损失。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DATA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端到端数据流 · YFFC.forward 伪代码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7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65836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YFFC.forward(x)  ----  x in [B, 1, H, W]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(1) Encoder: 5 路特征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x_bb_1, x_bb_2, x_bb_3, x_bb_4, x_c = encoder(x)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x_bb_1 [B, 64, H/2 , W/2 ]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x_bb_2 [B,128, H/4 , W/4 ]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x_bb_3 [B,256, H/8 , W/8 ]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x_bb_4 [B,512, H/16, W/16]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x_c    [B,256, H/16, W/16]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(2) GradientDecoder: 辅助分支输出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xe1, xe2, xe3, xe4, g, s =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gradient_decoder((x_bb_1..4), x_c, x)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(3) EnhancementLayers: 增强桥接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enh1, enh2, enh3, enh4 =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enhancement_layers((xe1..4), g, x, s)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(4) MainDecoder: 双头输出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b, r_direct, alpha_logit = main_decoder(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(x_bb_1..4, x_c), (enh1..4), g, s, x)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(5) 双路融合 + 残差精修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r_sub   = clamp(x - b, 0, 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   = sigmoid(alpha_logit)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r_fused = alpha * r_direct + (1 - alpha) * r_sub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   = refinement_head(r_fused, x, r_direct)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      = clamp(r_fused + 0.15 * delta, 0, 1)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(6) 跨尺度一致性 (仅训练)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 = cross_scale_consistency(x_bb_2, x_bb_3, x_bb_4)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{"r": r, "b": b, "g": g, "s": 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"r_direct": r_direct,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"alpha": alpha, "cs": cs}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498080" y="1371600"/>
            <a:ext cx="425196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7498080" y="1371600"/>
            <a:ext cx="73152" cy="4937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680960" y="1463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数据流 · 关键节点解读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80960" y="1874520"/>
            <a:ext cx="3931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(1) 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编码器输出 4 路 skip 特征 + 1 路瓶颈 x_c。skip 服务解码器各级; x_c 是经过 CNN-Swin 融合、跨尺度回流、FFC 与高频增强的瓶颈特征。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(2) 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GradientDecoder 同时产出: 梯度图 g (监督 Sobel(x))、高光概率 s (监督 gt_specular)、4 个中间特征 xe1..xe4。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(3) 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EnhancementLayers 把 xe1..xe4 转换为高光重建相关的 enh1..enh4, 并通过 g/x/s 的双层门控聚焦在“高光相关结构突变”区域。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(4) 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主解码器汇聚 c_features + enh + 三路先验 + SpecAware; 分出两个输出头: b (高光) 与 r_direct (直接漫反射)。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(5) 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决定信任 r_direct 还是 r_sub; 融合后再用 RefinementHead 做受限残差精修 (系数 0.15)。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(6) 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仅参与训练损失, 约束 H/4、H/8、H/16 融合特征响应保持一致, 提升跨尺度泛化。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0D9488"/>
                </a:solidFill>
              </a:rPr>
              <a:t>PART 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</a:rPr>
              <a:t>Encoder 双分支编码器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31520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</a:rPr>
              <a:t>ResNet50 局部纹理 · Swin-Tiny 窗口上下文 · 跨模态融合 · FFC 瓶颈 · 高频增强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4617720"/>
            <a:ext cx="137160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</a:rPr>
              <a:t>8 / 50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ENCODER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· 双分支多尺度融合架构图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9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images/image-6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771" y="1325880"/>
            <a:ext cx="8079410" cy="4526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75569"/>
                </a:solidFill>
              </a:rPr>
              <a:t>ResNet50 提供局部纹理; Swin-Tiny 提供窗口上下文。H/4、H/8 用 AdaptiveSkipFusion 轻量融合; H/16 用 CrossModalFusion 双向 CA; TopDownRefinement 把语义回灌到浅层; 最后 FFC_BN_ACT 与 HighFrequencyEnhancement 形成瓶颈 x_c。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ENCODER · OUTPUTS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· 五路输出与各自用途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10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</a:rPr>
              <a:t>Encoder 接收 x ∈ [B,1,H,W], 输出 4 路 skip 特征 (x_bb_1..4) + 1 路瓶颈特征 (x_c)。skip 为多尺度解码服务, 瓶颈作为主解码器与梯度解码器的核心入口。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12471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名称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83080" y="2011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形状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11880" y="2011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构造来源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26680" y="2011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下游用途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11247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7315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94360" y="242316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x_bb_1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83080" y="24231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 64, H/2, W/2]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11880" y="24231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ResNet stem (conv1+pool 后)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26680" y="24231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MainDecoder L4 skip · GradientDecoder Block 4/5 skip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1124712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7315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94360" y="320040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x_bb_2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83080" y="32004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 128, H/4, W/4]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11880" y="32004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ResNet layer1 + AdaptiveSkipFusion (与 swin_4 融合) + TopDown 注入 H/4 语义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26680" y="32004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MainDecoder L3 skip · GradientDecoder Block 3 skip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977640"/>
            <a:ext cx="11247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457200" y="3977640"/>
            <a:ext cx="73152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94360" y="39776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x_bb_3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783080" y="39776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 256, H/8, W/8]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11880" y="39776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ResNet layer2 + AdaptiveSkipFusion (与 swin_8 融合) + TopDown 注入 H/8 语义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726680" y="39776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MainDecoder L2 skip · GradientDecoder Block 2 skip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4754880"/>
            <a:ext cx="1124712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457200" y="4754880"/>
            <a:ext cx="73152" cy="77724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594360" y="475488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x_bb_4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783080" y="47548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 512, H/16, W/16]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11880" y="47548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cat(reduce_l3, reduce_l4) → fuse_l34; 再与 swin_16 做 CrossModalFusion 双向 CA; TopDown 精炼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726680" y="47548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MainDecoder L1 skip · GradientDecoder Block 1 fuse_global 输入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5532120"/>
            <a:ext cx="11247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457200" y="5532120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594360" y="55321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x_c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783080" y="55321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 256, H/16, W/16]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611880" y="55321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x_bb_4 → cba_after_backbone (Conv 1×1 降维到 256) → FFC_BN_ACT(ratio=0.5) 残差 → HighFrequencyEnhancement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726680" y="55321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MainDecoder 主输入 · GradientDecoder Block 1 fuse_global 另一路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ENCODER · RESNET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局部纹理分支 · 结构与数据流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11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0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493776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结构与单通道适配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52120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灰度输入适配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第一层 conv1 由 RGB (3→64) 改为 1→64; 权重由 ImageNet 预训练的 RGB 卷积核沿通道维取均值初始化: new_w = old_w.mean(dim=1, keepdim=True)。这样灰度输入也能继承预训练的边缘/纹理表征能力。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layer4 空洞改造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layer4 stride 改为 1, 并用 dilation 替代下采样, 使深层仍保持 H/16 分辨率, 避免高反光语义被过度下采样。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通道压缩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 layer1/2/3 输出分别加 reduce_l1/l2/l3 (1×1 Conv) 把 256/512/1024 通道压到 128/256/512, 便于解码器使用。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末层融合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x_l3_512 与 x_l4_512 都是 H/16 × 512, 通过 cat + fuse_l34 (Conv 1×1) 合并为 512 通道的 x_bb_4。该融合让浅层与深层 H/16 语义同时进入瓶颈。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532120" cy="2331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73152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00800" y="14630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ResNet 内部 5 路特征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18288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64ch · H/2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0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→ x_bb_1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0" y="21945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256→128ch · H/4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44000" y="2194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→ x_bb_2 (经 AdaptiveSkipFusion)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0" y="256032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512→256ch · H/8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144000" y="2560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→ x_bb_3 (经 AdaptiveSkipFusion)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0" y="29260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1024→512ch · H/16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144000" y="2926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→ cat → fuse_l34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0" y="329184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2048→512ch · H/16 (dilated)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44000" y="3291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→ cat → fuse_l34 → x_bb_4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0" y="3794760"/>
            <a:ext cx="5532120" cy="25146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217920" y="3794760"/>
            <a:ext cx="73152" cy="2514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400800" y="3886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为什么 X-FFC 选择 ResNet50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0" y="4251960"/>
            <a:ext cx="5212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卷积归纳偏置对条纹边缘、亮暗跃迁等高反光关键特征敏感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级特征金字塔天然为解码器提供多尺度 skip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 Transformer 形成“局部 + 全局”互补, 覆盖不同感受野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预训练权重在分层学习率 (×0.1) 下做轻微微调, 避免破坏稳定低层特征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ENCODER · SWIN + FUSION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Swin-Tiny 分支与多尺度跨模态融合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12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00" cy="2560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2560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Swin-Tiny 窗口上下文分支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灰度 PatchEmbed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Conv 4×4 stride 4, 1→96 通道; 权重 = 原 RGB PatchEmbed 通道均值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尺寸处理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不强制 resize 到 224; 输入若不能被 32 整除, 仅在右/下做 padding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三尺度输出</a:t>
            </a: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swin_4 [96, H/4]   swin_8 [192, H/8]   swin_16 [384, H/16]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Shifted-window 注意力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跨窗口信息流动, 弥补 ResNet 感受野不足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532120" cy="2560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73152" cy="2560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00800" y="14630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三种融合模块 (位置不同 · 强度不同)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18013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AdaptiveSkipFusion · H/4 + H/8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0" y="20574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out = res + β·gate·swin_proj; 轻量门控、保持 ResNet 主导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0" y="25146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CrossModalFusion · H/16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0" y="277063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双向 Cross-Attention: CNN→Swin 与 Swin→CNN; 最后门控融合 + Conv 3×3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0" y="322783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CrossScaleTopDownRefinement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0" y="348386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把 H/16 上下文通过门控回流到 H/8 和 H/4; γ 控制注入强度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11292840" cy="22402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73152" cy="2240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40080" y="41605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融合模块输入输出形状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1115568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40080" y="45262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fuse_h4 (ASF)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331720" y="452628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x_bb_2 [128,H/4] + swin_4 [96,H/4]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452628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x_bb_2_new [128, H/4]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49640" y="45262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ResNet 浅层细节 + Swin 局部上下文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873752"/>
            <a:ext cx="11155680" cy="329184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40080" y="487375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fuse_h8 (ASF)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31720" y="487375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x_bb_3 [256,H/8] + swin_8 [192,H/8]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77840" y="487375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x_bb_3_new [256, H/8]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549640" y="487375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中层结构 + Swin 中尺度上下文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5221224"/>
            <a:ext cx="1115568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40080" y="522122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swin16_proj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331720" y="522122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swin_16 [384, H/16]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77840" y="522122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投影到 512 通道, 与 CNN 对齐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549640" y="522122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为 CrossModalFusion 提供 Swin 端 Q/K/V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5568696"/>
            <a:ext cx="11155680" cy="329184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40080" y="556869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CrossModalFusion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331720" y="556869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cnn_feat [512,H/16] + ctx [512,H/16]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77840" y="556869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fused [512, H/16]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549640" y="556869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双向 CA + gate 融合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" y="5916168"/>
            <a:ext cx="1115568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40080" y="59161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TopDownRefine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2331720" y="59161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(h4_new, h8_new, fused)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577840" y="591616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(h4', h8', h16')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549640" y="591616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γ-控制的语义回流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ENCODER · BOTTLENECK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末端 · FFC 瓶颈 + HighFrequencyEnhancement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13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943600" cy="4937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56692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Encoder 末端流程 (在 forward 中的实际位置)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已经得到 H/16 融合特征 x_bb_4 [B,512,H/16,W/16]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以及顶向回流的精炼版本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(1) 通道压缩 + 投影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x_c = cba_after_backbone(x_bb_4)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x_c [B, 256, H/16, W/16]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(2) FFC 瓶颈 (频域全局建模)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ffc_out = FFC_BN_ACT(x_c,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ratio_gin=0.5,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ratio_gout=0.5)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x_c = x_c + ffc_out          # 残差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(3) 高频显式增强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hf = HighFrequencyEnhancement(x_c)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内部: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· 固定 Laplacian 分支 (二阶边缘)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· 可学习高频分支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· 多尺度 (sigma=1,3,5) 高斯-残差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· SE 通道注意力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x_c = x_c + gamma * hf       # gamma 受控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(4) 数值保护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x_c = _safe_tensor(x_c)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x_c 进入 GradientDecoder Block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与 MainDecoder L1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0" y="1371600"/>
            <a:ext cx="5166360" cy="2331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583680" y="1371600"/>
            <a:ext cx="73152" cy="2331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766560" y="1463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FFC 瓶颈作用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0" y="178308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ratio_gin = ratio_gout = 0.5, 通道一半走频域 (SpectralTransform)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把 H/16 空间特征转到频域, 1×1 Conv 等价空间域全局加权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H/16 即便有较大下采样, 仍可能覆盖不全图像; FFC 在此弥补全局视野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以残差形式注入, 保留 ResNet/Swin 已有结构信息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3794760"/>
            <a:ext cx="5166360" cy="25146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583680" y="3794760"/>
            <a:ext cx="73152" cy="251460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766560" y="38862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HighFrequencyEnhancement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66560" y="4206240"/>
            <a:ext cx="4846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Laplacian 分支 (固定核): 提取二阶导, 对条纹边缘敏感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可学习高频分支: 数据驱动捕获非 Laplacian 高频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通道注意力: 自动选择真正重要的高频分量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受控残差缩放: output = x + gamma · SE(fusion(...)), 避免破坏整体表示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意义: 高光边界与条纹本身都是强高频信号; 显式增强避免被深层卷积平滑掉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0D9488"/>
                </a:solidFill>
              </a:rPr>
              <a:t>PART 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</a:rPr>
              <a:t>FFC 频域卷积核心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31520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</a:rPr>
              <a:t>FourierUnit · SpectralTransform · FFC_BN_ACT · 以及 FFC 在模型中的包含关系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4617720"/>
            <a:ext cx="137160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</a:rPr>
              <a:t>14 / 50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FFC CORE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FFC 频域卷积核心 · 三层封装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15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images/image-1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771" y="1325880"/>
            <a:ext cx="8079410" cy="4526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75569"/>
                </a:solidFill>
              </a:rPr>
              <a:t>FFC 由内到外三层封装: FourierUnit (最底层 FFT 单元) → SpectralTransform (全局 FU + 局部 LFU + 门控融合) → FFC_BN_ACT (Local/Global 四路交互的统一入口)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FFC · FOURIER UNIT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FourierUnit · 最底层频域单元的 7 步流水线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16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0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4937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数据流 (输入 → 输出)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187452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4008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182880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可选 spatial scale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21031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用 F.interpolate 把输入下采到更小尺度做 FFT, 进一步减少计算量 (默认关闭)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2505456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40080" y="2505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459736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Tukey 二维窗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73405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对输入乘 2D Tukey (cosine taper) 窗, 平滑边缘衰减、抑制 FFT 谱泄漏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136392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136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09067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rFFT → real/imag → 通道拼接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33649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torch.fft.rfftn 计算实数 FFT, 复数张量拆分 real/imag 并沿通道维拼接 [B, 2C, H, W/2+1]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767328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40080" y="37673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372160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1×1 Conv → BN → GELU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399592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频域 1×1 卷积, 等价于空间域全局加权; BN 在频域稳定训练, GELU 提供非线性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4398264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40080" y="43982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4352544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频域 SE 通道注意力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462686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全局 avg pool → MLP → sigmoid, 对频域通道做再加权, 相当于自适应频段选择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" y="502920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40080" y="5029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51560" y="498348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real/imag → 复数 → iRFFT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51560" y="52578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torch.fft.irfftn 反变换回空间域, 输出 [B, C, H, W]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5660136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40080" y="56601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51560" y="5614416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_safe_tensor 数值保护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51560" y="588873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对 NaN/+Inf/-Inf 进行截断; AMP 训练中 FFT 偶尔会数值溢出, 必须显式保护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17920" y="1371600"/>
            <a:ext cx="5532120" cy="2331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217920" y="1371600"/>
            <a:ext cx="73152" cy="2331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400800" y="14630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FourierUnit 的结构意义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400800" y="178308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在频域做 1×1 Conv 等价于空间域全局加权, O(N·log N) 即可获得全局感受野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条纹图像是强周期信号, 高光常对应特定频率簇; 频域建模直接命中目标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频域 SE 让网络自适应选择需要保留/抑制的频段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_safe_tensor 是工程上必需的保护, 否则极端样本会引发 FFT 数值崩溃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17920" y="3794760"/>
            <a:ext cx="5532120" cy="25146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6217920" y="3794760"/>
            <a:ext cx="73152" cy="2514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400800" y="3886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输入 / 输出张量形状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400800" y="4297680"/>
            <a:ext cx="521208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6537960" y="438912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接口签名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FourierUnit(in_channels, out_channels,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spatial_scale_factor=None,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spectral_pos_encoding=False)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张量流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        : [B, C_in,  H, W]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ffted     : [B, 2*C_in, H, W//2 + 1]  # 频域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conv1x1   : [B, 2*C_out, ...]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iRFFT     : [B, C_out, H, W]          # 回空间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   : [B, C_out, H, W]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FFC · SPECTRAL + FFC_BN_ACT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SpectralTransform 与 FFC_BN_ACT · 中外两层封装详解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17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0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4937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SpectralTransform · FFC 的全局分支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52120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组件构成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Conv 1×1 降维 → FU (整图 FFT) → LFU (上下两半各做 FFT) → Gate Fusion → Conv 1×1 升维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 分支的角色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对整张特征图做 FourierUnit, 捕获大范围条纹周期与整片高光趋势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LFU 分支的角色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把特征按高度分上下两半, 分别送入独立 FourierUnit, 再 cat 起来; 强化局部位置敏感的频域响应, 弥补整图 FFT 丢失空间信息的缺点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Fusion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combined = g · FU(x) + (1 − g) · LFU(x); 可学习门 g 决定每个位置更依赖全局还是局部频域, 避免固定相加产生信息冲突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53212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73152" cy="4937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00800" y="14630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FFC_BN_ACT · 统一入口 (网络中使用的层)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1828800"/>
            <a:ext cx="52120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通道划分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输入通道按 ratio_gin 拆为 Local (L) 与 Global (G); 输出按 ratio_gout 拆为 out_xl 与 out_xg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四路交互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L→L 普通空间卷积; L→G 普通空间卷积; G→L 通过 SpectralTransform; G→G 通过 SpectralTransform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聚合规则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out_xl = L→L + G→L; out_xg = L→G + G→G; 输出为 (out_xl, out_xg) 元组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下游用法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在模型中一般写成: out = ffc((x_local, x_global)); 下游通常 torch.cat([out[0], out[1]], dim=1) 拼回完整特征再继续传播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关键参数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ratio_gin/ratio_gout = 0.5 表示一半通道走频域; 0.25 表示频域分支占四分之一 (轻量场景)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FFC · CONTAINMENT HIERARCHY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FFC 模块在整个模型中的包含关系与位置 (重点)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18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</a:rPr>
              <a:t>注意 · 网络中实际被调用的是 FFC_BN_ACT 与 SpectralTransform, 并非直接调用 FourierUnit。三者构成自底向上的封装链。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65760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L1 · FourierUnit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最底层 FFT 单元: rFFT + 1×1 Conv + SE + iRFFT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0" y="1828800"/>
            <a:ext cx="228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75569"/>
                </a:solidFill>
              </a:rPr>
              <a:t>▶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343400" y="1828800"/>
            <a:ext cx="36576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526280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L2 · SpectralTransform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2240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FU (整图) + LFU (上下半) + Gate Fusion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01000" y="1828800"/>
            <a:ext cx="228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75569"/>
                </a:solidFill>
              </a:rPr>
              <a:t>▶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229600" y="1828800"/>
            <a:ext cx="36576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412480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L3 · FFC_BN_ACT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2240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Local/Global 四路交互, 是网络中实际使用的层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11292840" cy="32918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73152" cy="3291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40080" y="3108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FFC_BN_ACT 在整个 X-FFC 模型中的调用位置 (10+ 次出现)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520440"/>
            <a:ext cx="1110996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40080" y="35204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位置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17520" y="35204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调用形式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0" y="35204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处理对象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21040" y="35204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作用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813048"/>
            <a:ext cx="111099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548640" y="3813048"/>
            <a:ext cx="73152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85800" y="381304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Encoder 末端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017520" y="381304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ffc_bottleneck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12080" y="381304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对 x_c 做 ratio=0.5 的频域全局建模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21040" y="381304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提供瓶颈级全局上下文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123944"/>
            <a:ext cx="1110996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548640" y="4123944"/>
            <a:ext cx="73152" cy="310896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85800" y="41239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GradientDecoder Block 1 (H/16)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017520" y="412394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FFC_BN_ACT(r=0.25)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12080" y="412394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处理 cat(x_bb_4, x_c) 融合后的特征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321040" y="412394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在 H/16 加入全局频域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4434840"/>
            <a:ext cx="111099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548640" y="4434840"/>
            <a:ext cx="73152" cy="310896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85800" y="44348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GradientDecoder Block 2 (H/8)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017520" y="443484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FFC_BN_ACT(r=0.25)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12080" y="443484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处理 cat(xe1, x_bb_3)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321040" y="44348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在 H/8 中层加入频域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" y="4745736"/>
            <a:ext cx="1110996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548640" y="4745736"/>
            <a:ext cx="73152" cy="310896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85800" y="474573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GradientDecoder Block 3 (H/4)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017520" y="474573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FFC_BN_ACT(r=0.25)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212080" y="4745736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处理 cat(xe2, x_bb_2)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321040" y="474573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在 H/4 浅层加入频域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48640" y="5056632"/>
            <a:ext cx="111099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548640" y="5056632"/>
            <a:ext cx="73152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685800" y="505663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MainDecoder L1 (H/16)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017520" y="505663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FFC1 + FFC2 + residual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212080" y="505663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在 x_c 上做两次 FFC, 构成主解码起点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321040" y="505663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瓶颈频域提取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48640" y="5367528"/>
            <a:ext cx="1110996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548640" y="5367528"/>
            <a:ext cx="73152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685800" y="536752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MainDecoder L2 (H/8)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017520" y="536752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FFC_H8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212080" y="536752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上采样后注入 H/8 频域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321040" y="53675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中层频域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48640" y="5678424"/>
            <a:ext cx="111099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548640" y="5678424"/>
            <a:ext cx="73152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685800" y="567842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MainDecoder L3 (H/4)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3017520" y="567842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FFC_H4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5212080" y="567842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上采样后注入 H/4 频域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8321040" y="567842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浅层频域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48640" y="5989320"/>
            <a:ext cx="1110996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Shape 68"/>
          <p:cNvSpPr/>
          <p:nvPr/>
        </p:nvSpPr>
        <p:spPr>
          <a:xfrm>
            <a:off x="548640" y="5989320"/>
            <a:ext cx="73152" cy="3108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Text 69"/>
          <p:cNvSpPr/>
          <p:nvPr/>
        </p:nvSpPr>
        <p:spPr>
          <a:xfrm>
            <a:off x="685800" y="59893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EnhancementLayers (×4)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3017520" y="598932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specular_branch + FFC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212080" y="598932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对 specular 分支做频域精炼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8321040" y="59893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高光分支频域强化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0D9488"/>
                </a:solidFill>
              </a:rPr>
              <a:t>PART 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</a:rPr>
              <a:t>GradientDecoder 梯度辅助解码器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31520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</a:rPr>
              <a:t>5 个 Block 渐进上采 · 双任务输出 g 与 s · 中间特征 xe1..4 服务 EnhancementLayers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4617720"/>
            <a:ext cx="137160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</a:rPr>
              <a:t>19 / 50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GRADIENT DECODER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GradientDecoder · 5 级 Block 与双任务输出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20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images/image-14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771" y="1325880"/>
            <a:ext cx="8079410" cy="4526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75569"/>
                </a:solidFill>
              </a:rPr>
              <a:t>5 级渐进上采样 H/16→H/8→H/4→H/2→H; 每级 cat 编码器 skip + 上一级 xe; Block 5 输出共享特征, 再分出两个并列输出头: 梯度图 g 与高反光软概率图 s。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GRADIENT DECODER · PER-BLOCK I/O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GradientDecoder · 每一级 Block 的输入与输出 (重点)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21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forward(backbone_features, x_c, original_input) → (xe1, xe2, xe3, xe4, x_g, x_s)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1129284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Block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17830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输入张量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17830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内部主要操作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32520" y="17830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输出 (形状)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167128"/>
            <a:ext cx="112928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2167128"/>
            <a:ext cx="73152" cy="86868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94360" y="2167128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2777"/>
                </a:solidFill>
              </a:rPr>
              <a:t>Block 1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DB2777"/>
                </a:solidFill>
              </a:rPr>
              <a:t>(H/16)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216712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x_bb_4 [B,512,H/16]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x_c    [B,256,H/16]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0" y="216712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① fuse_global: cat(x_bb_4, x_c) → 512ch (Conv 1×1)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② Conv 7×7 → Conv 1×1 → Conv 3×3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③ FFC_BN_ACT (r=0.25)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④ Conv 5×5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732520" y="216712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xe1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[B,256,H/16,W/16]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35808"/>
            <a:ext cx="1129284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57200" y="3035808"/>
            <a:ext cx="73152" cy="86868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94360" y="3035808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2777"/>
                </a:solidFill>
              </a:rPr>
              <a:t>Block 2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DB2777"/>
                </a:solidFill>
              </a:rPr>
              <a:t>(H/8)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28800" y="303580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xe1    [B,256,H/16]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x_bb_3 [B,256,H/8]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0" y="303580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① cat(up(xe1), x_bb_3)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② Conv 3×3 → FFC_BN_ACT (r=0.25)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③ ConvTranspose 4×4 stride 2 (↑×2)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732520" y="30358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xe2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[B,128,H/8,W/8]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904488"/>
            <a:ext cx="112928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457200" y="3904488"/>
            <a:ext cx="73152" cy="86868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94360" y="3904488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2777"/>
                </a:solidFill>
              </a:rPr>
              <a:t>Block 3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DB2777"/>
                </a:solidFill>
              </a:rPr>
              <a:t>(H/4)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828800" y="390448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xe2    [B,128,H/8]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x_bb_2 [B,128,H/4]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0" y="390448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① cat(xe2, x_bb_2)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② Conv 3×3 → FFC_BN_ACT (r=0.25)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③ ConvTranspose 4×4 stride 2 (↑×2)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732520" y="390448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xe3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[B,64,H/4,W/4]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773168"/>
            <a:ext cx="1129284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457200" y="4773168"/>
            <a:ext cx="73152" cy="86868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594360" y="4773168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2777"/>
                </a:solidFill>
              </a:rPr>
              <a:t>Block 4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DB2777"/>
                </a:solidFill>
              </a:rPr>
              <a:t>(H/2)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828800" y="477316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xe3    [B,64,H/4]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x_bb_1 [B,64,H/2]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0" y="477316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① cat(xe3, x_bb_1)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② Conv 3×3 + ConvTranspose stride 2 (↑×2)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732520" y="47731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xe4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[B,32,H/2,W/2]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5641848"/>
            <a:ext cx="112928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457200" y="5641848"/>
            <a:ext cx="73152" cy="86868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594360" y="5641848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2777"/>
                </a:solidFill>
              </a:rPr>
              <a:t>Block 5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DB2777"/>
                </a:solidFill>
              </a:rPr>
              <a:t>(H)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828800" y="564184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xe4 [B,32,H/2]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x_bb_1 [B,64,H/2]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 x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0" y="564184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① cat(xe4, x_bb_1) → ConvTranspose ↑×2 → full-res 共享特征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② cat(shared, x) → x_concat (含原图)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③ 分别送入两个输出头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732520" y="564184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 [..,H,W]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x_concat [..,H,W]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g 与 s 头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GRADIENT DECODER · OUTPUT HEADS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梯度头 + 高反光概率头 · 详细说明与下游用法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22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0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4937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梯度头 (Grad Head) · 输出 x_g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52120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</a:t>
            </a: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x_concat → block_5_conv_2 (Conv 3×3) → Sigmoid → x_g [B,1,H,W]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监督目标</a:t>
            </a: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gt_grad = normalized_sobel_magnitude(input_img)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监督的是“输入图”的 Sobel 梯度, 而不是“目标漫反射”的梯度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训练损失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l_grad (SSIM)、l_grad_edge (Charbonnier with edge weight)、l_grad_spec (用输入高亮先验约束 g 与 b 边界关系)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下游消费者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1) EnhancementLayers 的 edge_gate; 2) MainDecoder 三路先验调制中的 grad_gate 与 joint_gate; 3) MainDecoder L5 与 cat(gradient g) 直接拼接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53212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73152" cy="4937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00800" y="1463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高反光概率头 (Spec-Lik Head) · 输出 x_s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1874520"/>
            <a:ext cx="52120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</a:t>
            </a: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x_concat → Conv 3×3 (→32ch) → Conv 3×3 (→16ch) → Conv 5×5 (→1ch) → Sigmoid → x_s [B,1,H,W]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监督目标</a:t>
            </a: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gt_specular = clamp(input - target, 0, 1)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输入中比目标多出来的高反光成分, 作为高光位置软标签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训练损失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l_s_lik (BCE + SSIM)、l_s_cons (s 与 b 在高反光区域的双向一致性约束)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下游消费者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1) EnhancementLayers 的 specular_gate (与 g、x 联合); 2) MainDecoder 三路先验中的 joint_gate 与 spec_lik_gate; 3) 训练损失中作为高光区域定位线索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0D9488"/>
                </a:solidFill>
              </a:rPr>
              <a:t>PART 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</a:rPr>
              <a:t>EnhancementLayers 增强桥接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31520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</a:rPr>
              <a:t>把 xe1..xe4 转换为主解码器可用的高光增强特征 enh1..enh4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4617720"/>
            <a:ext cx="137160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</a:rPr>
              <a:t>23 / 50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ENHANCEMENT LAYERS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EnhancementLayers · 4 级并列单元 + _SpectralDecompositionUnit 内部结构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24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images/image-16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771" y="1325880"/>
            <a:ext cx="8079410" cy="4526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75569"/>
                </a:solidFill>
              </a:rPr>
              <a:t>4 个 _SpectralDecompositionUnit 并列处理 xe1..xe4, 共享 g_map / 原图 x / s_map 作为外部门控信号, 输出 enh1..enh4 给主解码器使用。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ENHANCEMENT · I/O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EnhancementLayers · 输入与输出完整说明 (重点)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25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forward(to_be_enhanced_features = (xe1..xe4),  g_map,  original_input,  s_map)  →  (enh1..enh4)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486400" cy="45262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73152" cy="452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输入 · 4 个 xe 特征 + 3 个共享信号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331720"/>
            <a:ext cx="5212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40080" y="2331720"/>
            <a:ext cx="54864" cy="50292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49808" y="23317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xe1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23317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 256, H/16, W/16]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2331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GradientDecoder Block 1 输出 (H/16 深层共享)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2880360"/>
            <a:ext cx="5212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40080" y="2880360"/>
            <a:ext cx="54864" cy="50292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49808" y="2880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xe2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91640" y="2880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 128, H/8, W/8]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2880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GradientDecoder Block 2 输出 (H/8 中层)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0080" y="3429000"/>
            <a:ext cx="5212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40080" y="3429000"/>
            <a:ext cx="54864" cy="50292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49808" y="34290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xe3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91640" y="34290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 64, H/4, W/4]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29000" y="3429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GradientDecoder Block 3 输出 (H/4 浅层)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3977640"/>
            <a:ext cx="5212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40080" y="3977640"/>
            <a:ext cx="54864" cy="50292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749808" y="39776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xe4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91640" y="39776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 32, H/2, W/2]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29000" y="3977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GradientDecoder Block 4 输出 (H/2 近全分辨率)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" y="4526280"/>
            <a:ext cx="5212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40080" y="4526280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749808" y="45262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g_map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691640" y="4526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 1, H, W]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429000" y="4526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梯度头输出 x_g (输入图 Sobel 幅值预测)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0080" y="5074920"/>
            <a:ext cx="5212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640080" y="5074920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749808" y="50749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original_input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691640" y="5074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 1, H, W]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429000" y="5074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原始灰度输入 x, 提供亮度先验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0080" y="5623560"/>
            <a:ext cx="5212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40080" y="5623560"/>
            <a:ext cx="54864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749808" y="56235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s_map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691640" y="5623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 1, H, W]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429000" y="5623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高反光概率头输出 x_s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17920" y="1783080"/>
            <a:ext cx="5532120" cy="45262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6217920" y="1783080"/>
            <a:ext cx="73152" cy="4526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6400800" y="1874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输出 · 4 级增强特征 → MainDecoder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400800" y="2377440"/>
            <a:ext cx="52120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6400800" y="2377440"/>
            <a:ext cx="54864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6537960" y="2377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enh1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406640" y="23774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 128, H/16, W/16]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144000" y="2377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→ MainDecoder Level 1 · cat(dec, gated_x_bb_4, enh1)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400800" y="3154680"/>
            <a:ext cx="52120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6400800" y="3154680"/>
            <a:ext cx="54864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6537960" y="31546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enh2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7406640" y="31546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 64, H/8, W/8]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9144000" y="31546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→ MainDecoder Level 2 · cat(dec, gated_x_bb_3, enh2)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400800" y="3931920"/>
            <a:ext cx="52120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6400800" y="3931920"/>
            <a:ext cx="54864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6537960" y="39319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enh3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7406640" y="39319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 32, H/4, W/4]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9144000" y="3931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→ MainDecoder Level 3 · cat(dec, gated_x_bb_2, enh3)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400800" y="4709160"/>
            <a:ext cx="52120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6400800" y="4709160"/>
            <a:ext cx="54864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6537960" y="47091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enh4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7406640" y="47091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 16, H/2, W/2]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9144000" y="47091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→ MainDecoder Level 4 · cat(dec, gated_x_bb_1, enh4)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ENHANCEMENT · INTERNAL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_SpectralDecompositionUnit · 单元内部 5 步流程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26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219456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30352" y="141732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30352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325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双分支特征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219456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48640" y="19202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projection_branch(x)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大核 7x7, 通用空间投影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specular_branch(x)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小核 3x3, 高光相关分支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88920" y="1325880"/>
            <a:ext cx="219456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2862072" y="141732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2862072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1325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FFC 频域精炼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88920" y="1874520"/>
            <a:ext cx="219456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880360" y="19202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s_ffc = FFC_BN_ACT(s, r=0.25)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 = s + s_ffc + x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残差混合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120640" y="1325880"/>
            <a:ext cx="219456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193792" y="141732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193792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77840" y="1325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Self-gate (内门控)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120640" y="1874520"/>
            <a:ext cx="219456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212080" y="19202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= sigmoid(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Conv(cat(p, spec)))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spec_refined =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 + spec * gate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452360" y="1325880"/>
            <a:ext cx="219456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7525512" y="141732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7525512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909560" y="1325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External-gate (外门控)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452360" y="1874520"/>
            <a:ext cx="219456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7543800" y="19202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edge_gate = sigmoid(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Conv(g_down))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spec_gate = sigmoid(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Conv(cat(g,x,s)))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= edge * spec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784080" y="1325880"/>
            <a:ext cx="219456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9857232" y="141732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9857232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241280" y="1325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残差注入输出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784080" y="1874520"/>
            <a:ext cx="219456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9875520" y="19202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= spec_refined +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beta * spec_refined *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final_gate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beta 可学习强度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3383280"/>
            <a:ext cx="5577840" cy="2926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457200" y="3383280"/>
            <a:ext cx="73152" cy="2926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40080" y="3474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两层门控的语义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0080" y="384048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edge_gate (仅来自 g)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关注 “哪里有结构突变” —— 条纹边缘、几何边界、亮暗跃迁。这是网络看到“有内容”的位置。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spec_gate (来自 g, x, s 三者)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关注 “这些结构突变是否与高反光相关” —— 结合输入亮度与高光概率, 区分普通边缘与高光边缘。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final_gate = edge_gate · spec_gate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两者相乘, 仅在“高光区且有结构”处注入增强; 在均匀漫反射区门控接近 0, 避免误扰动。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17920" y="3383280"/>
            <a:ext cx="5532120" cy="2926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217920" y="3383280"/>
            <a:ext cx="73152" cy="292608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400800" y="3474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projection / specular 双分支与 β 残差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400800" y="384048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projection_branch (大核 7×7)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通用空间投影, 保留稳定的纹理结构表示, 是基准路径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specular_branch + FFC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小核 + FFC 频域, 专门处理高光相关的频域/空间异常, 使输出对高反光更敏感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受控强度 (可学习)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output = spec_refined + β · spec_refined · final_gate, 初始化为小值; 训练逐渐学到合适注入幅度, 避免破坏预训练梯度分支特征分布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0D9488"/>
                </a:solidFill>
              </a:rPr>
              <a:t>PART 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</a:rPr>
              <a:t>MainDecoder 主解码器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31520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</a:rPr>
              <a:t>5 级渐进上采 · 三路先验调制 · SpecularAwareAttention · 双头输出 b 与 r_direct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4617720"/>
            <a:ext cx="137160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</a:rPr>
              <a:t>27 / 50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MAIN DECODER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MainDecoder · 5 级架构 + SpecAware + 双头输出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28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images/image-18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771" y="1325880"/>
            <a:ext cx="8079410" cy="4526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75569"/>
                </a:solidFill>
              </a:rPr>
              <a:t>5 级渐进上采样: 每级 = TransposedConvBlock + FFC (仅 L2/L3) + 三路先验调制 + SpecAwareAttention + Attention_block + cat(enc skip, enh)。最末 L5 出 b、r_direct、alpha_logit 三个输出。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MAIN DECODER ·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MainDecoder · 总体结构与输入流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29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forward(c_features = (x_bb_1..4, x_c),  enhanced_features = (enh1..4),  x_g,  x_s,  original_input)  →  (b, r_direct, alpha_logit)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486400" cy="457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73152" cy="4572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输入 · 主解码器需要的所有信息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286000"/>
            <a:ext cx="52120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40080" y="2286000"/>
            <a:ext cx="54864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58952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</a:rPr>
              <a:t>c_features (5 路)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606040" y="2331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(x_bb_1, x_bb_2, x_bb_3, x_bb_4, x_c)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Encoder 提供的多尺度 skip 与瓶颈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063240"/>
            <a:ext cx="52120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40080" y="3063240"/>
            <a:ext cx="54864" cy="731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58952" y="3063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</a:rPr>
              <a:t>enhanced_features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606040" y="31089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(enh1, enh2, enh3, enh4)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06040" y="342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EnhancementLayers 输出的高光增强特征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0080" y="3840480"/>
            <a:ext cx="52120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40080" y="3840480"/>
            <a:ext cx="54864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58952" y="3840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x_g · 梯度图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06040" y="3886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 1, H, W]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06040" y="4206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GradientDecoder 梯度头输出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4617720"/>
            <a:ext cx="52120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40080" y="4617720"/>
            <a:ext cx="54864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758952" y="4617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</a:rPr>
              <a:t>x_s · 高光概率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606040" y="46634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 1, H, W]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06040" y="4983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GradientDecoder 高反光概率头输出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" y="5394960"/>
            <a:ext cx="52120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40080" y="5394960"/>
            <a:ext cx="54864" cy="73152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758952" y="5394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B2777"/>
                </a:solidFill>
              </a:rPr>
              <a:t>original_input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606040" y="5440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 1, H, W]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606040" y="5760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原始灰度输入, 参与 SpecAware 与门控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17920" y="1737360"/>
            <a:ext cx="5532120" cy="457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6217920" y="1737360"/>
            <a:ext cx="73152" cy="4572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400800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5 级解码 · 每级通用 Pipeline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00800" y="2194560"/>
            <a:ext cx="5212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[L1 起点] x_c → FFC1 + FFC2 + residual → MultiscaleConvBlock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[每级通用模块 (L2~L4)]</a:t>
            </a: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① TransposedConvBlock ↑×2 (resize-conv 多分支)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② FFC_H8 / FFC_H4 (仅 L2、L3)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③ 三路先验调制: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x = x · (1 + a·grad_gate(g)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+ b·joint_gate([g,x,s])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+ c·spec_lik_gate(s))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④ SpecularAwareAttention (sa1..sa4)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⑤ Attention_block (对 ResNet skip 做门控)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⑥ cat(dec_feature, gated_skip, enh_i)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[L5 输出头]</a:t>
            </a: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 → output_reduce → output_dilated → residual → output_conv3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b_head (sigmoid) / r_direct_head (sigmoid) / alpha_logit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MAIN DECODER · LEVEL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MainDecoder Level 1 (H/16) · 输入输出 (重点)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30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65760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4937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输入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3383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x_c</a:t>
            </a: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[B, 256, H/16, W/16]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Encoder 瓶颈特征 (已经过 FFC + HFE)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x_bb_4</a:t>
            </a: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[B, 512, H/16, W/16]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Encoder 深层 skip (CrossModalFusion + TopDown 精炼后)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enh1</a:t>
            </a: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[B, 128, H/16, W/16]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EnhancementLayers Unit 1 输出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 x</a:t>
            </a: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[B, 1, H, W]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用于 SpecularAwareAttention sa1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371600"/>
            <a:ext cx="411480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297680" y="1371600"/>
            <a:ext cx="73152" cy="4937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48056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内部数据流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80560" y="1828800"/>
            <a:ext cx="3840480" cy="4434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617720" y="1920240"/>
            <a:ext cx="356616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起点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FFC1(x_c)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FFC2(x)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x + x_c          # residual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多尺度卷积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MultiscaleConvBlock(x)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1x1-&gt;7x7 + 3x3 + 1x1-&gt;3x3-&gt;3x3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3 路 cat -&gt; 576 通道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Same-size 转置 (不上采)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TransposedConvBlock_same(x)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3 路 3x3 卷积分支 cat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-&gt; 768 通道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高光感知 (sa1)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SpecularAwareAttention(x, x_orig)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构造多级高光软 mask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x = x * (1 + gamma * attention)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Skip 门控 (att1)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gated_xbb4 = Attention_block(x, x_bb_4)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psi = sigmoid(...)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gated = x_bb_4 * psi   (512 ch)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输出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cat(x, gated_xbb4, enh1)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1371600"/>
            <a:ext cx="315468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595360" y="1371600"/>
            <a:ext cx="73152" cy="4937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778240" y="1463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输出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78240" y="1783080"/>
            <a:ext cx="28346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输出特征</a:t>
            </a: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形状: [B, 1408, H/16, W/16]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组成: 768 + 512 + 128</a:t>
            </a:r>
            <a:endParaRPr lang="en-US" sz="120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解码主体 + gated x_bb_4 + enh1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本级特点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不做空间上采, 保持 H/16 分辨率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重型频域处理 (双 FFC + 多尺度)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不做三路先验调制 (只用 sa1)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去向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Level 2 (H/8) TransposedConvBlock ↑×2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MAIN DECODER · LEVEL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MainDecoder Level 2 (H/8) · 输入输出 (重点)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31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65760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4937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输入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3383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输出</a:t>
            </a: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[B, 1408, H/16, W/16]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x_bb_3</a:t>
            </a: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[B, 256, H/8, W/8]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Encoder H/8 skip (含 Swin 上下文)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enh2</a:t>
            </a: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[B, 64, H/8, W/8]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g, s, x</a:t>
            </a: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[B, 1, H, W] 各一份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会被 resize 到 H/8 用于三路门控与 sa2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371600"/>
            <a:ext cx="411480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297680" y="1371600"/>
            <a:ext cx="73152" cy="4937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48056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内部数据流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80560" y="1828800"/>
            <a:ext cx="3840480" cy="4434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617720" y="1920240"/>
            <a:ext cx="356616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空间上采 *2, 1408-&gt;384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TransposedConvBlock(L1_output)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多分支 3x3/5x5/7x7 resize-conv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H/8 频域增强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FFC_H8(x)        # FFC_BN_ACT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三路先验调制 (* L2 开始有)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g_8 = resize(g, H/8)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s_8 = resize(s, H/8)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x_8 = resize(orig_x, H/8)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x * (1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+ a1 * grad_gate_2(g_8)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+ a2 * joint_gate_2(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cat(g_8,x_8,s_8))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+ a3 * spec_lik_gate_2(s_8))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高光感知 (sa2)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SpecularAwareAttention(x, x_orig)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Skip 门控 (att2)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gated_xbb3 = Attention_block(x, x_bb_3)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输出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cat(x, gated_xbb3, enh2)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1371600"/>
            <a:ext cx="315468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595360" y="1371600"/>
            <a:ext cx="73152" cy="4937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778240" y="1463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输出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78240" y="1783080"/>
            <a:ext cx="28346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输出特征</a:t>
            </a: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形状: [B, ~704, H/8, W/8]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组成: 384 + 256 + 64</a:t>
            </a:r>
            <a:endParaRPr lang="en-US" sz="120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解码主体 + gated x_bb_3 + enh2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本级特点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首次空间上采到 H/8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首次启用三路先验门控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FFC_H8 在中层注入全局频域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去向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Level 3 (H/4) FeatureExtractionB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MAIN DECODER · LEVEL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MainDecoder Level 3 (H/4) · 输入输出 (重点)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32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65760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4937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输入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3383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输出</a:t>
            </a: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[B, ~704, H/8, W/8]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x_bb_2</a:t>
            </a: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[B, 128, H/4, W/4]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Encoder H/4 skip (已经过 ASF 与 TopDown)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enh3</a:t>
            </a: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[B, 32, H/4, W/4]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g, s, x</a:t>
            </a: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resize 到 H/4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371600"/>
            <a:ext cx="411480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297680" y="1371600"/>
            <a:ext cx="73152" cy="4937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48056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内部数据流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80560" y="1828800"/>
            <a:ext cx="3840480" cy="4434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617720" y="1920240"/>
            <a:ext cx="356616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(1) 多分支特征提取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FeatureExtrationLayersB(L2_out)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4 路 conv 分支 cat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-&gt; 640 通道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(2) 空间上采 *2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TransposedConvBlock(x)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-&gt; 192 通道, H/4 分辨率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(3) H/4 频域增强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FFC_H4(x)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(4) 三路先验调制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g_4 = resize(g, H/4)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s_4 = resize(s, H/4)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x_4 = resize(orig_x, H/4)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x * (1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+ a1 * grad_gate_3(g_4)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+ a2 * joint_gate_3(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[g_4,x_4,s_4])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+ a3 * spec_lik_gate_3(s_4))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(5) 高光感知 sa3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SpecularAwareAttention(x, x_orig)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(6) Skip 门控 att3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gated_xbb2 = Attention_block(x, x_bb_2)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(7) cat 三路特征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cat(x, gated_xbb2, enh3)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1371600"/>
            <a:ext cx="315468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595360" y="1371600"/>
            <a:ext cx="73152" cy="4937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778240" y="1463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输出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78240" y="1783080"/>
            <a:ext cx="28346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输出特征</a:t>
            </a: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形状: [B, ~352, H/4, W/4]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组成: 192 + 128 + 32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本级特点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H/4 是条纹细节关键尺度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4 路 FeatureExtractionB 提供多视野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FFC_H4 保留频域全局感受野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去向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Level 4 (H/2) TransposedConvBlock ↑×2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MAIN DECODER · LEVEL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MainDecoder Level 4 (H/2) · 输入输出 (重点)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33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65760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4937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输入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3383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输出</a:t>
            </a: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[B, ~352, H/4, W/4]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x_bb_1</a:t>
            </a: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[B, 64, H/2, W/2]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Encoder stem 浅层 (最贴近原图细节)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enh4</a:t>
            </a: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[B, 16, H/2, W/2]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g, s, x</a:t>
            </a: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resize 到 H/2 参与门控与 sa4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371600"/>
            <a:ext cx="411480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297680" y="1371600"/>
            <a:ext cx="73152" cy="4937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48056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内部数据流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80560" y="1828800"/>
            <a:ext cx="3840480" cy="4434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617720" y="1920240"/>
            <a:ext cx="356616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空间上采 *2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TransposedConvBlock(L3_out)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-&gt; 96 通道, H/2 分辨率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注意: 本级不再使用 FFC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(浅层依赖空间局部性)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三路先验调制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g_2 = resize(g, H/2)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s_2 = resize(s, H/2)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x_2 = resize(orig_x, H/2)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x * (1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+ a1 * grad_gate_4(g_2)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+ a2 * joint_gate_4(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[g_2,x_2,s_2])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+ a3 * spec_lik_gate_4(s_2))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高光感知 sa4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SpecularAwareAttention(x, x_orig)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Skip 门控 att4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gated_xbb1 = Attention_block(x, x_bb_1)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cat 三路特征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cat(x, gated_xbb1, enh4)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1371600"/>
            <a:ext cx="315468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595360" y="1371600"/>
            <a:ext cx="73152" cy="4937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778240" y="1463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输出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78240" y="1783080"/>
            <a:ext cx="28346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输出特征</a:t>
            </a: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形状: [B, ~176, H/2, W/2]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组成: 96 + 64 + 16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本级特点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接近全分辨率, 关注像素级细节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不使用 FFC (浅层依赖局部性)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三路门控 + sa4 仍然作用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去向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Level 5 (H) 输出头 ↑×2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MAIN DECODER · LEVEL 5 OUTPUT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MainDecoder Level 5 (H) · 双头输出 (重点)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34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65760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4937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输入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3383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输出</a:t>
            </a: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[B, ~176, H/2, W/2]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x_g (梯度图)</a:t>
            </a: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[B, 1, H, W]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与上采后的 48ch 特征 cat 形成 49ch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371600"/>
            <a:ext cx="411480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297680" y="1371600"/>
            <a:ext cx="73152" cy="4937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48056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内部数据流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80560" y="1828800"/>
            <a:ext cx="3840480" cy="4434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617720" y="1920240"/>
            <a:ext cx="356616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空间上采到全分辨率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TransposedConvBlock(L4_out)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-&gt; 48 通道, H, W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拼接梯度图作为额外通道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cat([x, g_full_res], dim=1)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-&gt; 49 通道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通道压缩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output_reduce(x)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-&gt; 32 通道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空洞卷积扩感受野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x_d = output_dilated(x)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x + x_d              # 残差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进一步压缩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output_conv3(x)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-&gt; 16 通道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三个并行输出头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          = sigmoid(b_head(x))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r_direct    = sigmoid(r_direct_head(x))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alpha_logit = alpha_head(x)  # 不经 sigmoid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(b, r_direct, alpha_logit)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1371600"/>
            <a:ext cx="315468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595360" y="1371600"/>
            <a:ext cx="73152" cy="4937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778240" y="1463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输出 · 主解码器的三个最终量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78240" y="1783080"/>
            <a:ext cx="28346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镜面/高反光</a:t>
            </a: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[B, 1, H, W]  ∈ [0,1]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网络估计的“被叠加上去的高光”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r_direct · 直接漫反射</a:t>
            </a: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[B, 1, H, W]  ∈ [0,1]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解码器直接预测的去高光图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alpha_logit</a:t>
            </a: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标量或可广播张量 (未 sigmoid)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下一步 α = sigmoid(alpha_logit) ∈ [0,1] 作融合系数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MAIN DECODER · ATTENTION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SpecularAwareAttention 与 Attention_block · 两类注意力机制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35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0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4937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SpecularAwareAttention (sa1~sa4)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52120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主解码器 4 个 level 各一份: sa1 (H/16)、sa2 (H/8)、sa3 (H/4)、sa4 (H/2)。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features (当前级解码特征) + original_input (原图)。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计算流程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1. 将原图插值到当前特征分辨率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2. 计算局部均值与局部对比度 (sliding pool)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3. spec_prior = clamp(0.75·input + 0.25·local_contrast, 0, 1)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4. 用多个阈值生成多级软 mask (高光→中亮→暗部)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5. cat(features, masks) → Conv → attention map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6. output = features · (1 + scale · attention)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作用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使主解码器在每一级都能参考原图亮度与局部对比度, 显式知道“当前像素是否处于潜在高光区域”。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53212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73152" cy="4937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00800" y="1463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Attention_block (att1~att4) · skip 门控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1874520"/>
            <a:ext cx="52120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主解码器各级的 Encoder skip 注入前: att1 门控 x_bb_4、att2 门控 x_bb_3、att3 门控 x_bb_2、att4 门控 x_bb_1。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g = 当前解码特征 (Gate Signal); x = 来自 Encoder 的 skip 特征。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计算流程</a:t>
            </a: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g_proj = BN(Conv 1×1 (g))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x_proj = BN(Conv 1×1 (x))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psi = sigmoid(BN(Conv 1×1 (ReLU(g_proj + x_proj))))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 = x · psi   (逐通道独立)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关键设计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与单通道注意力不同, psi 是 F_l 通道, 每个 skip 通道都有独立权重, 可以选择性放大/抑制不同特征。例如在高光区抑制条纹边缘 skip, 在条纹清晰区强化结构 skip。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FUSION + REFINEMENT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双路漫反射融合 + ResidualRefinementHead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36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images/image-20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771" y="1325880"/>
            <a:ext cx="8079410" cy="4526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75569"/>
                </a:solidFill>
              </a:rPr>
              <a:t>r_sub = clamp(x − b, 0, 1) 是物理减法路径; r_direct 是解码器直接预测; α = sigmoid(alpha_logit) 自适应融合两路; ResidualRefinementHead 做 ±0.15 的像素级微调。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FUSION + REFINEMENT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双路融合 + 残差精修 · 公式与文字说明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37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943600" cy="4937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56692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YFFC.forward 末段 (在主解码器输出之后)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物理减法路径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r_sub = torch.clamp(x - b, 0.0, 1.0)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x   : 原始输入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b   : 主解码器估计的高反光分量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含义: 漫反射 = 输入 - 镜面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优点: 物理可解释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缺点: 当 b 在暗区被低估时, x-b 会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被 clamp 到 0, 丢失暗部细节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直接预测路径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r_direct = decoder.r_direct_head(...)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绕过减法链, 由网络直接学习漫反射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在 b 估计不准的暗区/复杂区起兜底作用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双路融合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 = torch.sigmoid(alpha_logit)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r_fused = alpha * r_direct + (1-alpha) * r_sub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alpha 可学习, 让网络自适应选择两路比例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4) 残差精修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 = refinement_head(r_fused, x, r_direct)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ResidualRefinementHead 内部: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cat([r_fused, x, r_direct]) -&gt; 3 通道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Conv3x3 -&gt; 24ch -&gt; GELU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轻量残差块 24-&gt;24-&gt;24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GELU -&gt; Conv 24-&gt;16 -&gt; Conv 16-&gt;1 + Tanh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delta in [-1, 1]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5) 最终输出 (clamp 限幅 + 系数缩放)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torch.clamp(r_fused + 0.15 * delta, 0, 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0.15 是受控强度系数, 防止精修头过度修改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0" y="1371600"/>
            <a:ext cx="5166360" cy="2331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583680" y="1371600"/>
            <a:ext cx="73152" cy="2331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766560" y="1463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为什么需要双路融合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0" y="178308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r_sub 保留物理含义, 在亮区 b 可靠时是最优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r_sub 的缺陷在 b 估计不准的暗区: x-b 会被 clamp 到 0, 暗部细节会丢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r_direct 直接学习, 不依赖 b, 对暗区与复杂边界更鲁棒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自适应选择, 不必硬性二选一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3794760"/>
            <a:ext cx="5166360" cy="25146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583680" y="3794760"/>
            <a:ext cx="73152" cy="251460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766560" y="38862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为什么需要残差精修头 (受控 ±0.15)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66560" y="4206240"/>
            <a:ext cx="4846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r_fused 是粗略结果, 仍可能在亮暗边界、过渡区域有不连续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RefinementHead 同时看到 r_fused、原图 x、r_direct, 学习像素级微调量 delta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 输出 delta ∈ [-1, 1]; 系数 0.15 限制实际修改幅度 ∈ [-0.15, 0.15]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 r_fused 主体的同时, 仅做小幅细节修复, 避免推翻已有融合结果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0D9488"/>
                </a:solidFill>
              </a:rPr>
              <a:t>PART 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</a:rPr>
              <a:t>损失函数 EnhancedCompositeLoss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31520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</a:rPr>
              <a:t>多任务复合损失 · 漫反射 + 镜面 + 梯度 + 高光概率 + 双路 + 跨尺度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4617720"/>
            <a:ext cx="137160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</a:rPr>
              <a:t>38 / 50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LOSS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EnhancedCompositeLoss · 多任务复合损失结构图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39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images/image-2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771" y="1325880"/>
            <a:ext cx="8079410" cy="4526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75569"/>
                </a:solidFill>
              </a:rPr>
              <a:t>围绕 r / b / g / s / r_direct / cs 六类输出构造的复合损失，按训练阶段由 ImprovedWeightScheduler 动态加权。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LOSS · DETAILS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EnhancedCompositeLoss · 六组子损失详细分解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40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9284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L_total  =  Σ λ_i · L_i      (λ_i 由 ImprovedWeightScheduler 按 epoch / total_epochs 动态调整)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3749040" cy="2377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73152" cy="2377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40080" y="19019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A · 漫反射主损失 (r vs target)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8368" y="22402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l_ssim_mixed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29968" y="22402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0.8·MS-SSIM + 0.2·SSIM, 主结构相似度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8368" y="2606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l_l1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29968" y="26060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边缘加权 Charbonnier, 像素级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8368" y="29718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l_freq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29968" y="297180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幅度谱差异 + 能量加权相位一致性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8368" y="3337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l_perceptual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29968" y="333756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VGG 感知损失 (预训练权重不可用时跳过)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51960" y="1828800"/>
            <a:ext cx="3749040" cy="2377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4251960" y="1828800"/>
            <a:ext cx="73152" cy="237744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434840" y="19019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B · 镜面 / 高反光区域 (b vs gt_specular)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453128" y="22402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l_spec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24728" y="22402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Charbonnier + SSIM, 镜面主监督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453128" y="2606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l_focal/OHEM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24728" y="26060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高反光区域 focal / 难样本挖掘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453128" y="29718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l_dice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24728" y="297180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高反光区域 Dice 损失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453128" y="3337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l_gc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24728" y="333756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镜面分量梯度一致性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453128" y="37033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l_spec_peak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24728" y="37033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强高光区域峰值欠预测惩罚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046720" y="1828800"/>
            <a:ext cx="3749040" cy="2377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046720" y="1828800"/>
            <a:ext cx="73152" cy="2377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229600" y="19019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C · 梯度分支 (g vs gt_grad)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247888" y="22402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l_grad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619488" y="22402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g 与 Sobel(input) 的 SSIM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247888" y="2606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l_grad_edge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619488" y="26060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边缘加权 Charbonnier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247888" y="29718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l_grad_spec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619488" y="297180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g 与 b 在高光边界关系的约束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" y="4370832"/>
            <a:ext cx="3749040" cy="2377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457200" y="4370832"/>
            <a:ext cx="73152" cy="2377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40080" y="44439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D · 高光概率头 (s vs gt_specular)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58368" y="47823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l_s_lik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029968" y="478231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BCE + SSIM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58368" y="51480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l_s_cons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029968" y="51480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s 与 b 在高反光区双向一致性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251960" y="4370832"/>
            <a:ext cx="3749040" cy="2377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4251960" y="4370832"/>
            <a:ext cx="73152" cy="2377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4434840" y="44439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E · 直接 / 双路漫反射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4453128" y="47823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l_r_focal_hl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824728" y="478231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高光区重点约束 r vs target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453128" y="51480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l_r_dual_cons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824728" y="51480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约束 r_direct 与最终 r 的一致性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453128" y="55138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l_r_smooth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824728" y="551383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高光区域 r 的局部平滑先验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046720" y="4370832"/>
            <a:ext cx="3749040" cy="2377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8046720" y="4370832"/>
            <a:ext cx="73152" cy="2377440"/>
          </a:xfrm>
          <a:prstGeom prst="rect">
            <a:avLst/>
          </a:prstGeom>
          <a:solidFill>
            <a:srgbClr val="2A3B7E"/>
          </a:solidFill>
          <a:ln w="12700">
            <a:solidFill>
              <a:srgbClr val="2A3B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8229600" y="44439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F · 跨尺度一致性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8247888" y="47823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A3B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l_cs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619488" y="478231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H/4 / H/8 / H/16 融合响应图 L1 一致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0D9488"/>
                </a:solidFill>
              </a:rPr>
              <a:t>PART 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</a:rPr>
              <a:t>训练与推理流程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31520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</a:rPr>
              <a:t>ImprovedFringeDataset · 训练 loop · 滑窗推理 · 4 翻转 TTA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4617720"/>
            <a:ext cx="137160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</a:rPr>
              <a:t>41 / 50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TRAIN &amp; INFER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 + 推理完整数据流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42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images/image-24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771" y="1325880"/>
            <a:ext cx="8079410" cy="4526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75569"/>
                </a:solidFill>
              </a:rPr>
              <a:t>训练: Dataset → 增强 → forward → criterion → backward → clip → optimizer → scheduler → EMA。推理: load_model → load_image → 滑窗 + Tukey 融合 → 可选 TTA → 保存多份输出。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TRAINING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训练流程 · 数据 → 增强 → 优化 → EMA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43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0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4937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ImprovedFringeDataset + 增强流水线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52120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样本结构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(input, target, gt_specular, gt_gradient), 全部 [1,H,W] 灰度归一化到 [0,1]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文件匹配规则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完全同名 ② input_→target_ ③ input→target ④ 提取数字 target_数字.ext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EnhancedPairedTransform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水平翻转 / 垂直翻转 / 旋转 / 随机裁剪 resize 回原尺寸 / 亮度缩放 (input+target+gt_spec 同步)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HighlightAugmentation (p=0.5)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随机叠加 1~6 个高斯 blob, 半径 3~max(5,short/20), 强度 0.2~0.7, 同步更新 gt_specular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监督目标构造 (增强后)  </a:t>
            </a: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gt_specular = clamp(input - target, 0, 1)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gt_gradient = normalized_sobel_magnitude(input)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53212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73152" cy="4937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00800" y="14630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train_one_epoch · 单 batch 数据流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5212080" cy="4160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537960" y="1920240"/>
            <a:ext cx="49377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(inp, tgt, gt_s, gt_g) in loader: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1) forward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 = model(inp)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out = {r, b, g, s, r_direct, alpha, cs}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2) loss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loss, sub = criterion(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pred_diffuse = out["r"],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target       = tgt,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est_b        = out["b"],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gt_specular  = gt_s,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pred_grad    = out["g"],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gt_grad      = gt_g,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cross_scale_consistency = out["cs"],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input_img    = inp,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pred_s_lik   = out["s"],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pred_r_direct= out["r_direct"])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3) NaN/Inf 检查 + 异常 batch 跳过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4) backward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(loss / ACCUMULATION_STEPS).backward()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(step+1) % ACCUMULATION_STEPS == 0: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clip_grad_norm_(params, GRAD_CLIP_VALUE)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optimizer.step()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scheduler.step()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optimizer.zero_grad()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ema.update()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6035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保存策略  ·  综合评分 = 0.7·SSIM + 0.3·1/(1+Loss)   →   best_model / best_ssim / best_loss / last / checkpoint_epoch_*.pth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INFERENCE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推理流程 · 模型加载 → 滑窗 + Tukey 融合 → 可选 TTA → 保存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44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0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4937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模型加载与图像准备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52120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load_model(path, device, prefer_ema=True)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① torch.load → 兼容完整 checkpoint 与纯 state_dict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② 构建 YFFC(swin_pretrained=False)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③ 检测 checkpoint 是否使用 GroupNorm → replace_bn_with_gn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④ 若存在 EMA 且 prefer_ema=True → 合并 EMA 权重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⑤ _load_state_dict_flexible: 优先 strict, 失败时筛选兼容张量按 strict=False 加载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load_image(path, target_size=None)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PIL.open → 转灰度 L → 可选 resize → numpy float32 / 255 → torch [1,1,H,W]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resolve_patch_size_from_checkpoint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优先读取 checkpoint['image_size']; 若与脚本配置不一致, 使用 checkpoint 中的尺寸滑窗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53212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73152" cy="4937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00800" y="14630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滑窗推理 + Tukey 融合 + 4 翻转 TTA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1828800"/>
            <a:ext cx="52120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sliding_window_inference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① 标准化 patch_size = (Ph, Pw); ② 根据 overlap 计算 stride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③ 只在右/下侧 padding, 使图落入滑窗网格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④ 生成所有 patch 起点, 每个 patch 独立 forward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⑤ 对 r / b / g / s / r_direct 用 Tukey 二维窗加权累加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⑥ 除以 weight_sum → 裁回原尺寸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_tta_forward (可选)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 种变换: 原图 / 水平翻 / 垂直翻 / 双向翻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每次输出翻转回原方向后, 对 b / r_direct / g / s 取平均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重算 r_sub = clamp(x - avg_b); r_fused = α·avg_r_direct + (1-α)·r_sub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最终 r = clamp(r_fused + 0.15·refinement_head(...))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保存输出 (单图)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*_diffuse.png · *_specular.png · *_gradient.png · *_spec_likelihood.png · *_visualization.png + 可选 16-bit 版本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OPTIMIZER &amp; CONFIG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分层学习率 (build_optimizer_v2) 与默认训练配置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45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612648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4937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AdamW 分层学习率参数组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1874520"/>
            <a:ext cx="57607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31520" y="1874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参数组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匹配模块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1874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学习率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194560"/>
            <a:ext cx="576072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40080" y="2194560"/>
            <a:ext cx="64008" cy="45720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77240" y="2194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encoder_pretrained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14600" y="2194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ResNet stem/layer · Swin 主体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92040" y="2194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base_lr × 0.1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651760"/>
            <a:ext cx="5760720" cy="45720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40080" y="2651760"/>
            <a:ext cx="64008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7724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adaptive_skip_fusion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14600" y="2651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fuse_h4 / fuse_h8 / swin16_proj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92040" y="2651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base_lr × 1.0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108960"/>
            <a:ext cx="576072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40080" y="3108960"/>
            <a:ext cx="64008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77724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fusion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14600" y="3108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其余融合相关参数 (CMF / TopDown 等)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92040" y="3108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base_lr × 0.5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566160"/>
            <a:ext cx="5760720" cy="45720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40080" y="3566160"/>
            <a:ext cx="64008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777240" y="3566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14600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gradient_decoder / main_decoder / enh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92040" y="35661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base_lr × 1.0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4023360"/>
            <a:ext cx="576072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640080" y="4023360"/>
            <a:ext cx="64008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777240" y="4023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ffc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514600" y="4023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名称含 ffc 的参数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92040" y="40233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base_lr × 0.5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" y="4480560"/>
            <a:ext cx="5760720" cy="45720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640080" y="4480560"/>
            <a:ext cx="64008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777240" y="4480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new_modules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14600" y="4480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sa1~sa4 / hf_enhance / refinement_head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92040" y="4480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base_lr × 1.0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" y="54406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</a:rPr>
              <a:t>WEIGHT_DECAY = 1e-4 · scheduler = warmup + 后续衰减 · 按 optimizer.step() 步调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675120" y="1371600"/>
            <a:ext cx="507492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6675120" y="1371600"/>
            <a:ext cx="73152" cy="4937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858000" y="1463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默认训练配置 (train.py)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858000" y="1874520"/>
            <a:ext cx="475488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694944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32688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58000" y="2167128"/>
            <a:ext cx="4754880" cy="27432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6949440" y="2167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BATCH_SIZE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326880" y="21671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858000" y="2459736"/>
            <a:ext cx="475488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6949440" y="24597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BASE_LR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326880" y="24597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2e-4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858000" y="2752344"/>
            <a:ext cx="4754880" cy="27432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6949440" y="27523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WEIGHT_DECAY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326880" y="27523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1e-4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858000" y="3044952"/>
            <a:ext cx="475488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6949440" y="3044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ACCUMULATION_STEPS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326880" y="3044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858000" y="3337560"/>
            <a:ext cx="4754880" cy="27432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694944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GRAD_CLIP_VALUE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9326880" y="3337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858000" y="3630168"/>
            <a:ext cx="475488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6949440" y="3630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IMAGE_SIZE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9326880" y="3630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(128, 160)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858000" y="3922776"/>
            <a:ext cx="4754880" cy="27432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6949440" y="39227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TRAIN_SPLIT_RATIO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9326880" y="39227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858000" y="4215384"/>
            <a:ext cx="475488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Text 71"/>
          <p:cNvSpPr/>
          <p:nvPr/>
        </p:nvSpPr>
        <p:spPr>
          <a:xfrm>
            <a:off x="6949440" y="42153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USE_GN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9326880" y="42153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858000" y="4507992"/>
            <a:ext cx="4754880" cy="27432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Text 74"/>
          <p:cNvSpPr/>
          <p:nvPr/>
        </p:nvSpPr>
        <p:spPr>
          <a:xfrm>
            <a:off x="6949440" y="4507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USE_EMA / DECAY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9326880" y="4507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/ 0.9995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6858000" y="4800600"/>
            <a:ext cx="475488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Text 77"/>
          <p:cNvSpPr/>
          <p:nvPr/>
        </p:nvSpPr>
        <p:spPr>
          <a:xfrm>
            <a:off x="6949440" y="4800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USE_OHEM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9326880" y="4800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858000" y="5093208"/>
            <a:ext cx="4754880" cy="27432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Text 80"/>
          <p:cNvSpPr/>
          <p:nvPr/>
        </p:nvSpPr>
        <p:spPr>
          <a:xfrm>
            <a:off x="6949440" y="5093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USE_AMP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9326880" y="5093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6858000" y="5385816"/>
            <a:ext cx="475488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Text 83"/>
          <p:cNvSpPr/>
          <p:nvPr/>
        </p:nvSpPr>
        <p:spPr>
          <a:xfrm>
            <a:off x="6949440" y="53858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USE_HIGHLIGHT_AUG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9326880" y="53858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(p=0.5)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858000" y="5678424"/>
            <a:ext cx="4754880" cy="27432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8" name="Text 86"/>
          <p:cNvSpPr/>
          <p:nvPr/>
        </p:nvSpPr>
        <p:spPr>
          <a:xfrm>
            <a:off x="6949440" y="5678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SAVE_EVERY_N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9326880" y="56784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epochs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6858000" y="5971032"/>
            <a:ext cx="475488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Text 89"/>
          <p:cNvSpPr/>
          <p:nvPr/>
        </p:nvSpPr>
        <p:spPr>
          <a:xfrm>
            <a:off x="6949440" y="5971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VIS_EVERY_N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9326880" y="5971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epochs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0D9488"/>
                </a:solidFill>
              </a:rPr>
              <a:t>PART 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</a:rPr>
              <a:t>总结与模块包含关系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31520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</a:rPr>
              <a:t>关键设计回顾 · 模块树 · 输出含义与使用建议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4617720"/>
            <a:ext cx="137160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</a:rPr>
              <a:t>46 / 50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KEY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关键设计回顾 · 六大支柱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47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532120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85800" y="148132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双分支编码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</a:rPr>
              <a:t>ResNet50 局部纹理 + Swin-Tiny 窗口上下文; ASF 轻量融合 (H/4, H/8) + CMF 双向 CA (H/16) + TopDownRefinement 语义回流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08192" y="1371600"/>
            <a:ext cx="5532120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108192" y="1371600"/>
            <a:ext cx="73152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336792" y="148132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FFC 频域全局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36792" y="1874520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</a:rPr>
              <a:t>FourierUnit → SpectralTransform → FFC_BN_ACT 三层封装; 出现在 Encoder 瓶颈 / GradientDecoder / MainDecoder / EnhancementLayers, 共 8+ 处调用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5532120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73152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85800" y="317296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双路漫反射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566160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</a:rPr>
              <a:t>r_sub = clamp(x - b) 保留物理减法路径; r_direct 提供暗部兜底; α = sigmoid(alpha_logit) 自适应融合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08192" y="3063240"/>
            <a:ext cx="5532120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108192" y="3063240"/>
            <a:ext cx="73152" cy="155448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336792" y="317296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多任务联合监督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36792" y="3566160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</a:rPr>
              <a:t>r (主) + b (镜面) + g (梯度) + s (高光概率) + r_direct + cs 六类输出协同, 19+ 子损失项加权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754880"/>
            <a:ext cx="5532120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57200" y="4754880"/>
            <a:ext cx="73152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85800" y="486460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SpecularAware 调制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" y="5257800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</a:rPr>
              <a:t>主解码器 4 级 sa1-sa4: 由原图亮度 + 局部对比度构造多级软 mask, 残差调制特征; 不破坏主分支梯度流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08192" y="4754880"/>
            <a:ext cx="5532120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108192" y="4754880"/>
            <a:ext cx="73152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336792" y="486460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残差精修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36792" y="5257800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</a:rPr>
              <a:t>ResidualRefinementHead 三输入 (r_fused, x, r_direct), Tanh 输出 delta, 系数 0.15 限制幅度 ∈ [-0.15, 0.15]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CONTAINMENT TREE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模块包含关系 · 完整树形结构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48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1292840" cy="5029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110185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YFFC  (主网络入口)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Encoder                                   双分支多尺度编码器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ResNet50 (灰度适配, layer4 dilated)   → x_bb_1..4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SwinEncoderBranch (Swin-Tiny)         → swin_4 / swin_8 / swin_16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AdaptiveSkipFusion × 2 (H/4, H/8)     轻量门控融合 ResNet + Swin skip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CrossModalFusion (H/16)               双向 Cross-Attention + gate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CrossScaleTopDownRefinement           H/16 → H/8 → H/4 语义回流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cba_after_backbone                    Conv 1×1: 512 → 256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FFC_BN_ACT (ratio=0.5)         ★FFC★  瓶颈残差注入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HighFrequencyEnhancement              Laplacian + 可学习高频 + 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GradientDecoder                           5 个 Block · 双输出头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fuse_global_context                   cat(x_bb_4, x_c) → 512ch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Block 1 (H/16): 7×7 → 1×1 → 3×3 → FFC_BN_ACT(r=0.25) ★FFC★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Block 2 (H/8) : 3×3 → FFC_BN_ACT(r=0.25) ★FFC★ → ConvT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Block 3 (H/4) : 3×3 → FFC_BN_ACT(r=0.25) ★FFC★ → ConvT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Block 4 (H/2) : 3×3 → ConvT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Block 5 (H)   : cat(xe4, x_bb_1) → ConvT → cat(shared, x)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Grad Head     → Conv 3×3 → Sigmoid → 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Spec-Lik Head → 3×3 → 3×3 → 5×5 → Sigmoid → 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EnhancementLayers                         4 个 _SpectralDecompositionUnit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每个单元: projection_branch (7×7) + specular_branch (3×3)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+ FFC_BN_ACT ★FFC★ + Self-gate + edge_gate × spec_gate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+ β-受控残差注入 → enh1..4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MainDecoder                               5 级 · 双头输出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L1 (H/16): FFC1 + FFC2 ★FFC★ + Multiscale + sa1 + att1 + cat(enh1)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L2 (H/8) : TransposedConvBlock + FFC_H8 ★FFC★ + 三路先验 + sa2 + att2 + cat(enh2)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L3 (H/4) : FeatureExtractionB + TransposedConvBlock + FFC_H4 ★FFC★ + 三路先验 + sa3 + att3 + cat(enh3)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L4 (H/2) : TransposedConvBlock + 三路先验 + sa4 + att4 + cat(enh4)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L5 (H)   : TransposedConvBlock → cat(g) → output_reduce/dilated → b_head + r_direct_head + alpha_logit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ResidualRefinementHead                    cat(r_fused, x, r_direct) → 24→16→1 → Tanh delta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r = clamp(r_fused + 0.15·delta)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OUTPUTS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输出含义与使用建议 · 推理文件命名规范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</a:rPr>
              <a:t>49 / 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0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4937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YFFC.forward 输出分类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52120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主要交付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 — 最终漫反射图, 推理主结果, 用于后续相位解算等下游任务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调试 / 可视化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 — 镜面反射分量, 用于分析“去除了哪些高亮”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g — 网络对结构突变的预测, 反映边界关注度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 — 网络对高光位置的软定位, 反映高光检测准确性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训练辅助 (不直接保存)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r_direct — 主解码器直接预测路径, 训练时参与损失, 推理时参与双路融合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alpha    — 双路融合系数, 反映网络对两路的信任度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cs       — 跨尺度一致性标量, 仅作损失项, 不保存图像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53212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73152" cy="4937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00800" y="14630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process_images.py · 保存文件命名规范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1874520"/>
            <a:ext cx="521208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400800" y="1874520"/>
            <a:ext cx="64008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537960" y="1874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*_diffuse.png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09828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r · 最终漫反射 (主结果)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2331720"/>
            <a:ext cx="5212080" cy="41148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400800" y="2331720"/>
            <a:ext cx="64008" cy="41148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537960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*_specular.png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098280" y="2331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b · 镜面反射分量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2788920"/>
            <a:ext cx="521208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400800" y="2788920"/>
            <a:ext cx="64008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537960" y="2788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*_gradient.png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098280" y="2788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g · 梯度图预测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3246120"/>
            <a:ext cx="5212080" cy="41148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400800" y="3246120"/>
            <a:ext cx="64008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537960" y="3246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*_spec_likelihood.png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098280" y="3246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s · 高反光软概率图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0" y="3703320"/>
            <a:ext cx="521208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400800" y="3703320"/>
            <a:ext cx="64008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537960" y="3703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*_visualization.png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098280" y="3703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输入 + 输出 + 中间结果可视化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0" y="4160520"/>
            <a:ext cx="5212080" cy="41148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6400800" y="4160520"/>
            <a:ext cx="64008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537960" y="4160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*_diffuse_16bit.png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098280" y="4160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可选 · 16-bit 高动态漫反射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0" y="4617720"/>
            <a:ext cx="521208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400800" y="4617720"/>
            <a:ext cx="64008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537960" y="4617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*_specular_16bit.png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098280" y="4617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可选 · 16-bit 镜面分量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0" y="5074920"/>
            <a:ext cx="5212080" cy="41148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6400800" y="5074920"/>
            <a:ext cx="64008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537960" y="5074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*_gradient_16bit.png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098280" y="5074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可选 · 16-bit 梯度图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00800" y="5532120"/>
            <a:ext cx="521208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6400800" y="5532120"/>
            <a:ext cx="64008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6537960" y="5532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*_spec_likelihood_16bit.png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098280" y="5532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可选 · 16-bit 高光概率图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00800" y="598932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批量推理时, 每张图会生成独立子目录; 所有 *_diffuse 同时复制到统一的 all_diffuse 文件夹方便后续使用。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X-FFC V3.2 当前模型详细技术讲解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1520" y="731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0D9488"/>
                </a:solidFill>
              </a:rPr>
              <a:t>THANK YOU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X-FFC V3.2 · 结构总结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228600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ADCFC"/>
                </a:solidFill>
              </a:rPr>
              <a:t>双编码</a:t>
            </a:r>
            <a:r>
              <a:rPr lang="en-US" sz="2200" b="1" dirty="0">
                <a:solidFill>
                  <a:srgbClr val="0D9488"/>
                </a:solidFill>
              </a:rPr>
              <a:t>  +  </a:t>
            </a:r>
            <a:r>
              <a:rPr lang="en-US" sz="2200" b="1" dirty="0">
                <a:solidFill>
                  <a:srgbClr val="CADCFC"/>
                </a:solidFill>
              </a:rPr>
              <a:t>双解码</a:t>
            </a:r>
            <a:r>
              <a:rPr lang="en-US" sz="2200" b="1" dirty="0">
                <a:solidFill>
                  <a:srgbClr val="0D9488"/>
                </a:solidFill>
              </a:rPr>
              <a:t>  +  </a:t>
            </a:r>
            <a:r>
              <a:rPr lang="en-US" sz="2200" b="1" dirty="0">
                <a:solidFill>
                  <a:srgbClr val="CADCFC"/>
                </a:solidFill>
              </a:rPr>
              <a:t>双路融合</a:t>
            </a:r>
            <a:r>
              <a:rPr lang="en-US" sz="2200" b="1" dirty="0">
                <a:solidFill>
                  <a:srgbClr val="0D9488"/>
                </a:solidFill>
              </a:rPr>
              <a:t>  +  </a:t>
            </a:r>
            <a:r>
              <a:rPr lang="en-US" sz="2200" b="1" dirty="0">
                <a:solidFill>
                  <a:srgbClr val="CADCFC"/>
                </a:solidFill>
              </a:rPr>
              <a:t>多任务监督</a:t>
            </a:r>
            <a:r>
              <a:rPr lang="en-US" sz="2200" b="1" dirty="0">
                <a:solidFill>
                  <a:srgbClr val="0D9488"/>
                </a:solidFill>
              </a:rPr>
              <a:t>  +  </a:t>
            </a:r>
            <a:r>
              <a:rPr lang="en-US" sz="2200" b="1" dirty="0">
                <a:solidFill>
                  <a:srgbClr val="CADCFC"/>
                </a:solidFill>
              </a:rPr>
              <a:t>频域全局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50" dirty="0">
                <a:solidFill>
                  <a:srgbClr val="CADCFC"/>
                </a:solidFill>
              </a:rPr>
              <a:t>X-FFC V3.2 通过 ResNet50 与 Swin-Tiny 的双分支编码、FFC 三层封装的频域全局建模、GradientDecoder 与 MainDecoder 的双任务解码协作、r_direct 与 r_sub 的可学习双路融合、以及围绕 r / b / g / s 的多任务联合监督, 在条纹图保真与高反光去除之间取得了较好的平衡。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5394960"/>
            <a:ext cx="3383280" cy="960120"/>
          </a:xfrm>
          <a:prstGeom prst="rect">
            <a:avLst/>
          </a:prstGeom>
          <a:solidFill>
            <a:srgbClr val="2A3B7E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914400" y="54681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保留条纹连续性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58704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结构光下游友好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5394960"/>
            <a:ext cx="3383280" cy="960120"/>
          </a:xfrm>
          <a:prstGeom prst="rect">
            <a:avLst/>
          </a:prstGeom>
          <a:solidFill>
            <a:srgbClr val="2A3B7E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526280" y="54681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去除局部饱和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58704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高反光物理可解释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0" y="5394960"/>
            <a:ext cx="3383280" cy="960120"/>
          </a:xfrm>
          <a:prstGeom prst="rect">
            <a:avLst/>
          </a:prstGeom>
          <a:solidFill>
            <a:srgbClr val="2A3B7E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138160" y="54681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完整多任务输出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38160" y="58704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r / b / g / s / r_direct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</a:rPr>
              <a:t>END  ·  X-FFC V3.2 Detailed Technical Presentation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1112</TotalTime>
  <Words>10527</Words>
  <Application>Microsoft Office PowerPoint</Application>
  <PresentationFormat>宽屏</PresentationFormat>
  <Paragraphs>1374</Paragraphs>
  <Slides>50</Slides>
  <Notes>50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54" baseType="lpstr"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X-FFC V3.2 模型详细技术讲解</dc:title>
  <dc:subject>PptxGenJS Presentation</dc:subject>
  <dc:creator>X-FFC Project</dc:creator>
  <cp:lastModifiedBy>顺康 肖</cp:lastModifiedBy>
  <cp:revision>2</cp:revision>
  <dcterms:created xsi:type="dcterms:W3CDTF">2026-05-21T16:36:20Z</dcterms:created>
  <dcterms:modified xsi:type="dcterms:W3CDTF">2026-05-24T05:51:15Z</dcterms:modified>
</cp:coreProperties>
</file>
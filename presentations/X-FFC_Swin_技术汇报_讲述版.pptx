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344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40" kern="0" dirty="0">
                <a:solidFill>
                  <a:srgbClr val="A88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STRUCTURED LIGHT  ·  HIGHLIGHT REMOVAL  ·  PHASE RECOVERY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1691640"/>
            <a:ext cx="9692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面向高反光表面三维重建的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X-FFC-Swin 条纹恢复网络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66928" y="34290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D1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要恢复的不是“好看的去高光图”，而是还能拿去解相位的正弦条纹。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" y="4160520"/>
            <a:ext cx="2633472" cy="1051560"/>
          </a:xfrm>
          <a:prstGeom prst="roundRect">
            <a:avLst>
              <a:gd name="adj" fmla="val 6957"/>
            </a:avLst>
          </a:prstGeom>
          <a:solidFill>
            <a:srgbClr val="24304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2793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8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459028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单通道灰度条纹 x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55848" y="4160520"/>
            <a:ext cx="2633472" cy="1051560"/>
          </a:xfrm>
          <a:prstGeom prst="roundRect">
            <a:avLst>
              <a:gd name="adj" fmla="val 6957"/>
            </a:avLst>
          </a:prstGeom>
          <a:solidFill>
            <a:srgbClr val="243044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42793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8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主输出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20440" y="459028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漫反射 r  ·  镜面 b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44768" y="4160520"/>
            <a:ext cx="2633472" cy="1051560"/>
          </a:xfrm>
          <a:prstGeom prst="roundRect">
            <a:avLst>
              <a:gd name="adj" fmla="val 6957"/>
            </a:avLst>
          </a:prstGeom>
          <a:solidFill>
            <a:srgbClr val="243044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42793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8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459028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梯度 g  ·  高光概率 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933688" y="4160520"/>
            <a:ext cx="2633472" cy="1051560"/>
          </a:xfrm>
          <a:prstGeom prst="roundRect">
            <a:avLst>
              <a:gd name="adj" fmla="val 6957"/>
            </a:avLst>
          </a:prstGeom>
          <a:solidFill>
            <a:srgbClr val="243044"/>
          </a:solidFill>
          <a:ln/>
        </p:spPr>
      </p:sp>
      <p:sp>
        <p:nvSpPr>
          <p:cNvPr id="17" name="Text 15"/>
          <p:cNvSpPr/>
          <p:nvPr/>
        </p:nvSpPr>
        <p:spPr>
          <a:xfrm>
            <a:off x="9098280" y="42793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8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下游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098280" y="459028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绝对相位  →  点云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6928" y="5989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97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依据仓库当前实现  ·  Y_FFC_unified.py / train.py / process_images.py  ·  技术说明与汇报大纲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6510528"/>
            <a:ext cx="11274552" cy="9144"/>
          </a:xfrm>
          <a:prstGeom prst="rect">
            <a:avLst/>
          </a:prstGeom>
          <a:solidFill>
            <a:srgbClr val="3A4658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654710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0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X-FFC-Swin  ·  高反光条纹恢复  ·  面向相位解算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326880" y="6547104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0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/  30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47472"/>
            <a:ext cx="164592" cy="128016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2926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这条汇报怎么讲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623560" cy="1444752"/>
          </a:xfrm>
          <a:prstGeom prst="roundRect">
            <a:avLst>
              <a:gd name="adj" fmla="val 5063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153619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00200" y="15361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00200" y="199339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高反光如何破坏条纹正弦性，以及为什么必须同时看频域和梯度。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280160"/>
            <a:ext cx="5623560" cy="1444752"/>
          </a:xfrm>
          <a:prstGeom prst="roundRect">
            <a:avLst>
              <a:gd name="adj" fmla="val 5063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28816" y="153619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452360" y="15361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452360" y="199339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ResNet50 + Swin-Tiny + FFC，梯度头与高光概率头，双路漫反射。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5623560" cy="1444752"/>
          </a:xfrm>
          <a:prstGeom prst="roundRect">
            <a:avLst>
              <a:gd name="adj" fmla="val 5063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" y="313639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600200" y="31363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0200" y="359359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编码器、频域核心、辅助分支、主解码器，各自输入输出。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2880360"/>
            <a:ext cx="5623560" cy="1444752"/>
          </a:xfrm>
          <a:prstGeom prst="roundRect">
            <a:avLst>
              <a:gd name="adj" fmla="val 5063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28816" y="313639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452360" y="31363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训练与推理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452360" y="359359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复合损失、动态权重、滑窗 Tukey 融合、四次翻转 TTA。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480560"/>
            <a:ext cx="5623560" cy="1444752"/>
          </a:xfrm>
          <a:prstGeom prst="roundRect">
            <a:avLst>
              <a:gd name="adj" fmla="val 5063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" y="473659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600200" y="47365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证据边界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600200" y="519379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论文对照数字怎么用，仓库里已经有什么、还不能声称什么。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09360" y="4480560"/>
            <a:ext cx="5623560" cy="1444752"/>
          </a:xfrm>
          <a:prstGeom prst="roundRect">
            <a:avLst>
              <a:gd name="adj" fmla="val 5063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28816" y="473659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452360" y="47365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收束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452360" y="519379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三个贡献、工程局限，以及还没写进损失的硬约束。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6510528"/>
            <a:ext cx="11274552" cy="9144"/>
          </a:xfrm>
          <a:prstGeom prst="rect">
            <a:avLst/>
          </a:prstGeom>
          <a:solidFill>
            <a:srgbClr val="E4DDD2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654710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X-FFC-Swin  ·  高反光条纹恢复  ·  面向相位解算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326880" y="6547104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/  30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47472"/>
            <a:ext cx="164592" cy="128016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2926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·  ONE PAGE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一页速览：痛点、方法、机制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623560" cy="2176272"/>
          </a:xfrm>
          <a:prstGeom prst="roundRect">
            <a:avLst>
              <a:gd name="adj" fmla="val 3361"/>
            </a:avLst>
          </a:prstGeom>
          <a:solidFill>
            <a:srgbClr val="F8EBE3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5361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过曝把正弦峰削成平台；未饱和区也会畸变、错相。相位解错，点云出现尖刺和空洞。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09360" y="1280160"/>
            <a:ext cx="5623560" cy="2176272"/>
          </a:xfrm>
          <a:prstGeom prst="roundRect">
            <a:avLst>
              <a:gd name="adj" fmla="val 3361"/>
            </a:avLst>
          </a:prstGeom>
          <a:solidFill>
            <a:srgbClr val="E5F0EE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5361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0" y="20574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X-FFC-Swin：局部纹理 + 窗口上下文 + 频域周期，再加梯度定位和高光概率判别。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623560" cy="2176272"/>
          </a:xfrm>
          <a:prstGeom prst="roundRect">
            <a:avLst>
              <a:gd name="adj" fmla="val 3361"/>
            </a:avLst>
          </a:prstGeom>
          <a:solidFill>
            <a:srgbClr val="EFE8DC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8679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438912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频域决定修成什么样，梯度决定在哪里修，s 决定这是不是高光。减法路径不够时，直接预测兜底。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309360" y="3611880"/>
            <a:ext cx="5623560" cy="2176272"/>
          </a:xfrm>
          <a:prstGeom prst="roundRect">
            <a:avLst>
              <a:gd name="adj" fmla="val 3361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38679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83680" y="438912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 Y-FFC 有 SSIM / 相位 / 点云数字。本仓库当前实现不把这些数字当成自测结果。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6510528"/>
            <a:ext cx="11274552" cy="9144"/>
          </a:xfrm>
          <a:prstGeom prst="rect">
            <a:avLst/>
          </a:prstGeom>
          <a:solidFill>
            <a:srgbClr val="E4DDD2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654710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X-FFC-Swin  ·  高反光条纹恢复  ·  面向相位解算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326880" y="6547104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/  30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47472"/>
            <a:ext cx="164592" cy="128016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2926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·  NOTATION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先把符号说清，后面不再反复解释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11274552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38988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926080" y="138988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输入灰度条纹，[B,1,H,W]，归一化到 [0,1]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938528"/>
            <a:ext cx="11274552" cy="603504"/>
          </a:xfrm>
          <a:prstGeom prst="roundRect">
            <a:avLst>
              <a:gd name="adj" fmla="val 9091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06654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26080" y="2066544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最终漫反射，推理主结果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615184"/>
            <a:ext cx="11274552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7432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26080" y="27432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估计的镜面 / 高反光强度，用来做减法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11274552" cy="603504"/>
          </a:xfrm>
          <a:prstGeom prst="roundRect">
            <a:avLst>
              <a:gd name="adj" fmla="val 9091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4198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926080" y="341985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输入图的 Sobel 梯度预测，不是目标漫反射的梯度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3968496"/>
            <a:ext cx="11274552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40965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926080" y="409651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高光软概率。b 是减多少，s 是是不是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4645152"/>
            <a:ext cx="11274552" cy="603504"/>
          </a:xfrm>
          <a:prstGeom prst="roundRect">
            <a:avLst>
              <a:gd name="adj" fmla="val 9091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47731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r_direct / α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926080" y="47731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直接预测路径，以及两路融合权重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7200" y="5321808"/>
            <a:ext cx="11274552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544982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926080" y="5449824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H/4、H/8、H/16 响应一致性，只进训练损失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57200" y="6510528"/>
            <a:ext cx="11274552" cy="9144"/>
          </a:xfrm>
          <a:prstGeom prst="rect">
            <a:avLst/>
          </a:prstGeom>
          <a:solidFill>
            <a:srgbClr val="E4DDD2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654710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X-FFC-Swin  ·  高反光条纹恢复  ·  面向相位解算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326880" y="6547104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/  30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A88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 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高反光到底破坏了什么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2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先讲物理，再讲网络。后面每一个模块都要能回到这一问。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6510528"/>
            <a:ext cx="11274552" cy="9144"/>
          </a:xfrm>
          <a:prstGeom prst="rect">
            <a:avLst/>
          </a:prstGeom>
          <a:solidFill>
            <a:srgbClr val="3A465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54710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0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X-FFC-Swin  ·  高反光条纹恢复  ·  面向相位解算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326880" y="6547104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0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/  30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47472"/>
            <a:ext cx="164592" cy="128016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2926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·  WHY THIS TASK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工业件上的高反光，不是图像美观问题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5623560" cy="2176272"/>
          </a:xfrm>
          <a:prstGeom prst="roundRect">
            <a:avLst>
              <a:gd name="adj" fmla="val 3361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98448"/>
            <a:ext cx="91440" cy="2176272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59105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04672" y="2121408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叶片、铰链、抛光模具、焊盘。结构光要的是几何，不是一张干净照片。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09360" y="1298448"/>
            <a:ext cx="5623560" cy="2176272"/>
          </a:xfrm>
          <a:prstGeom prst="roundRect">
            <a:avLst>
              <a:gd name="adj" fmla="val 3361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298448"/>
            <a:ext cx="91440" cy="2176272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12" name="Text 10"/>
          <p:cNvSpPr/>
          <p:nvPr/>
        </p:nvSpPr>
        <p:spPr>
          <a:xfrm>
            <a:off x="6656832" y="159105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传统办法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56832" y="2121408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喷哑光粉不能在线；多曝光只抬动态范围；偏振和多视角设备重，仍不恢复正弦性。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3630168"/>
            <a:ext cx="5623560" cy="2176272"/>
          </a:xfrm>
          <a:prstGeom prst="roundRect">
            <a:avLst>
              <a:gd name="adj" fmla="val 3361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630168"/>
            <a:ext cx="91440" cy="2176272"/>
          </a:xfrm>
          <a:prstGeom prst="rect">
            <a:avLst/>
          </a:prstGeom>
          <a:solidFill>
            <a:srgbClr val="1F6A62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92277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失败形态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04672" y="4453128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过曝削顶、局部畸变、相位跳变，点云出现尖刺和空洞。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309360" y="3630168"/>
            <a:ext cx="5623560" cy="2176272"/>
          </a:xfrm>
          <a:prstGeom prst="roundRect">
            <a:avLst>
              <a:gd name="adj" fmla="val 3361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3630168"/>
            <a:ext cx="91440" cy="2176272"/>
          </a:xfrm>
          <a:prstGeom prst="rect">
            <a:avLst/>
          </a:prstGeom>
          <a:solidFill>
            <a:srgbClr val="1F6A62"/>
          </a:solidFill>
          <a:ln/>
        </p:spPr>
      </p:sp>
      <p:sp>
        <p:nvSpPr>
          <p:cNvPr id="20" name="Text 18"/>
          <p:cNvSpPr/>
          <p:nvPr/>
        </p:nvSpPr>
        <p:spPr>
          <a:xfrm>
            <a:off x="6656832" y="392277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本工作位置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656832" y="4453128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在解相之前，把被破坏的条纹恢复成可解的漫反射条纹。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7200" y="6510528"/>
            <a:ext cx="11274552" cy="9144"/>
          </a:xfrm>
          <a:prstGeom prst="rect">
            <a:avLst/>
          </a:prstGeom>
          <a:solidFill>
            <a:srgbClr val="E4DDD2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654710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X-FFC-Swin  ·  高反光条纹恢复  ·  面向相位解算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326880" y="6547104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/  30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47472"/>
            <a:ext cx="164592" cy="128016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2926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·  TASK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任务是恢复正弦性，不是把亮斑涂暗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623560" cy="4892040"/>
          </a:xfrm>
          <a:prstGeom prst="roundRect">
            <a:avLst>
              <a:gd name="adj" fmla="val 1495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48132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理想四步相移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" y="19019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Iᵢ = A + B · cos(φ + δᵢ)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13232" y="246888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高反光分解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3232" y="28346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≈ r + 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13232" y="338328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两类破坏都要命：过曝区峰谷被削平；未饱和区条纹还在，但已经不是稳定正弦。只压亮度、不恢复周期，相位照样解错。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09360" y="1280160"/>
            <a:ext cx="5422392" cy="4892040"/>
          </a:xfrm>
          <a:prstGeom prst="roundRect">
            <a:avLst>
              <a:gd name="adj" fmla="val 1495"/>
            </a:avLst>
          </a:prstGeom>
          <a:solidFill>
            <a:srgbClr val="1B2433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65392" y="153619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8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 r 必须满足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65392" y="21031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69480" y="2103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周期还在设计频率附近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65392" y="2926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269480" y="29260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相位关系不被局部错开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65392" y="3749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269480" y="3749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灰度过渡仍像正弦斜坡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65392" y="45720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269480" y="45720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暗部细节不被减法钳死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7200" y="6510528"/>
            <a:ext cx="11274552" cy="9144"/>
          </a:xfrm>
          <a:prstGeom prst="rect">
            <a:avLst/>
          </a:prstGeom>
          <a:solidFill>
            <a:srgbClr val="E4DDD2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654710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X-FFC-Swin  ·  高反光条纹恢复  ·  面向相位解算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326880" y="6547104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/  30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47472"/>
            <a:ext cx="164592" cy="128016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2926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·  FREQUENCY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频谱变脏：低频平台、高频边界、高次谐波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763524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4475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成分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63240" y="144475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40680" y="144475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1874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投影主频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063240" y="1874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投影仪设计的条纹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40680" y="1874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25328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深度引起的缓变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63240" y="25328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表面形貌调制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40680" y="25328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319125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大面积亮斑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063240" y="319125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饱和后的低频 / DC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40680" y="319125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抑制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384962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过曝边界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063240" y="384962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正常区到平台的跳变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40680" y="384962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定位后抑制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" y="450799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削顶谐波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063240" y="450799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非正弦截断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40680" y="450799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压掉，回到基频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" y="5166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划痕与噪声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063240" y="5166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传感器或表面缺陷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40680" y="5166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和真实边缘分开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275320" y="1280160"/>
            <a:ext cx="3456432" cy="4937760"/>
          </a:xfrm>
          <a:prstGeom prst="roundRect">
            <a:avLst>
              <a:gd name="adj" fmla="val 2116"/>
            </a:avLst>
          </a:prstGeom>
          <a:solidFill>
            <a:srgbClr val="1B2433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03920" y="15361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8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 FFC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503920" y="2103120"/>
            <a:ext cx="2971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高光不是单纯高频，也不是单纯低频。局部卷积看不到“周围未污染条纹本来该是什么周期”。频域一个系数能影响整幅结构。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503920" y="46634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D1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 FFC 不是因为流行才加，而是频谱污染的回应。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57200" y="6510528"/>
            <a:ext cx="11274552" cy="9144"/>
          </a:xfrm>
          <a:prstGeom prst="rect">
            <a:avLst/>
          </a:prstGeom>
          <a:solidFill>
            <a:srgbClr val="E4DDD2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654710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X-FFC-Swin  ·  高反光条纹恢复  ·  面向相位解算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326880" y="6547104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 /  30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47472"/>
            <a:ext cx="164592" cy="128016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2926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·  GRADIENT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频域管形态，梯度管位置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7589520" cy="658368"/>
          </a:xfrm>
          <a:prstGeom prst="roundRect">
            <a:avLst>
              <a:gd name="adj" fmla="val 11111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42646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正常斜坡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834640" y="142646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梯度大且有规律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760720" y="142646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029968"/>
            <a:ext cx="7589520" cy="658368"/>
          </a:xfrm>
          <a:prstGeom prst="roundRect">
            <a:avLst>
              <a:gd name="adj" fmla="val 11111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1762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亮峰 / 暗谷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34640" y="21762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梯度小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760720" y="21762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不要误判成高光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779776"/>
            <a:ext cx="7589520" cy="658368"/>
          </a:xfrm>
          <a:prstGeom prst="roundRect">
            <a:avLst>
              <a:gd name="adj" fmla="val 11111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926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过曝内部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834640" y="2926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梯度接近 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760720" y="2926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需要补全条纹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529584"/>
            <a:ext cx="7589520" cy="658368"/>
          </a:xfrm>
          <a:prstGeom prst="roundRect">
            <a:avLst>
              <a:gd name="adj" fmla="val 11111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6758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高光边界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834640" y="367588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梯度极大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760720" y="36758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重点定位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4279392"/>
            <a:ext cx="7589520" cy="658368"/>
          </a:xfrm>
          <a:prstGeom prst="roundRect">
            <a:avLst>
              <a:gd name="adj" fmla="val 11111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442569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污染但未饱和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834640" y="442569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尖峰、杂乱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760720" y="442569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修复，不是抹掉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5029200"/>
            <a:ext cx="7589520" cy="658368"/>
          </a:xfrm>
          <a:prstGeom prst="roundRect">
            <a:avLst>
              <a:gd name="adj" fmla="val 11111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517550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真实几何边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834640" y="517550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梯度大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760720" y="51755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谨慎保留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275320" y="1280160"/>
            <a:ext cx="3456432" cy="4864608"/>
          </a:xfrm>
          <a:prstGeom prst="roundRect">
            <a:avLst>
              <a:gd name="adj" fmla="val 2116"/>
            </a:avLst>
          </a:prstGeom>
          <a:solidFill>
            <a:srgbClr val="F8EBE3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03920" y="1508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分工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503920" y="201168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只有频域，定位不准。只有梯度，不知道该恢复成什么周期。g 监督的是输入图梯度，因为要看见污染发生在哪里。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503920" y="47091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强梯度 ≠ 高反光。这件事交给 s。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457200" y="6510528"/>
            <a:ext cx="11274552" cy="9144"/>
          </a:xfrm>
          <a:prstGeom prst="rect">
            <a:avLst/>
          </a:prstGeom>
          <a:solidFill>
            <a:srgbClr val="E4DDD2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654710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X-FFC-Swin  ·  高反光条纹恢复  ·  面向相位解算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326880" y="6547104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 /  30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6A6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A88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 02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网络怎么把这件事拆开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2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两条编码器，两条解码器，一条桥，最后才融合。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6510528"/>
            <a:ext cx="11274552" cy="9144"/>
          </a:xfrm>
          <a:prstGeom prst="rect">
            <a:avLst/>
          </a:prstGeom>
          <a:solidFill>
            <a:srgbClr val="3A465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54710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0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X-FFC-Swin  ·  高反光条纹恢复  ·  面向相位解算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326880" y="6547104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0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 /  30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47472"/>
            <a:ext cx="164592" cy="128016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2926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·  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五段数据流，而不是一个黑盒 U-Net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176272" cy="2331720"/>
          </a:xfrm>
          <a:prstGeom prst="roundRect">
            <a:avLst>
              <a:gd name="adj" fmla="val 3361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99616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84708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Encoder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66928" y="2286000"/>
            <a:ext cx="19568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ResNet 纹理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Swin 窗口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FFC 瓶颈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88920" y="1371600"/>
            <a:ext cx="2176272" cy="2331720"/>
          </a:xfrm>
          <a:prstGeom prst="roundRect">
            <a:avLst>
              <a:gd name="adj" fmla="val 3361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1499616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80360" y="184708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GradDec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898648" y="2286000"/>
            <a:ext cx="19568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xe1–xe4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梯度 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概率 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120640" y="1371600"/>
            <a:ext cx="2176272" cy="2331720"/>
          </a:xfrm>
          <a:prstGeom prst="roundRect">
            <a:avLst>
              <a:gd name="adj" fmla="val 3361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0" y="1499616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12080" y="184708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Enhance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230368" y="2286000"/>
            <a:ext cx="19568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 / x / 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双层门控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enh1–4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452360" y="1371600"/>
            <a:ext cx="2176272" cy="2331720"/>
          </a:xfrm>
          <a:prstGeom prst="roundRect">
            <a:avLst>
              <a:gd name="adj" fmla="val 3361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52360" y="1499616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543800" y="184708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MainDec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562088" y="2286000"/>
            <a:ext cx="19568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skip + enh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与 r_direct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alpha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784080" y="1371600"/>
            <a:ext cx="2176272" cy="2331720"/>
          </a:xfrm>
          <a:prstGeom prst="roundRect">
            <a:avLst>
              <a:gd name="adj" fmla="val 3361"/>
            </a:avLst>
          </a:prstGeom>
          <a:solidFill>
            <a:srgbClr val="1B2433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84080" y="1499616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8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875520" y="184708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融合精修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893808" y="2286000"/>
            <a:ext cx="19568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7D1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减法路径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7D1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直接路径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7D1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±0.15 δ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3913632"/>
            <a:ext cx="11274552" cy="2240280"/>
          </a:xfrm>
          <a:prstGeom prst="roundRect">
            <a:avLst>
              <a:gd name="adj" fmla="val 3265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41148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共享的不是两个独立网络。梯度分支和主解码器吃的是同一套编码特征。cs 只在训练时约束 H/4、H/8、H/16 的响应图，不作为图像结果保存。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13232" y="48920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推理主交付是 r。b、g、s 用来解释“减了什么、看见了什么边界、模型认为哪里是高光”。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57200" y="6510528"/>
            <a:ext cx="11274552" cy="9144"/>
          </a:xfrm>
          <a:prstGeom prst="rect">
            <a:avLst/>
          </a:prstGeom>
          <a:solidFill>
            <a:srgbClr val="E4DDD2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654710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X-FFC-Swin  ·  高反光条纹恢复  ·  面向相位解算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326880" y="6547104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 /  30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47472"/>
            <a:ext cx="164592" cy="128016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2926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·  CHOICES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三个设计抉择，覆盖大部分“为什么不用别的”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657600" cy="4800600"/>
          </a:xfrm>
          <a:prstGeom prst="roundRect">
            <a:avLst>
              <a:gd name="adj" fmla="val 2000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25880"/>
            <a:ext cx="3657600" cy="91440"/>
          </a:xfrm>
          <a:prstGeom prst="rect">
            <a:avLst/>
          </a:prstGeom>
          <a:solidFill>
            <a:srgbClr val="1F6A62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1600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76656" y="20574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为什么上频域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76656" y="3063240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高光破坏的是整幅周期。纯局部卷积感受野不够，无法从周围干净条纹推断被削掉的峰。FFC 用 FFT 换全局感受野。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97680" y="1325880"/>
            <a:ext cx="3657600" cy="4800600"/>
          </a:xfrm>
          <a:prstGeom prst="roundRect">
            <a:avLst>
              <a:gd name="adj" fmla="val 2000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1325880"/>
            <a:ext cx="3657600" cy="91440"/>
          </a:xfrm>
          <a:prstGeom prst="rect">
            <a:avLst/>
          </a:prstGeom>
          <a:solidFill>
            <a:srgbClr val="1F6A62"/>
          </a:solidFill>
          <a:ln/>
        </p:spPr>
      </p:sp>
      <p:sp>
        <p:nvSpPr>
          <p:cNvPr id="13" name="Text 11"/>
          <p:cNvSpPr/>
          <p:nvPr/>
        </p:nvSpPr>
        <p:spPr>
          <a:xfrm>
            <a:off x="4517136" y="1600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17136" y="20574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为什么双编码器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17136" y="3063240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ResNet 管边缘和亮暗跃迁。Swin 管窗口级长程关系。不把图缩到 224，避免改掉条纹频率和相位采样。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38160" y="1325880"/>
            <a:ext cx="3657600" cy="4800600"/>
          </a:xfrm>
          <a:prstGeom prst="roundRect">
            <a:avLst>
              <a:gd name="adj" fmla="val 2000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1325880"/>
            <a:ext cx="3657600" cy="91440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18" name="Text 16"/>
          <p:cNvSpPr/>
          <p:nvPr/>
        </p:nvSpPr>
        <p:spPr>
          <a:xfrm>
            <a:off x="8357616" y="1600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57616" y="20574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为什么不只做减法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57616" y="3063240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 = clamp(x − b) 会把 b 的误差一比一传下去。暗区还容易被钳到 0。所以保留减法，再加直接预测。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6510528"/>
            <a:ext cx="11274552" cy="9144"/>
          </a:xfrm>
          <a:prstGeom prst="rect">
            <a:avLst/>
          </a:prstGeom>
          <a:solidFill>
            <a:srgbClr val="E4DDD2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654710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X-FFC-Swin  ·  高反光条纹恢复  ·  面向相位解算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326880" y="6547104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 /  30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47472"/>
            <a:ext cx="164592" cy="128016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2926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·  ENCODER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编码器：五路特征，各有去处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1274552" cy="841248"/>
          </a:xfrm>
          <a:prstGeom prst="roundRect">
            <a:avLst>
              <a:gd name="adj" fmla="val 8696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149961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x_bb_1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651760" y="149961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 · H/2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0" y="149961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ResNet stem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961120" y="149961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最浅 skip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212848"/>
            <a:ext cx="11274552" cy="841248"/>
          </a:xfrm>
          <a:prstGeom prst="roundRect">
            <a:avLst>
              <a:gd name="adj" fmla="val 8696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" y="243230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x_bb_2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51760" y="243230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128 · H/4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0" y="243230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layer1 + Swin 门控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961120" y="243230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中浅 skip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145536"/>
            <a:ext cx="11274552" cy="841248"/>
          </a:xfrm>
          <a:prstGeom prst="roundRect">
            <a:avLst>
              <a:gd name="adj" fmla="val 8696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" y="33649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x_bb_3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51760" y="336499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256 · H/8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29200" y="336499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layer2 + Swin 门控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961120" y="33649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中层 skip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4078224"/>
            <a:ext cx="11274552" cy="841248"/>
          </a:xfrm>
          <a:prstGeom prst="roundRect">
            <a:avLst>
              <a:gd name="adj" fmla="val 8696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" y="42976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x_bb_4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651760" y="42976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512 · H/16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029200" y="42976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layer3/4 + 双向注意力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961120" y="42976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深层 skip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57200" y="5010912"/>
            <a:ext cx="11274552" cy="841248"/>
          </a:xfrm>
          <a:prstGeom prst="roundRect">
            <a:avLst>
              <a:gd name="adj" fmla="val 8696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" y="52303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x_c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651760" y="523036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256 · H/16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029200" y="52303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FFC + 高频增强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961120" y="523036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两个解码器的起点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57200" y="6510528"/>
            <a:ext cx="11274552" cy="9144"/>
          </a:xfrm>
          <a:prstGeom prst="rect">
            <a:avLst/>
          </a:prstGeom>
          <a:solidFill>
            <a:srgbClr val="E4DDD2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654710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X-FFC-Swin  ·  高反光条纹恢复  ·  面向相位解算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326880" y="6547104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 /  30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47472"/>
            <a:ext cx="164592" cy="128016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2926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·  FUSION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融合不是拼接，强度是受控的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1274552" cy="1097280"/>
          </a:xfrm>
          <a:prstGeom prst="roundRect">
            <a:avLst>
              <a:gd name="adj" fmla="val 6667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144475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H/4 与 H/8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76656" y="177393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AdaptiveSkipFusion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91840" y="1536192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 = res + β · gate · swin。ResNet 仍主导，β 可学习，用来观察 Swin 有没有被用上。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487168"/>
            <a:ext cx="11274552" cy="1097280"/>
          </a:xfrm>
          <a:prstGeom prst="roundRect">
            <a:avLst>
              <a:gd name="adj" fmla="val 6667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265176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H/16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6656" y="298094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CrossModalFusion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91840" y="2743200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 Swin 384 投到 512。CNN 问 Swin，Swin 问 CNN，再门控融合。进入前做模态归一化。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3694176"/>
            <a:ext cx="11274552" cy="1097280"/>
          </a:xfrm>
          <a:prstGeom prst="roundRect">
            <a:avLst>
              <a:gd name="adj" fmla="val 6667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" y="385876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回流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76656" y="41879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Top-down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91840" y="3950208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H/16 语义以受限残差回到 H/8、H/4。γ 初值小，并限制在窄区间，避免改写浅层细节。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4901184"/>
            <a:ext cx="11274552" cy="1097280"/>
          </a:xfrm>
          <a:prstGeom prst="roundRect">
            <a:avLst>
              <a:gd name="adj" fmla="val 6667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" y="506577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瓶颈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6656" y="53949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FFC + 高频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291840" y="5157216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通道降到 256 后做 ratio 0.5 的频域残差，再用 Laplacian 与可学习高频分支把边界拉回来。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7200" y="6510528"/>
            <a:ext cx="11274552" cy="9144"/>
          </a:xfrm>
          <a:prstGeom prst="rect">
            <a:avLst/>
          </a:prstGeom>
          <a:solidFill>
            <a:srgbClr val="E4DDD2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654710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X-FFC-Swin  ·  高反光条纹恢复  ·  面向相位解算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326880" y="6547104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 /  30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47472"/>
            <a:ext cx="164592" cy="128016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2926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·  FFC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频域是三层嵌套，不是三个并列模块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572768"/>
            <a:ext cx="1371600" cy="658368"/>
          </a:xfrm>
          <a:prstGeom prst="roundRect">
            <a:avLst>
              <a:gd name="adj" fmla="val 8333"/>
            </a:avLst>
          </a:prstGeom>
          <a:solidFill>
            <a:srgbClr val="1B2433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70078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86000" y="1481328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FFC_BN_ACT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190195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通道拆成局部 L 与全局 G。四路交互：L→L、L→G 走空间卷积；G→L、G→G 走 SpectralTransform。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2990088"/>
            <a:ext cx="1371600" cy="658368"/>
          </a:xfrm>
          <a:prstGeom prst="roundRect">
            <a:avLst>
              <a:gd name="adj" fmla="val 8333"/>
            </a:avLst>
          </a:prstGeom>
          <a:solidFill>
            <a:srgbClr val="1B2433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311810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286000" y="2898648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SpectralTransform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286000" y="331927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整图 FourierUnit 抓周期，上下半幅 LFU 抓局部频域，门控决定信谁。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4407408"/>
            <a:ext cx="1371600" cy="658368"/>
          </a:xfrm>
          <a:prstGeom prst="roundRect">
            <a:avLst>
              <a:gd name="adj" fmla="val 8333"/>
            </a:avLst>
          </a:prstGeom>
          <a:solidFill>
            <a:srgbClr val="1B2433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453542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底层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286000" y="4315968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FourierUnit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286000" y="47365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Tukey 窗、rFFT、1×1 卷积、频域 SE、iRFFT，再做数值保护。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6510528"/>
            <a:ext cx="11274552" cy="9144"/>
          </a:xfrm>
          <a:prstGeom prst="rect">
            <a:avLst/>
          </a:prstGeom>
          <a:solidFill>
            <a:srgbClr val="E4DDD2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654710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X-FFC-Swin  ·  高反光条纹恢复  ·  面向相位解算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326880" y="6547104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 /  30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47472"/>
            <a:ext cx="164592" cy="128016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2926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·  WHERE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FFC 贯穿全链路，不是瓶颈里用一次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657600" cy="2057400"/>
          </a:xfrm>
          <a:prstGeom prst="roundRect">
            <a:avLst>
              <a:gd name="adj" fmla="val 3556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162763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76656" y="20116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编码器末端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6656" y="25146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ratio 0.5，给 H/16 补全局视野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97680" y="1371600"/>
            <a:ext cx="3657600" cy="2057400"/>
          </a:xfrm>
          <a:prstGeom prst="roundRect">
            <a:avLst>
              <a:gd name="adj" fmla="val 3556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17136" y="162763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17136" y="20116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梯度解码 1–3 级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17136" y="25146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ratio 0.25，中浅层也保留周期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38160" y="1371600"/>
            <a:ext cx="3657600" cy="2057400"/>
          </a:xfrm>
          <a:prstGeom prst="roundRect">
            <a:avLst>
              <a:gd name="adj" fmla="val 3556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57616" y="162763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57616" y="20116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主解码 L1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57616" y="25146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两次 FFC 加残差，作为解码起点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3657600" cy="2057400"/>
          </a:xfrm>
          <a:prstGeom prst="roundRect">
            <a:avLst>
              <a:gd name="adj" fmla="val 3556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" y="391363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6656" y="42976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主解码 L2 / L3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6656" y="48006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上采样后再次注入频域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297680" y="3657600"/>
            <a:ext cx="3657600" cy="2057400"/>
          </a:xfrm>
          <a:prstGeom prst="roundRect">
            <a:avLst>
              <a:gd name="adj" fmla="val 3556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17136" y="391363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17136" y="42976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增强层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17136" y="48006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只精炼高光分支，不扰动投影分支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138160" y="3657600"/>
            <a:ext cx="3657600" cy="2057400"/>
          </a:xfrm>
          <a:prstGeom prst="roundRect">
            <a:avLst>
              <a:gd name="adj" fmla="val 3556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57616" y="391363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357616" y="42976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损失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357616" y="48006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幅度谱差 + 能量加权相位一致性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57200" y="6510528"/>
            <a:ext cx="11274552" cy="9144"/>
          </a:xfrm>
          <a:prstGeom prst="rect">
            <a:avLst/>
          </a:prstGeom>
          <a:solidFill>
            <a:srgbClr val="E4DDD2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654710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X-FFC-Swin  ·  高反光条纹恢复  ·  面向相位解算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326880" y="6547104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 /  30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47472"/>
            <a:ext cx="164592" cy="128016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2926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·  GRADIENT DECODER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辅助分支回答两件事：哪里变了，是不是高光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5623560" cy="2176272"/>
          </a:xfrm>
          <a:prstGeom prst="roundRect">
            <a:avLst>
              <a:gd name="adj" fmla="val 3361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55448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Block 1–4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H/16 逐级上采到 H/2。每级拼接编码器 skip，前三级带 FFC。产出 xe1–xe4，交给增强层。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298448"/>
            <a:ext cx="5623560" cy="2176272"/>
          </a:xfrm>
          <a:prstGeom prst="roundRect">
            <a:avLst>
              <a:gd name="adj" fmla="val 3361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55448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梯度头 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0" y="210312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监督目标是增强后输入的 Sobel 幅值。它进 edge gate、主解码三路门控，并在全分辨率再拼一次。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630168"/>
            <a:ext cx="5623560" cy="2176272"/>
          </a:xfrm>
          <a:prstGeom prst="roundRect">
            <a:avLst>
              <a:gd name="adj" fmla="val 3361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88620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概率头 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443484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监督 clamp(x − target, 0, 1)。它不是 b 的副本：b 是强度，s 是位置软标签。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09360" y="3630168"/>
            <a:ext cx="5623560" cy="2176272"/>
          </a:xfrm>
          <a:prstGeom prst="roundRect">
            <a:avLst>
              <a:gd name="adj" fmla="val 3361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388620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为什么改监督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83680" y="443484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拟合输入梯度，才能看见平台内部变平和边界尖峰。拟合干净漫反射梯度，会把污染位置学丢。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6510528"/>
            <a:ext cx="11274552" cy="9144"/>
          </a:xfrm>
          <a:prstGeom prst="rect">
            <a:avLst/>
          </a:prstGeom>
          <a:solidFill>
            <a:srgbClr val="E4DDD2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654710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X-FFC-Swin  ·  高反光条纹恢复  ·  面向相位解算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326880" y="6547104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 /  30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47472"/>
            <a:ext cx="164592" cy="128016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2926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·  BRIDGE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增强层把“结构特征”变成“高光相关特征”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761488" cy="1965960"/>
          </a:xfrm>
          <a:prstGeom prst="roundRect">
            <a:avLst>
              <a:gd name="adj" fmla="val 3721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81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投影支路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大核保留稳定纹理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83280" y="1325880"/>
            <a:ext cx="2761488" cy="1965960"/>
          </a:xfrm>
          <a:prstGeom prst="roundRect">
            <a:avLst>
              <a:gd name="adj" fmla="val 3721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1481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6616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高光支路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66160" y="2286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小核 + FFC 抓异常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09360" y="1325880"/>
            <a:ext cx="2761488" cy="1965960"/>
          </a:xfrm>
          <a:prstGeom prst="roundRect">
            <a:avLst>
              <a:gd name="adj" fmla="val 3721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1481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内部门控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92240" y="2286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两支路自己决定怎么混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235440" y="1325880"/>
            <a:ext cx="2761488" cy="1965960"/>
          </a:xfrm>
          <a:prstGeom prst="roundRect">
            <a:avLst>
              <a:gd name="adj" fmla="val 3721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18320" y="1481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41832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外部门控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418320" y="2286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edge × spec，只在高光且有结构处注入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520440"/>
            <a:ext cx="11274552" cy="2606040"/>
          </a:xfrm>
          <a:prstGeom prst="roundRect">
            <a:avLst>
              <a:gd name="adj" fmla="val 2807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373075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输出对应关系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3232" y="416052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enh1 128·H/16 → 主解码 L1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enh2 64·H/8 → L2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enh3 32·H/4 → L3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enh4 16·H/2 → L4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35040" y="416052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final gate 接近 0 的均匀漫反射区不被扰动。β 从小值学起，避免一上来改写梯度分支已经学到的分布。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57200" y="6510528"/>
            <a:ext cx="11274552" cy="9144"/>
          </a:xfrm>
          <a:prstGeom prst="rect">
            <a:avLst/>
          </a:prstGeom>
          <a:solidFill>
            <a:srgbClr val="E4DDD2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654710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X-FFC-Swin  ·  高反光条纹恢复  ·  面向相位解算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326880" y="6547104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 /  30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47472"/>
            <a:ext cx="164592" cy="128016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2926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·  MAIN DECODER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主解码器每一级都在问：这里像不像高光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1274552" cy="841248"/>
          </a:xfrm>
          <a:prstGeom prst="roundRect">
            <a:avLst>
              <a:gd name="adj" fmla="val 8696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149961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 H/16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926080" y="1499616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 FFC + 多尺度卷积，拼接 x_bb_4 与 enh1。这一级不上采样。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212848"/>
            <a:ext cx="11274552" cy="841248"/>
          </a:xfrm>
          <a:prstGeom prst="roundRect">
            <a:avLst>
              <a:gd name="adj" fmla="val 8696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" y="243230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  H/8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26080" y="243230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第一次上采样。开始三路先验：梯度、联合、高光概率。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145536"/>
            <a:ext cx="11274552" cy="841248"/>
          </a:xfrm>
          <a:prstGeom prst="roundRect">
            <a:avLst>
              <a:gd name="adj" fmla="val 8696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" y="33649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  H/4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26080" y="336499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条纹细节的关键尺度。四路特征提取后再做 FFC。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4078224"/>
            <a:ext cx="11274552" cy="841248"/>
          </a:xfrm>
          <a:prstGeom prst="roundRect">
            <a:avLst>
              <a:gd name="adj" fmla="val 8696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" y="42976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  H/2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926080" y="429768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不再用 FFC，改信局部。仍保留门控和 SpecularAware。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5010912"/>
            <a:ext cx="11274552" cy="841248"/>
          </a:xfrm>
          <a:prstGeom prst="roundRect">
            <a:avLst>
              <a:gd name="adj" fmla="val 8696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" y="523036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L5  H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926080" y="523036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拼上全分辨率 g，分出 b、r_direct、alpha_logit。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6510528"/>
            <a:ext cx="11274552" cy="9144"/>
          </a:xfrm>
          <a:prstGeom prst="rect">
            <a:avLst/>
          </a:prstGeom>
          <a:solidFill>
            <a:srgbClr val="E4DDD2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654710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X-FFC-Swin  ·  高反光条纹恢复  ·  面向相位解算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326880" y="6547104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 /  30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47472"/>
            <a:ext cx="164592" cy="128016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2926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·  ATTENTION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两类注意力，一个看原图，一个看 skip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5623560" cy="4800600"/>
          </a:xfrm>
          <a:prstGeom prst="roundRect">
            <a:avLst>
              <a:gd name="adj" fmla="val 1524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554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SpecularAwareAttention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13232" y="2057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sa1 到 sa4，每一级都把原图缩到当前尺度。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" y="260604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先验不是简单亮度阈值：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0.75 × 输入 + 0.25 × 局部对比度。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多级软 mask 再去调制特征。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输出是残差形式：特征 × (1 + scale · attn)。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09360" y="1325880"/>
            <a:ext cx="5422392" cy="4800600"/>
          </a:xfrm>
          <a:prstGeom prst="roundRect">
            <a:avLst>
              <a:gd name="adj" fmla="val 1524"/>
            </a:avLst>
          </a:prstGeom>
          <a:solidFill>
            <a:srgbClr val="1B2433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1554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Attention_block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65392" y="2057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8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att1–att4 在拼接 skip 之前。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65392" y="265176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E1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门控是逐通道的，不是一张单通道图。高光区可以压掉容易误导的边缘通道，清晰条纹区再把结构通道放开。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6510528"/>
            <a:ext cx="11274552" cy="9144"/>
          </a:xfrm>
          <a:prstGeom prst="rect">
            <a:avLst/>
          </a:prstGeom>
          <a:solidFill>
            <a:srgbClr val="E4DDD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654710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X-FFC-Swin  ·  高反光条纹恢复  ·  面向相位解算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326880" y="6547104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 /  30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47472"/>
            <a:ext cx="164592" cy="128016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2926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·  FUSION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双路融合：物理路径负责解释，直接路径负责兜底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6949440" cy="841248"/>
          </a:xfrm>
          <a:prstGeom prst="roundRect">
            <a:avLst>
              <a:gd name="adj" fmla="val 8696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151790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减法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965960" y="151790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r_sub = clamp(x − b, 0, 1)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258568"/>
            <a:ext cx="6949440" cy="841248"/>
          </a:xfrm>
          <a:prstGeom prst="roundRect">
            <a:avLst>
              <a:gd name="adj" fmla="val 8696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" y="247802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965960" y="247802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α = sigmoid(alpha_logit)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218688"/>
            <a:ext cx="6949440" cy="841248"/>
          </a:xfrm>
          <a:prstGeom prst="roundRect">
            <a:avLst>
              <a:gd name="adj" fmla="val 8696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" y="343814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965960" y="343814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r_fused = α · r_direct + (1 − α) · r_sub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178808"/>
            <a:ext cx="6949440" cy="841248"/>
          </a:xfrm>
          <a:prstGeom prst="roundRect">
            <a:avLst>
              <a:gd name="adj" fmla="val 8696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" y="439826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精修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965960" y="439826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 = clamp(r_fused + 0.15 · δ, 0, 1)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35240" y="1298448"/>
            <a:ext cx="4096512" cy="4709160"/>
          </a:xfrm>
          <a:prstGeom prst="roundRect">
            <a:avLst>
              <a:gd name="adj" fmla="val 1786"/>
            </a:avLst>
          </a:prstGeom>
          <a:solidFill>
            <a:srgbClr val="F8EBE3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0.15 不是随意的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863840" y="210312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δ 来自 Tanh，范围是 −1 到 1。乘 0.15 之后，精修只能在 ±0.15 内改像素。它修边界，不推翻融合结果。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863840" y="42062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精修头同时看见 r_fused、原图和 r_direct。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7200" y="6510528"/>
            <a:ext cx="11274552" cy="9144"/>
          </a:xfrm>
          <a:prstGeom prst="rect">
            <a:avLst/>
          </a:prstGeom>
          <a:solidFill>
            <a:srgbClr val="E4DDD2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654710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X-FFC-Swin  ·  高反光条纹恢复  ·  面向相位解算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326880" y="6547104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  /  30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A88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 03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损失、训练和真正拿去用的推理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2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结构讲完之后，才谈怎么监督、怎么在大图上不改频率。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6510528"/>
            <a:ext cx="11274552" cy="9144"/>
          </a:xfrm>
          <a:prstGeom prst="rect">
            <a:avLst/>
          </a:prstGeom>
          <a:solidFill>
            <a:srgbClr val="3A465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54710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0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X-FFC-Swin  ·  高反光条纹恢复  ·  面向相位解算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326880" y="6547104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0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  /  30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47472"/>
            <a:ext cx="164592" cy="128016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2926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·  LOSS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六组损失，对应六类输出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15819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漫反射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" y="210312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MS-SSIM / SSIM、边缘加权 Charbonnier、频域、VGG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32588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17136" y="15819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镜面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17136" y="210312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对 gt_specular，外加 focal、Dice、梯度一致、峰值惩罚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38160" y="132588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57616" y="15819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梯度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357616" y="210312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 对输入 Sobel：SSIM、边缘加权、与 b 的边界关系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" y="39136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概率头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76656" y="443484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 的 BCE + SSIM，以及 s 与 b 在高光区的一致性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297680" y="365760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17136" y="39136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双路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17136" y="443484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高光区重点约束 r，r_direct 与 r 一致，高光区平滑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138160" y="365760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57616" y="39136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跨尺度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57616" y="443484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H/4、H/8、H/16 响应图 L1。权重按 epoch 比例调度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6510528"/>
            <a:ext cx="11274552" cy="9144"/>
          </a:xfrm>
          <a:prstGeom prst="rect">
            <a:avLst/>
          </a:prstGeom>
          <a:solidFill>
            <a:srgbClr val="E4DDD2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654710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X-FFC-Swin  ·  高反光条纹恢复  ·  面向相位解算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326880" y="6547104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  /  30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47472"/>
            <a:ext cx="164592" cy="128016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2926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·  TRAIN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训练按工程入口来，不按理想化设定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657600" cy="1810512"/>
          </a:xfrm>
          <a:prstGeom prst="roundRect">
            <a:avLst>
              <a:gd name="adj" fmla="val 4040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158191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尺寸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76656" y="203911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 128 × 160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97680" y="1325880"/>
            <a:ext cx="3657600" cy="1810512"/>
          </a:xfrm>
          <a:prstGeom prst="roundRect">
            <a:avLst>
              <a:gd name="adj" fmla="val 4040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17136" y="158191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17136" y="203911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AdamW，2e-4，预训练组 ×0.1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38160" y="1325880"/>
            <a:ext cx="3657600" cy="1810512"/>
          </a:xfrm>
          <a:prstGeom prst="roundRect">
            <a:avLst>
              <a:gd name="adj" fmla="val 4040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57616" y="158191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357616" y="203911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GroupNorm、EMA 0.9995、梯度裁剪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3657600" cy="1810512"/>
          </a:xfrm>
          <a:prstGeom prst="roundRect">
            <a:avLst>
              <a:gd name="adj" fmla="val 4040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" y="354787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增强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6656" y="400507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翻转、180°、裁剪、亮度、合成高光 p=0.5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97680" y="3291840"/>
            <a:ext cx="3657600" cy="1810512"/>
          </a:xfrm>
          <a:prstGeom prst="roundRect">
            <a:avLst>
              <a:gd name="adj" fmla="val 4040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17136" y="354787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17136" y="400507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0.7·SSIM + 0.3/(1+Loss)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38160" y="3291840"/>
            <a:ext cx="3657600" cy="1810512"/>
          </a:xfrm>
          <a:prstGeom prst="roundRect">
            <a:avLst>
              <a:gd name="adj" fmla="val 4040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57616" y="354787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357616" y="400507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综合最优、SSIM 最优、Loss 最优、last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7200" y="6510528"/>
            <a:ext cx="11274552" cy="9144"/>
          </a:xfrm>
          <a:prstGeom prst="rect">
            <a:avLst/>
          </a:prstGeom>
          <a:solidFill>
            <a:srgbClr val="E4DDD2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654710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X-FFC-Swin  ·  高反光条纹恢复  ·  面向相位解算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326880" y="6547104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  /  30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47472"/>
            <a:ext cx="164592" cy="128016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2926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·  INFERENCE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大图不缩放，按训练 patch 滑窗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11274552" cy="1060704"/>
          </a:xfrm>
          <a:prstGeom prst="roundRect">
            <a:avLst>
              <a:gd name="adj" fmla="val 6897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554480"/>
            <a:ext cx="548640" cy="530352"/>
          </a:xfrm>
          <a:prstGeom prst="roundRect">
            <a:avLst>
              <a:gd name="adj" fmla="val 10345"/>
            </a:avLst>
          </a:prstGeom>
          <a:solidFill>
            <a:srgbClr val="1B2433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6276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148132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加载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66160" y="155448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 EMA。识别 GroupNorm，读取 checkpoint 里的训练尺寸。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11274552" cy="1060704"/>
          </a:xfrm>
          <a:prstGeom prst="roundRect">
            <a:avLst>
              <a:gd name="adj" fmla="val 6897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2724912"/>
            <a:ext cx="548640" cy="530352"/>
          </a:xfrm>
          <a:prstGeom prst="roundRect">
            <a:avLst>
              <a:gd name="adj" fmla="val 10345"/>
            </a:avLst>
          </a:prstGeom>
          <a:solidFill>
            <a:srgbClr val="1B2433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279806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265176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滑窗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66160" y="272491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只在右和下 padding。重叠区用 Tukey 窗加权，避免硬接缝。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639312"/>
            <a:ext cx="11274552" cy="1060704"/>
          </a:xfrm>
          <a:prstGeom prst="roundRect">
            <a:avLst>
              <a:gd name="adj" fmla="val 6897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3895344"/>
            <a:ext cx="548640" cy="530352"/>
          </a:xfrm>
          <a:prstGeom prst="roundRect">
            <a:avLst>
              <a:gd name="adj" fmla="val 10345"/>
            </a:avLst>
          </a:prstGeom>
          <a:solidFill>
            <a:srgbClr val="1B2433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39684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382219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TTA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566160" y="3895344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原图、水平、垂直、双向翻转。平均 b 与 r_direct 后，再重算 r。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4809744"/>
            <a:ext cx="11274552" cy="1060704"/>
          </a:xfrm>
          <a:prstGeom prst="roundRect">
            <a:avLst>
              <a:gd name="adj" fmla="val 6897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5065776"/>
            <a:ext cx="548640" cy="530352"/>
          </a:xfrm>
          <a:prstGeom prst="roundRect">
            <a:avLst>
              <a:gd name="adj" fmla="val 10345"/>
            </a:avLst>
          </a:prstGeom>
          <a:solidFill>
            <a:srgbClr val="1B2433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51389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17320" y="4992624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566160" y="5065776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主文件是 diffuse。specular、gradient、spec_likelihood 用于核对。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57200" y="6510528"/>
            <a:ext cx="11274552" cy="9144"/>
          </a:xfrm>
          <a:prstGeom prst="rect">
            <a:avLst/>
          </a:prstGeom>
          <a:solidFill>
            <a:srgbClr val="E4DDD2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654710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X-FFC-Swin  ·  高反光条纹恢复  ·  面向相位解算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326880" y="6547104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  /  30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6A6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A88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 04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证据怎么用，边界怎么说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2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闭环是相位和点云。图像 SSIM 只是中间量。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6510528"/>
            <a:ext cx="11274552" cy="9144"/>
          </a:xfrm>
          <a:prstGeom prst="rect">
            <a:avLst/>
          </a:prstGeom>
          <a:solidFill>
            <a:srgbClr val="3A465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54710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0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X-FFC-Swin  ·  高反光条纹恢复  ·  面向相位解算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326880" y="6547104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0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  /  30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47472"/>
            <a:ext cx="164592" cy="128016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2926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 ·  DOWNSTREAM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恢复之后，才进入已有的相位链路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176272" cy="2468880"/>
          </a:xfrm>
          <a:prstGeom prst="roundRect">
            <a:avLst>
              <a:gd name="adj" fmla="val 3361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55648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2240280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恢复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3504" y="2788920"/>
            <a:ext cx="1883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r 替换受污染条纹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88920" y="1554480"/>
            <a:ext cx="2176272" cy="2468880"/>
          </a:xfrm>
          <a:prstGeom prst="roundRect">
            <a:avLst>
              <a:gd name="adj" fmla="val 3361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1755648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98648" y="2240280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解相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935224" y="2788920"/>
            <a:ext cx="1883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四步相移得到包裹相位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120640" y="1554480"/>
            <a:ext cx="2176272" cy="2468880"/>
          </a:xfrm>
          <a:prstGeom prst="roundRect">
            <a:avLst>
              <a:gd name="adj" fmla="val 3361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0" y="1755648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30368" y="2240280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展开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266944" y="2788920"/>
            <a:ext cx="1883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多频外差得到绝对相位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452360" y="1554480"/>
            <a:ext cx="2176272" cy="2468880"/>
          </a:xfrm>
          <a:prstGeom prst="roundRect">
            <a:avLst>
              <a:gd name="adj" fmla="val 3361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52360" y="1755648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562088" y="2240280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重建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598664" y="2788920"/>
            <a:ext cx="1883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三角化，导出点云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784080" y="1554480"/>
            <a:ext cx="2176272" cy="2468880"/>
          </a:xfrm>
          <a:prstGeom prst="roundRect">
            <a:avLst>
              <a:gd name="adj" fmla="val 3361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84080" y="1755648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893808" y="2240280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核对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930384" y="2788920"/>
            <a:ext cx="1883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相位 MAE、深度 MAE、尖刺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4297680"/>
            <a:ext cx="11274552" cy="1783080"/>
          </a:xfrm>
          <a:prstGeom prst="roundRect">
            <a:avLst>
              <a:gd name="adj" fmla="val 4103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470916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仓库里已有 phase_analysis、点云误差比较脚本，以及 HDRNet、DCUNet 对比实现和消融目录。工具链在，不代表本轮自测表已经填完。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57200" y="6510528"/>
            <a:ext cx="11274552" cy="9144"/>
          </a:xfrm>
          <a:prstGeom prst="rect">
            <a:avLst/>
          </a:prstGeom>
          <a:solidFill>
            <a:srgbClr val="E4DDD2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654710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X-FFC-Swin  ·  高反光条纹恢复  ·  面向相位解算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326880" y="6547104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  /  30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47472"/>
            <a:ext cx="164592" cy="128016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2926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 ·  REFERENCE NUMBERS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 Y-FFC 的报告值，只作对照，不作本仓库自测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657600" cy="2880360"/>
          </a:xfrm>
          <a:prstGeom prst="roundRect">
            <a:avLst>
              <a:gd name="adj" fmla="val 2540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15544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0.8987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76656" y="2286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真实数据 SSIM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6656" y="27889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 HDR-Net 0.7552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DC-Unet 0.7466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97680" y="1325880"/>
            <a:ext cx="3657600" cy="2880360"/>
          </a:xfrm>
          <a:prstGeom prst="roundRect">
            <a:avLst>
              <a:gd name="adj" fmla="val 2540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17136" y="15544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0.3296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17136" y="2286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绝对相位 MAE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17136" y="27889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另一组 0.6413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直接重建 17.05 / 41.39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38160" y="1325880"/>
            <a:ext cx="3657600" cy="2880360"/>
          </a:xfrm>
          <a:prstGeom prst="roundRect">
            <a:avLst>
              <a:gd name="adj" fmla="val 2540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57616" y="15544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/ 10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357616" y="2286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点云 EPC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57616" y="27889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 MAE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0.0027 / 0.0041 mm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434840"/>
            <a:ext cx="11274552" cy="1691640"/>
          </a:xfrm>
          <a:prstGeom prst="roundRect">
            <a:avLst>
              <a:gd name="adj" fmla="val 4324"/>
            </a:avLst>
          </a:prstGeom>
          <a:solidFill>
            <a:srgbClr val="F8EBE3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4645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13232" y="5029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这些数字来自大纲所引论文表，不是 X-FFC-Swin 当前 checkpoint 的验证集结果。面试稿里也写明：网络与消融已搭好，指标仍在补充，不声称 SSIM / PSNR。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6510528"/>
            <a:ext cx="11274552" cy="9144"/>
          </a:xfrm>
          <a:prstGeom prst="rect">
            <a:avLst/>
          </a:prstGeom>
          <a:solidFill>
            <a:srgbClr val="E4DDD2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654710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X-FFC-Swin  ·  高反光条纹恢复  ·  面向相位解算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326880" y="6547104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  /  30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47472"/>
            <a:ext cx="164592" cy="128016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2926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 ·  LIMITS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现在就能说清的局限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11274552" cy="1060704"/>
          </a:xfrm>
          <a:prstGeom prst="roundRect">
            <a:avLst>
              <a:gd name="adj" fmla="val 6897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444752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减法仍可能钳死暗部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" y="182880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双路融合缓解，但 α 学偏时仍会偏信错误的 b。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11274552" cy="1060704"/>
          </a:xfrm>
          <a:prstGeom prst="roundRect">
            <a:avLst>
              <a:gd name="adj" fmla="val 6897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615184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 r + b = x 的硬约束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3232" y="299923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物理可解释和像素自由之间，目前选了软融合。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639312"/>
            <a:ext cx="11274552" cy="1060704"/>
          </a:xfrm>
          <a:prstGeom prst="roundRect">
            <a:avLst>
              <a:gd name="adj" fmla="val 6897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785616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Swin 不缩放是正确的，也更贵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3232" y="4169664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大图依赖滑窗，边界靠 Tukey，不是免费的全局。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809744"/>
            <a:ext cx="11274552" cy="1060704"/>
          </a:xfrm>
          <a:prstGeom prst="roundRect">
            <a:avLst>
              <a:gd name="adj" fmla="val 6897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4956048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对比与消融目录在，表还没闭环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13232" y="5340096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HDRNet、DCUNet、消融协议已放进仓库，不能提前报胜负。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6510528"/>
            <a:ext cx="11274552" cy="9144"/>
          </a:xfrm>
          <a:prstGeom prst="rect">
            <a:avLst/>
          </a:prstGeom>
          <a:solidFill>
            <a:srgbClr val="E4DDD2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654710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X-FFC-Swin  ·  高反光条纹恢复  ·  面向相位解算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326880" y="6547104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  /  30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50" kern="0" dirty="0">
                <a:solidFill>
                  <a:srgbClr val="A88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收束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三件事值得记住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37360" y="173736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频域修形态，梯度定位置，s 判别是不是高光。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737360" y="278892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减法保留物理含义，直接预测兜住暗部和局部错 b。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38404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737360" y="384048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评价要落到相位和点云。图像变干净，只是中间步骤。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5074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2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欢迎追问模块张量、损失权重或推理滑窗。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6510528"/>
            <a:ext cx="11274552" cy="9144"/>
          </a:xfrm>
          <a:prstGeom prst="rect">
            <a:avLst/>
          </a:prstGeom>
          <a:solidFill>
            <a:srgbClr val="3A4658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54710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0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X-FFC-Swin  ·  高反光条纹恢复  ·  面向相位解算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326880" y="6547104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0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 /  30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面向高反光表面三维重建的 X-FFC-Swin 条纹恢复网络</dc:title>
  <dc:subject>基于仓库当前实现与技术说明的讲述型汇报</dc:subject>
  <dc:creator>X-FFC 技术汇报</dc:creator>
  <cp:lastModifiedBy>X-FFC 技术汇报</cp:lastModifiedBy>
  <cp:revision>1</cp:revision>
  <dcterms:created xsi:type="dcterms:W3CDTF">2026-10-03T04:28:22Z</dcterms:created>
  <dcterms:modified xsi:type="dcterms:W3CDTF">2026-10-03T04:28:22Z</dcterms:modified>
</cp:coreProperties>
</file>
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724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43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LEARNING  ·  STRUCTURED LIGHT  ·  HIGHLIGHT REMOVAL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/ YFFC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模型结构与模块详细技术说明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面向单通道灰度结构光条纹图的高反光分离、镜面分解与漫反射重建。保留原有架构关系，并写出每个模块的输入、输出与数据流。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79476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243044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9502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双分支编码器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4315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ResNet50 + Swin-Tiny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70248" y="379476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243044"/>
          </a:solidFill>
          <a:ln/>
        </p:spPr>
      </p:sp>
      <p:sp>
        <p:nvSpPr>
          <p:cNvPr id="12" name="Text 10"/>
          <p:cNvSpPr/>
          <p:nvPr/>
        </p:nvSpPr>
        <p:spPr>
          <a:xfrm>
            <a:off x="4453128" y="39502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频域核心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3128" y="4315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FourierUnit 全局感受野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73568" y="379476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243044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39502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双路漫反射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56448" y="4315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融合 + 残差精修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5212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7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Y_FFC_unified.py · train.py · process_images.py · 当前模型完整技术说明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50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· 讲解大纲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109728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618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7592" y="11704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任务定义与设计目标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7592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输出与六大设计要点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192024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0848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07592" y="19933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总体架构与数据流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7592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型双分支、端到端伪代码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274320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907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07592" y="2816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双分支编码器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7592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ResNet50 + Swin + 融合 + FFC 瓶颈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" y="356616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7307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07592" y="3639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频域卷积核心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FourierUnit / SpectralTransform / FFC_BN_ACT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438912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45537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07592" y="44622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GradientDecoder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07592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Block 的输入输出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" y="521208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53766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7592" y="52852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EnhancementLayers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07592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增强桥接与门控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91072" y="109728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12618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59752" y="11704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MainDecoder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59752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每一级输入输出、SpecAware、双头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91072" y="192024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0848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59752" y="19933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双路融合 + 残差精修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59752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融合与 RefinementHead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91072" y="274320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37376" y="2907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59752" y="2816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EnhancedCompositeLoss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59752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多任务复合损失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91072" y="356616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37307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59752" y="36393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+ 推理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59752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滑窗、TTA、分层学习率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91072" y="4389120"/>
            <a:ext cx="56692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37376" y="45537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159752" y="44622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总结与模块包含关系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59752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模块树、输出与文件命名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51" name="Text 49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50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TASK DEFINITION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把输入分解为漫反射与高反光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38912" y="9875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 ≈  r  +  b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" y="1463040"/>
            <a:ext cx="3675888" cy="2121408"/>
          </a:xfrm>
          <a:prstGeom prst="roundRect">
            <a:avLst>
              <a:gd name="adj" fmla="val 30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灰度条纹，已归一化到 [0,1]。含条纹、真实反射、饱和区与噪声。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79392" y="1463040"/>
            <a:ext cx="3675888" cy="2121408"/>
          </a:xfrm>
          <a:prstGeom prst="roundRect">
            <a:avLst>
              <a:gd name="adj" fmla="val 30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645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423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最终漫反射。r_direct 与 r_sub 经 α 融合，再经残差精修。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675888" cy="2121408"/>
          </a:xfrm>
          <a:prstGeom prst="roundRect">
            <a:avLst>
              <a:gd name="adj" fmla="val 30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45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镜面 / 高反光分量。解释被移除的高动态亮斑，并构成减法路径。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" y="3749040"/>
            <a:ext cx="3675888" cy="2121408"/>
          </a:xfrm>
          <a:prstGeom prst="roundRect">
            <a:avLst>
              <a:gd name="adj" fmla="val 30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 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709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输入图 Sobel 梯度幅值。看见条纹边界、高光边缘和结构突变。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79392" y="3749040"/>
            <a:ext cx="3675888" cy="2121408"/>
          </a:xfrm>
          <a:prstGeom prst="roundRect">
            <a:avLst>
              <a:gd name="adj" fmla="val 30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 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80560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1, H, W]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4709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高反光软概率。监督 clamp(input − target, 0, 1)。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9872" y="3749040"/>
            <a:ext cx="3675888" cy="2121408"/>
          </a:xfrm>
          <a:prstGeom prst="roundRect">
            <a:avLst>
              <a:gd name="adj" fmla="val 30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训练辅助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1040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r_direct / α / 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21040" y="4709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直接预测漫反射、双路融合系数、跨尺度一致性标量。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50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DESIGN GOALS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要实现的效果与六大设计要点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6858000" cy="2331720"/>
          </a:xfrm>
          <a:prstGeom prst="roundRect">
            <a:avLst>
              <a:gd name="adj" fmla="val 274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0700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 · 保留条纹，去除高光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去掉局部饱和与强反光，同时保住条纹连续性、边缘位置和灰度结构。r 不是全图变暗，而是后续相位解算还能用的条纹。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解释被移除的亮度；g 提供边界；s 提供高光位置。r_sub 保物理含义，r_direct 兜暗部，α 融合后再做 ±0.15 微调。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52360" y="1078992"/>
            <a:ext cx="42976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6952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全局感受野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16952" y="1426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 1×1，O(N log 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1901952"/>
            <a:ext cx="42976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9751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双分支互补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16952" y="2249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 局部 + Swin 窗口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2724912"/>
            <a:ext cx="42976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2798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多任务监督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16952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+ s + r 联合学习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3547872"/>
            <a:ext cx="42976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3621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物理可解释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16952" y="38953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r_sub = clamp(x − b)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52360" y="4370832"/>
            <a:ext cx="42976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4443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暗部兜底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16952" y="4718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r_direct 覆盖减法盲区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52360" y="5193792"/>
            <a:ext cx="4297680" cy="731520"/>
          </a:xfrm>
          <a:prstGeom prst="roundRect">
            <a:avLst>
              <a:gd name="adj" fmla="val 875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5266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像素级精修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16952" y="5541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残差头 ±0.15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50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·  OVERALL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/ YFFC 总体架构图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444752" cy="1234440"/>
          </a:xfrm>
          <a:prstGeom prst="roundRect">
            <a:avLst>
              <a:gd name="adj" fmla="val 4444"/>
            </a:avLst>
          </a:prstGeom>
          <a:solidFill>
            <a:srgbClr val="C45C2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64592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灰度条纹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[B,1,H,W]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10512" y="20574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0" name="Shape 8"/>
          <p:cNvSpPr/>
          <p:nvPr/>
        </p:nvSpPr>
        <p:spPr>
          <a:xfrm>
            <a:off x="2048256" y="1554480"/>
            <a:ext cx="1444752" cy="1234440"/>
          </a:xfrm>
          <a:prstGeom prst="roundRect">
            <a:avLst>
              <a:gd name="adj" fmla="val 4444"/>
            </a:avLst>
          </a:prstGeom>
          <a:solidFill>
            <a:srgbClr val="1B2433"/>
          </a:solidFill>
          <a:ln/>
        </p:spPr>
      </p:sp>
      <p:sp>
        <p:nvSpPr>
          <p:cNvPr id="11" name="Text 9"/>
          <p:cNvSpPr/>
          <p:nvPr/>
        </p:nvSpPr>
        <p:spPr>
          <a:xfrm>
            <a:off x="2121408" y="164592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1408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 + Swin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瓶颈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93008" y="20574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0752" y="1554480"/>
            <a:ext cx="1444752" cy="1234440"/>
          </a:xfrm>
          <a:prstGeom prst="roundRect">
            <a:avLst>
              <a:gd name="adj" fmla="val 4444"/>
            </a:avLst>
          </a:prstGeom>
          <a:solidFill>
            <a:srgbClr val="1B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3803904" y="164592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GradDec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03904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g, 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xe1–xe4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75504" y="20574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13248" y="1554480"/>
            <a:ext cx="1444752" cy="1234440"/>
          </a:xfrm>
          <a:prstGeom prst="roundRect">
            <a:avLst>
              <a:gd name="adj" fmla="val 4444"/>
            </a:avLst>
          </a:prstGeom>
          <a:solidFill>
            <a:srgbClr val="1B24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64592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enh1–enh4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双层门控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20574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2" name="Shape 20"/>
          <p:cNvSpPr/>
          <p:nvPr/>
        </p:nvSpPr>
        <p:spPr>
          <a:xfrm>
            <a:off x="7095744" y="1554480"/>
            <a:ext cx="1444752" cy="1234440"/>
          </a:xfrm>
          <a:prstGeom prst="roundRect">
            <a:avLst>
              <a:gd name="adj" fmla="val 4444"/>
            </a:avLst>
          </a:prstGeom>
          <a:solidFill>
            <a:srgbClr val="1B2433"/>
          </a:solidFill>
          <a:ln/>
        </p:spPr>
      </p:sp>
      <p:sp>
        <p:nvSpPr>
          <p:cNvPr id="23" name="Text 21"/>
          <p:cNvSpPr/>
          <p:nvPr/>
        </p:nvSpPr>
        <p:spPr>
          <a:xfrm>
            <a:off x="7168896" y="164592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MainDec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68896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b, r_direct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40496" y="20574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0" y="1554480"/>
            <a:ext cx="1444752" cy="1234440"/>
          </a:xfrm>
          <a:prstGeom prst="roundRect">
            <a:avLst>
              <a:gd name="adj" fmla="val 4444"/>
            </a:avLst>
          </a:prstGeom>
          <a:solidFill>
            <a:srgbClr val="1B2433"/>
          </a:solidFill>
          <a:ln/>
        </p:spPr>
      </p:sp>
      <p:sp>
        <p:nvSpPr>
          <p:cNvPr id="27" name="Text 25"/>
          <p:cNvSpPr/>
          <p:nvPr/>
        </p:nvSpPr>
        <p:spPr>
          <a:xfrm>
            <a:off x="8851392" y="164592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融合精修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51392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r_sub + 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±0.15 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222992" y="20574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60736" y="1554480"/>
            <a:ext cx="1444752" cy="1234440"/>
          </a:xfrm>
          <a:prstGeom prst="roundRect">
            <a:avLst>
              <a:gd name="adj" fmla="val 4444"/>
            </a:avLst>
          </a:prstGeom>
          <a:solidFill>
            <a:srgbClr val="C45C26"/>
          </a:solidFill>
          <a:ln/>
        </p:spPr>
      </p:sp>
      <p:sp>
        <p:nvSpPr>
          <p:cNvPr id="31" name="Text 29"/>
          <p:cNvSpPr/>
          <p:nvPr/>
        </p:nvSpPr>
        <p:spPr>
          <a:xfrm>
            <a:off x="10533888" y="164592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33888" y="192024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" y="3108960"/>
            <a:ext cx="11292840" cy="3017520"/>
          </a:xfrm>
          <a:prstGeom prst="roundRect">
            <a:avLst>
              <a:gd name="adj" fmla="val 212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并行关系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" y="36118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同时给出 x_bb_1..4 与 x_c。GradientDecoder 和 MainDecoder 共享这套特征，不是两个独立网络。EnhancementLayers 把 xe 转成 enh，再送进主解码各级。cs 只在训练时从 H/4、H/8、H/16 融合特征算出。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" y="47091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→ Encoder → x_c / x_bb_1..4 → GradientDecoder (g, s, xe) → EnhancementLayers (enh) → MainDecoder (b, r_direct, α) → 双路融合 → 残差精修 → 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50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·  OVERALL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五大组成部分与完整输出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70408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2471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399032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ResNet50 局部纹理，Swin-Tiny 窗口上下文。融合后经 FFC 瓶颈与高频增强，输出 x_bb_1..4 + x_c。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057400"/>
            <a:ext cx="70408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3055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GradientDecoder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404872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Block 得到 xe1..xe4，再分出梯度图 g 与高反光软概率 s。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3063240"/>
            <a:ext cx="70408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EnhancementLayers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410712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 与 g、原图 x、s 进入 4 个谱分解单元，输出 enh1..enh4。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4069080"/>
            <a:ext cx="70408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1422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MainDecoder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4416552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skip + 增强特征 + 三路先验 + SpecularAware。双头输出 b 与 r_direct，并给 alpha_logit。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5074920"/>
            <a:ext cx="70408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514807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融合 + 精修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5422392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r_sub = clamp(x−b)；α = sigmoid(alpha_logit)；r = clamp(α·r_direct + (1−α)·r_sub + 0.15·δ)。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71232" y="1051560"/>
            <a:ext cx="4187952" cy="5029200"/>
          </a:xfrm>
          <a:prstGeom prst="roundRect">
            <a:avLst>
              <a:gd name="adj" fmla="val 1528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返回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最终漫反射，主结果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2212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镜面，构成 r_sub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2779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0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梯度，监督 Sobel(x)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33467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0" y="3346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高光软概率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0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r_direct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直接预测路径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两路融合系数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5047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0" y="5047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仅训练的一致性标量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50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·  DATA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端到端数据流 · YFFC.forward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6903720" cy="5074920"/>
          </a:xfrm>
          <a:prstGeom prst="roundRect">
            <a:avLst>
              <a:gd name="adj" fmla="val 1261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6537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forward(x):  # [B,1,H,W]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bb1,bb2,bb3,bb4,xc = encoder(x)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64 H/2, 128 H/4, 256 H/8,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512 H/16, 256 H/16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xe1..xe4, g, s = gradient_decoder(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(bb1..bb4), xc, 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enh1..enh4 = enhancement(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(xe1..xe4), g, x, 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b, r_direct, a_logit = main_decoder(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(bb1..bb4, xc), enh, g, s, 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r_sub = clamp(x - b, 0, 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alpha = sigmoid(a_logit)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r_fused = alpha*r_direct + (1-alpha)*r_sub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clamp(r_fused + 0.15*delta, 0, 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 = cross_scale(bb2, bb3, bb4)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r, b, g, s, r_direct, alpha, 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52360" y="1051560"/>
            <a:ext cx="42976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1124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07808" y="138074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路 skip + 瓶颈 x_c。x_c 已经过融合、回流、FFC 与高频增强。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52360" y="2057400"/>
            <a:ext cx="42976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07808" y="21305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07808" y="238658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同时产出 g、s 和 xe1..xe4。g 监督输入 Sobel。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3063240"/>
            <a:ext cx="42976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3136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07808" y="339242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增强层用 g/x/s 把门控收在高光相关结构上。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4069080"/>
            <a:ext cx="42976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41422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(5)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07808" y="439826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决定信直接路径还是减法路径，精修系数 0.15。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5074920"/>
            <a:ext cx="4297680" cy="932688"/>
          </a:xfrm>
          <a:prstGeom prst="roundRect">
            <a:avLst>
              <a:gd name="adj" fmla="val 686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07808" y="5148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(6)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07808" y="5404104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 只进损失，约束三档融合响应一致。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/  50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A6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双分支编码器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ResNet50 局部纹理 · Swin-Tiny 窗口上下文 · 跨模态融合 · FFC 瓶颈 · 高频增强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/  50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·  ENCODER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双分支多尺度融合架构图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C45C2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2344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50876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H × 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1B243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228600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560320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stem / L1 / L2 / L3+L4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47472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1F6A6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356616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Swin-Tiny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" y="3840480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swin_4 / 8 / 16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214884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243044"/>
          </a:solidFill>
          <a:ln/>
        </p:spPr>
      </p:sp>
      <p:sp>
        <p:nvSpPr>
          <p:cNvPr id="16" name="Text 14"/>
          <p:cNvSpPr/>
          <p:nvPr/>
        </p:nvSpPr>
        <p:spPr>
          <a:xfrm>
            <a:off x="4005072" y="22402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ASF  H/4 · H/8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05072" y="25146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 + β·gate·swin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315468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243044"/>
          </a:solidFill>
          <a:ln/>
        </p:spPr>
      </p:sp>
      <p:sp>
        <p:nvSpPr>
          <p:cNvPr id="19" name="Text 17"/>
          <p:cNvSpPr/>
          <p:nvPr/>
        </p:nvSpPr>
        <p:spPr>
          <a:xfrm>
            <a:off x="4005072" y="324612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CMF  H/16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05072" y="35204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双向交叉注意力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416052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243044"/>
          </a:solidFill>
          <a:ln/>
        </p:spPr>
      </p:sp>
      <p:sp>
        <p:nvSpPr>
          <p:cNvPr id="22" name="Text 20"/>
          <p:cNvSpPr/>
          <p:nvPr/>
        </p:nvSpPr>
        <p:spPr>
          <a:xfrm>
            <a:off x="4005072" y="425196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Top-down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05072" y="45262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H/16 → H/8 → H/4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228600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C45C26"/>
          </a:solidFill>
          <a:ln/>
        </p:spPr>
      </p:sp>
      <p:sp>
        <p:nvSpPr>
          <p:cNvPr id="25" name="Text 23"/>
          <p:cNvSpPr/>
          <p:nvPr/>
        </p:nvSpPr>
        <p:spPr>
          <a:xfrm>
            <a:off x="7662672" y="237744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FFC_BN_ACT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62672" y="2651760"/>
            <a:ext cx="3968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 0.5 残差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89520" y="356616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C45C26"/>
          </a:solidFill>
          <a:ln/>
        </p:spPr>
      </p:sp>
      <p:sp>
        <p:nvSpPr>
          <p:cNvPr id="28" name="Text 26"/>
          <p:cNvSpPr/>
          <p:nvPr/>
        </p:nvSpPr>
        <p:spPr>
          <a:xfrm>
            <a:off x="7662672" y="365760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HighFrequency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62672" y="3931920"/>
            <a:ext cx="3968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Laplacian + 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48463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1B2433"/>
          </a:solidFill>
          <a:ln/>
        </p:spPr>
      </p:sp>
      <p:sp>
        <p:nvSpPr>
          <p:cNvPr id="31" name="Text 29"/>
          <p:cNvSpPr/>
          <p:nvPr/>
        </p:nvSpPr>
        <p:spPr>
          <a:xfrm>
            <a:off x="7662672" y="49377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62672" y="5212080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· H/16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skip：x_bb_1 64·H/2    x_bb_2 128·H/4    x_bb_3 256·H/8    x_bb_4 512·H/16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/  50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·  ENCODER · OUTPUTS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五路输出与各自用途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33856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99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1399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· H/2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399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 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1399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主解码 L4 · 梯度 Block 4/5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130552"/>
            <a:ext cx="1133856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865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2386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· H/4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2386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layer1 + ASF(swin_4) + TopDown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0" y="23865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主解码 L3 · 梯度 Block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118104"/>
            <a:ext cx="1133856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741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94560" y="3374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· H/8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3374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layer2 + ASF(swin_8) + TopDown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主解码 L2 · 梯度 Block 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105656"/>
            <a:ext cx="1133856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61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194560" y="4361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 · H/16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4361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L3/L4 融合 + CMF + TopDown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95360" y="4361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主解码 L1 · 梯度 Block 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5093208"/>
            <a:ext cx="1133856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349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19456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· H/16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5349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1×1 降维 + FFC 0.5 + 高频增强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0" y="5349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两个解码器的瓶颈入口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/  50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·  ENCODER · RESNET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ResNet50 局部纹理分支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7406640" cy="877824"/>
          </a:xfrm>
          <a:prstGeom prst="roundRect">
            <a:avLst>
              <a:gd name="adj" fmla="val 729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灰度适配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conv1 由 3→64 改为 1→64。权重取 RGB 预训练核的通道均值，灰度也能继承边缘表征。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7406640" cy="877824"/>
          </a:xfrm>
          <a:prstGeom prst="roundRect">
            <a:avLst>
              <a:gd name="adj" fmla="val 729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layer4 空洞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39572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stride 改为 1，用 dilation 保持 H/16，避免高反光语义被过度下采样。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7406640" cy="877824"/>
          </a:xfrm>
          <a:prstGeom prst="roundRect">
            <a:avLst>
              <a:gd name="adj" fmla="val 729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632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通道压缩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35584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layer1/2/3 经 1×1 从 256/512/1024 压到 128/256/512。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931920"/>
            <a:ext cx="7406640" cy="877824"/>
          </a:xfrm>
          <a:prstGeom prst="roundRect">
            <a:avLst>
              <a:gd name="adj" fmla="val 729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2336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末层融合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31596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x_l3_512 与 x_l4_512 拼接后再 1×1，得到 512 通道的 x_bb_4。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1051560"/>
            <a:ext cx="3749040" cy="4937760"/>
          </a:xfrm>
          <a:prstGeom prst="roundRect">
            <a:avLst>
              <a:gd name="adj" fmla="val 1707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五路内部特征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1737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19933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· H/2 → x_bb_1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83880" y="24231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83880" y="26791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256→128 · H/4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3108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83880" y="33649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512→256 · H/8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83880" y="37947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40507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1024→512 · H/16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44805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83880" y="47365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2048→512 · dilated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/  50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·  SWIN + FUSION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Swin-Tiny 与三种融合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11338560" cy="1234440"/>
          </a:xfrm>
          <a:prstGeom prst="roundRect">
            <a:avLst>
              <a:gd name="adj" fmla="val 518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80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PatchEmbed 4×4 stride 4，1→96，权重取 RGB 通道均值。不强制缩到 224；不能被 32 整除时只在右/下 padding。输出 swin_4 [96,H/4]、swin_8 [192,H/8]、swin_16 [384,H/16]。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468880"/>
            <a:ext cx="3675888" cy="1965960"/>
          </a:xfrm>
          <a:prstGeom prst="roundRect">
            <a:avLst>
              <a:gd name="adj" fmla="val 32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6151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AdaptiveSkipFusion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" y="29992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H/4、H/8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33375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 = res + β·gate·swin_proj。轻量门控，ResNet 仍主导。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2468880"/>
            <a:ext cx="3675888" cy="1965960"/>
          </a:xfrm>
          <a:prstGeom prst="roundRect">
            <a:avLst>
              <a:gd name="adj" fmla="val 32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6151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CrossModalFusion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16552" y="29992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H/16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16552" y="33375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Swin 384→512。CNN↔Swin 双向注意力，再门控 + 3×3。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2468880"/>
            <a:ext cx="3675888" cy="1965960"/>
          </a:xfrm>
          <a:prstGeom prst="roundRect">
            <a:avLst>
              <a:gd name="adj" fmla="val 32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7032" y="26151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TopDownRefinement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57032" y="29992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57032" y="33375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H/16 上下文经门控回到 H/8、H/4。γ 控制强度并限幅。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fuse_h4: 128+96 → 128    fuse_h8: 256+192 → 256    CMF: 512+512 → 512    TopDown 更新三档 skip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/  50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·  BOTTLENECK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瓶颈 + HighFrequencyEnhancement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6766560" cy="5074920"/>
          </a:xfrm>
          <a:prstGeom prst="roundRect">
            <a:avLst>
              <a:gd name="adj" fmla="val 1261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640080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cba_after_backbone(x_bb_4)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[B,256,H/16,W/16]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ffc_out = FFC_BN_ACT(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x_c, ratio_gin=0.5, ratio_gout=0.5)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x_c + ffc_out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hf = HighFrequencyEnhancement(x_c)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Laplacian 固定核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可学习高频分支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sigma=1,3,5 高斯残差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 通道注意力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x_c + gamma * hf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= _safe_tensor(x_c)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进入 GradientDecoder Block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与 MainDecoder L1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60920" y="1051560"/>
            <a:ext cx="4389120" cy="2377440"/>
          </a:xfrm>
          <a:prstGeom prst="roundRect">
            <a:avLst>
              <a:gd name="adj" fmla="val 269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2070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瓶颈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43800" y="16002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一半通道走频域。H/16 仍可能盖不住整图，FFT 在这里补全局视野，并以残差保留已有结构。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3611880"/>
            <a:ext cx="4389120" cy="2514600"/>
          </a:xfrm>
          <a:prstGeom prst="roundRect">
            <a:avLst>
              <a:gd name="adj" fmla="val 2545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37673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高频增强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43800" y="416052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高光边界和条纹都是强高频。显式 Laplacian + 可学习分支 + SE，避免被深层卷积抹平。gamma 受控。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/  50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频域卷积核心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FourierUnit · SpectralTransform · FFC_BN_ACT，以及它们在模型中的包含关系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/  50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·  FFC CORE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三层封装，由外到内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88720" y="1280160"/>
            <a:ext cx="9784080" cy="4709160"/>
          </a:xfrm>
          <a:prstGeom prst="roundRect">
            <a:avLst>
              <a:gd name="adj" fmla="val 1165"/>
            </a:avLst>
          </a:prstGeom>
          <a:solidFill>
            <a:srgbClr val="243044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1371600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4447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FFC_BN_ACT   网络实际调用的层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L→L 空间卷积    L→G 空间卷积    G→L SpectralTransform    G→G SpectralTransform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240280"/>
            <a:ext cx="8869680" cy="3383280"/>
          </a:xfrm>
          <a:prstGeom prst="roundRect">
            <a:avLst>
              <a:gd name="adj" fmla="val 1622"/>
            </a:avLst>
          </a:prstGeom>
          <a:solidFill>
            <a:srgbClr val="1B2433"/>
          </a:solidFill>
          <a:ln/>
        </p:spPr>
      </p:sp>
      <p:sp>
        <p:nvSpPr>
          <p:cNvPr id="11" name="Text 9"/>
          <p:cNvSpPr/>
          <p:nvPr/>
        </p:nvSpPr>
        <p:spPr>
          <a:xfrm>
            <a:off x="1719072" y="2331720"/>
            <a:ext cx="8723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SpectralTransform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74520" y="2724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1×1 降维 → 全局 FU → 上下半幅 LFU → 门控融合 → 1×1 升维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3200400"/>
            <a:ext cx="3749040" cy="2011680"/>
          </a:xfrm>
          <a:prstGeom prst="roundRect">
            <a:avLst>
              <a:gd name="adj" fmla="val 2727"/>
            </a:avLst>
          </a:prstGeom>
          <a:solidFill>
            <a:srgbClr val="C45C26"/>
          </a:solidFill>
          <a:ln/>
        </p:spPr>
      </p:sp>
      <p:sp>
        <p:nvSpPr>
          <p:cNvPr id="15" name="Text 13"/>
          <p:cNvSpPr/>
          <p:nvPr/>
        </p:nvSpPr>
        <p:spPr>
          <a:xfrm>
            <a:off x="2176272" y="329184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FourierUnit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76272" y="3566160"/>
            <a:ext cx="3602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Tukey · rFFT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1×1 · SE · iRFFT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3200400"/>
            <a:ext cx="3749040" cy="2011680"/>
          </a:xfrm>
          <a:prstGeom prst="roundRect">
            <a:avLst>
              <a:gd name="adj" fmla="val 2727"/>
            </a:avLst>
          </a:prstGeom>
          <a:solidFill>
            <a:srgbClr val="1F6A62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3291840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LFU ×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3566160"/>
            <a:ext cx="3602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上半幅 / 下半幅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各自独立 FFT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 /  50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·  FOURIER UNIT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最底层频域单元的 7 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816352" cy="2148840"/>
          </a:xfrm>
          <a:prstGeom prst="roundRect">
            <a:avLst>
              <a:gd name="adj" fmla="val 2979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43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可选缩放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默认关闭。需要时先缩小再 FFT。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0128" y="1097280"/>
            <a:ext cx="2816352" cy="2148840"/>
          </a:xfrm>
          <a:prstGeom prst="roundRect">
            <a:avLst>
              <a:gd name="adj" fmla="val 2979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243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Tukey 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6432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二维余弦锥，抑制谱泄漏。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4496" y="1097280"/>
            <a:ext cx="2816352" cy="2148840"/>
          </a:xfrm>
          <a:prstGeom prst="roundRect">
            <a:avLst>
              <a:gd name="adj" fmla="val 2979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243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rFFT 拆分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real/imag 拼到通道，[B,2C,H,W/2+1]。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98864" y="1097280"/>
            <a:ext cx="2816352" cy="2148840"/>
          </a:xfrm>
          <a:prstGeom prst="roundRect">
            <a:avLst>
              <a:gd name="adj" fmla="val 2979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1243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45168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1×1 + BN + GELU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45168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频域逐点混合，等价空间全局加权。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2816352" cy="2148840"/>
          </a:xfrm>
          <a:prstGeom prst="roundRect">
            <a:avLst>
              <a:gd name="adj" fmla="val 2979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5753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" y="39044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 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2064" y="44805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自适应选择要保留或抑制的频段。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10128" y="3429000"/>
            <a:ext cx="2816352" cy="2148840"/>
          </a:xfrm>
          <a:prstGeom prst="roundRect">
            <a:avLst>
              <a:gd name="adj" fmla="val 2979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35753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56432" y="39044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iRFFT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56432" y="44805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[B,C,H,W]。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54496" y="3429000"/>
            <a:ext cx="2816352" cy="2148840"/>
          </a:xfrm>
          <a:prstGeom prst="roundRect">
            <a:avLst>
              <a:gd name="adj" fmla="val 2979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5753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39044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数值保护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0" y="44805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 / Inf 截断。FFT 在 AMP 下会溢出。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 /  50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·  SPECTRAL + FFC_BN_ACT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中层与外层怎么接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5623560" cy="4983480"/>
          </a:xfrm>
          <a:prstGeom prst="roundRect">
            <a:avLst>
              <a:gd name="adj" fmla="val 128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618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SpectralTransform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整图 FU 抓大范围条纹周期和整片高光趋势。LFU 按高度切上下半幅，各自 FFT 后再拼回，补回整图 FFT 丢掉的位置信息。门控 g·FU + (1−g)·LFU，避免固定相加互相冲掉。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3566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1×1 降维 → FU → LFU top/bottom → Gate → 1×1 升维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078992"/>
            <a:ext cx="5532120" cy="4983480"/>
          </a:xfrm>
          <a:prstGeom prst="roundRect">
            <a:avLst>
              <a:gd name="adj" fmla="val 1284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2618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FFC_BN_ACT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73736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ratio_gin 拆 Local / Global，按 ratio_gout 拆输出。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L→L、L→G：空间卷积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G→L、G→G：SpectralTransform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out_xl = L→L + G→L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out_xg = L→G + G→G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下游通常 cat 回完整特征。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 0.5 为一半走频域；0.25 为轻量。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 /  50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·  CONTAINMENT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调用的是 FFC_BN_ACT，不是直接调 FourierUnit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788920" cy="2194560"/>
          </a:xfrm>
          <a:prstGeom prst="roundRect">
            <a:avLst>
              <a:gd name="adj" fmla="val 29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34416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末端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7784" y="19202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 0.5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瓶颈级全局上下文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788920" cy="2194560"/>
          </a:xfrm>
          <a:prstGeom prst="roundRect">
            <a:avLst>
              <a:gd name="adj" fmla="val 29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34416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 Block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83864" y="19202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 0.25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83864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H/16 融合后再做频域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143000"/>
            <a:ext cx="2788920" cy="2194560"/>
          </a:xfrm>
          <a:prstGeom prst="roundRect">
            <a:avLst>
              <a:gd name="adj" fmla="val 29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134416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 Block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9944" y="19202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 0.25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9944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H/8 中层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89720" y="1143000"/>
            <a:ext cx="2788920" cy="2194560"/>
          </a:xfrm>
          <a:prstGeom prst="roundRect">
            <a:avLst>
              <a:gd name="adj" fmla="val 29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6024" y="134416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 Block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36024" y="192024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ratio 0.25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36024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H/4 浅层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520440"/>
            <a:ext cx="2788920" cy="2194560"/>
          </a:xfrm>
          <a:prstGeom prst="roundRect">
            <a:avLst>
              <a:gd name="adj" fmla="val 29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" y="37216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L1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" y="42976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FFC1+FFC2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" y="47548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主解码起点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37560" y="3520440"/>
            <a:ext cx="2788920" cy="2194560"/>
          </a:xfrm>
          <a:prstGeom prst="roundRect">
            <a:avLst>
              <a:gd name="adj" fmla="val 29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37216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L2 / L3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83864" y="42976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FFC_H8 / H4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83864" y="47548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上采样后补频域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3520440"/>
            <a:ext cx="2788920" cy="2194560"/>
          </a:xfrm>
          <a:prstGeom prst="roundRect">
            <a:avLst>
              <a:gd name="adj" fmla="val 29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37216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增强层 ×4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9944" y="42976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高光分支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9944" y="47548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只精炼 specular 支路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89720" y="3520440"/>
            <a:ext cx="2788920" cy="2194560"/>
          </a:xfrm>
          <a:prstGeom prst="roundRect">
            <a:avLst>
              <a:gd name="adj" fmla="val 291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36024" y="372160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36024" y="429768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幅度 + 相位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336024" y="47548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频域一致性约束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 /  50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A6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GradientDecoder 梯度辅助解码器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Block 渐进上采 · 双任务输出 g 与 s · xe1..4 服务增强层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 /  50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·  GRADIENT DECODER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级 Block 与双任务输出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B24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41732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 H/16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xe1 256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78308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0" name="Shape 8"/>
          <p:cNvSpPr/>
          <p:nvPr/>
        </p:nvSpPr>
        <p:spPr>
          <a:xfrm>
            <a:off x="2423160" y="132588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B2433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141732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 H/8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169164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xe2 128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178308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132588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B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4462272" y="141732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 H/4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62272" y="169164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xe3 64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132588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B2433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141732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  H/2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28232" y="169164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xe4 32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178308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2" name="Shape 20"/>
          <p:cNvSpPr/>
          <p:nvPr/>
        </p:nvSpPr>
        <p:spPr>
          <a:xfrm>
            <a:off x="8321040" y="132588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C45C26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141732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B5  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94192" y="169164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共享特征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310896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1F6A62"/>
          </a:solidFill>
          <a:ln/>
        </p:spPr>
      </p:sp>
      <p:sp>
        <p:nvSpPr>
          <p:cNvPr id="26" name="Text 24"/>
          <p:cNvSpPr/>
          <p:nvPr/>
        </p:nvSpPr>
        <p:spPr>
          <a:xfrm>
            <a:off x="2084832" y="320040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梯度头 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84832" y="3474720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 → Sigmoid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 Sobel(input)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10896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C45C26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320040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概率头 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73952" y="3474720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3×3→3×3→5×5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 clamp(x−y)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572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每级拼接编码器 skip。Block 1–3 带 FFC。Block 5 把共享特征与原图拼接后，分出两个头。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 /  50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·  PER-BLOCK I/O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 Block 的输入与输出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97280"/>
            <a:ext cx="1138428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533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H/16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57400" y="1353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x_bb_4 512 + x_c 256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353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 → 7×7/1×1/3×3 → FFC 0.25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0" y="1353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xe1 256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084832"/>
            <a:ext cx="1138428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408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H/8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23408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xe1 + x_bb_3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340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 → FFC → 转置卷积 ×2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0" y="2340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xe2 128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072384"/>
            <a:ext cx="1138428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H/4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57400" y="33284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xe2 + x_bb_2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3284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 → FFC → 转置卷积 ×2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33284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xe3 64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" y="4059936"/>
            <a:ext cx="1138428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315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B4 H/2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57400" y="4315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xe3 + x_bb_1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4315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 + 转置卷积 ×2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0" y="4315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xe4 32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4048" y="5047488"/>
            <a:ext cx="11384280" cy="896112"/>
          </a:xfrm>
          <a:prstGeom prst="roundRect">
            <a:avLst>
              <a:gd name="adj" fmla="val 714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5303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B5 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5740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xe4 + x_bb_1 + 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5303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上采后与原图拼接，分两头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18320" y="5303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g, 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 /  50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·  OUTPUT HEADS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梯度头与高反光概率头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23560" cy="4937760"/>
          </a:xfrm>
          <a:prstGeom prst="roundRect">
            <a:avLst>
              <a:gd name="adj" fmla="val 129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梯度头 → 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x_concat → 3×3 → Sigmoid → [B,1,H,W]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监督：normalized Sobel(input)，不是目标漫反射的梯度。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损失：l_grad、l_grad_edge、l_grad_spec。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下游：增强层 edge_gate；主解码 grad_gate 与 joint_gate；L5 再拼一次全分辨率 g。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532120" cy="4937760"/>
          </a:xfrm>
          <a:prstGeom prst="roundRect">
            <a:avLst>
              <a:gd name="adj" fmla="val 1296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2801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概率头 → 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178308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 → 32 → 3×3 → 16 → 5×5 → 1 → Sigmoid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监督：clamp(input − target, 0, 1)。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损失：l_s_lik（BCE+SSIM）、l_s_cons（与 b 双向一致）。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下游：增强层 specular_gate；主解码 joint_gate 与 spec_lik_gate。b 是强度，s 是位置。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 /  50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EnhancementLayers 增强桥接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xe1..xe4 变成主解码器可用的高光增强特征 enh1..enh4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 /  50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·  ENHANCEMENT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级并列单元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B2433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32588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002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256·H/16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2344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B2433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32588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02152" y="16002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128·H/8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B24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132588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16002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64·H/4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281160" y="12344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B2433"/>
          </a:solidFill>
          <a:ln/>
        </p:spPr>
      </p:sp>
      <p:sp>
        <p:nvSpPr>
          <p:cNvPr id="16" name="Text 14"/>
          <p:cNvSpPr/>
          <p:nvPr/>
        </p:nvSpPr>
        <p:spPr>
          <a:xfrm>
            <a:off x="9354312" y="132588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54312" y="16002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32·H/2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468880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1F6A62"/>
          </a:solidFill>
          <a:ln/>
        </p:spPr>
      </p:sp>
      <p:sp>
        <p:nvSpPr>
          <p:cNvPr id="19" name="Text 17"/>
          <p:cNvSpPr/>
          <p:nvPr/>
        </p:nvSpPr>
        <p:spPr>
          <a:xfrm>
            <a:off x="3182112" y="2560320"/>
            <a:ext cx="5797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共享门控信号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82112" y="2834640"/>
            <a:ext cx="5797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g_map   ·   原图 x   ·   s_map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C45C26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365760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" y="39319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enh1 → L1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356616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C45C26"/>
          </a:solidFill>
          <a:ln/>
        </p:spPr>
      </p:sp>
      <p:sp>
        <p:nvSpPr>
          <p:cNvPr id="25" name="Text 23"/>
          <p:cNvSpPr/>
          <p:nvPr/>
        </p:nvSpPr>
        <p:spPr>
          <a:xfrm>
            <a:off x="3502152" y="365760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2152" y="39319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enh2 → L2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356616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C45C26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365760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28232" y="39319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enh3 → L3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81160" y="356616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C45C26"/>
          </a:solidFill>
          <a:ln/>
        </p:spPr>
      </p:sp>
      <p:sp>
        <p:nvSpPr>
          <p:cNvPr id="31" name="Text 29"/>
          <p:cNvSpPr/>
          <p:nvPr/>
        </p:nvSpPr>
        <p:spPr>
          <a:xfrm>
            <a:off x="9354312" y="365760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54312" y="39319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enh4 → L4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00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_SpectralDecompositionUnit 内部：投影支路 + 高光支路 + FFC + 内门控 + 外门控。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 /  50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·  I/O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输入与输出完整对应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97280"/>
            <a:ext cx="5623560" cy="868680"/>
          </a:xfrm>
          <a:prstGeom prst="roundRect">
            <a:avLst>
              <a:gd name="adj" fmla="val 736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25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· H/16   Block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057400"/>
            <a:ext cx="5623560" cy="868680"/>
          </a:xfrm>
          <a:prstGeom prst="roundRect">
            <a:avLst>
              <a:gd name="adj" fmla="val 736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85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4963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· H/8   Block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3017520"/>
            <a:ext cx="5623560" cy="868680"/>
          </a:xfrm>
          <a:prstGeom prst="roundRect">
            <a:avLst>
              <a:gd name="adj" fmla="val 736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45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· H/4   Block 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3977640"/>
            <a:ext cx="5623560" cy="868680"/>
          </a:xfrm>
          <a:prstGeom prst="roundRect">
            <a:avLst>
              <a:gd name="adj" fmla="val 736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05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xe4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4165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· H/2   Block 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4937760"/>
            <a:ext cx="5623560" cy="868680"/>
          </a:xfrm>
          <a:prstGeom prst="roundRect">
            <a:avLst>
              <a:gd name="adj" fmla="val 736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65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/ x / 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3766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· H · W   三个共享信号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097280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5F0EE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2618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enh1   128 · H/16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1627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L1，与 x_bb_4 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286000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5F0EE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4505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enh2   64 · H/8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28163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L2，与 x_bb_3 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3474720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5F0EE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6393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enh3   32 · H/4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40050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L3，与 x_bb_2 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4663440"/>
            <a:ext cx="5577840" cy="1078992"/>
          </a:xfrm>
          <a:prstGeom prst="roundRect">
            <a:avLst>
              <a:gd name="adj" fmla="val 5932"/>
            </a:avLst>
          </a:prstGeom>
          <a:solidFill>
            <a:srgbClr val="E5F0EE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enh4   16 · H/2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55080" y="51937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L4，与 x_bb_1 拼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 /  50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·  INTERNAL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_SpectralDecompositionUnit 五步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194560" cy="1325880"/>
          </a:xfrm>
          <a:prstGeom prst="roundRect">
            <a:avLst>
              <a:gd name="adj" fmla="val 4138"/>
            </a:avLst>
          </a:prstGeom>
          <a:solidFill>
            <a:srgbClr val="1B2433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344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双分支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projection 7×7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specular 3×3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06624" y="1143000"/>
            <a:ext cx="2194560" cy="1325880"/>
          </a:xfrm>
          <a:prstGeom prst="roundRect">
            <a:avLst>
              <a:gd name="adj" fmla="val 4138"/>
            </a:avLst>
          </a:prstGeom>
          <a:solidFill>
            <a:srgbClr val="1B2433"/>
          </a:solidFill>
          <a:ln/>
        </p:spPr>
      </p:sp>
      <p:sp>
        <p:nvSpPr>
          <p:cNvPr id="10" name="Text 8"/>
          <p:cNvSpPr/>
          <p:nvPr/>
        </p:nvSpPr>
        <p:spPr>
          <a:xfrm>
            <a:off x="2779776" y="12344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FFC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79776" y="150876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高光支路频域残差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= s + ffc + 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47488" y="1143000"/>
            <a:ext cx="2194560" cy="1325880"/>
          </a:xfrm>
          <a:prstGeom prst="roundRect">
            <a:avLst>
              <a:gd name="adj" fmla="val 4138"/>
            </a:avLst>
          </a:prstGeom>
          <a:solidFill>
            <a:srgbClr val="1B2433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2344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内门控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50876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sigmoid(cat(p, spec))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自混合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88352" y="1143000"/>
            <a:ext cx="2194560" cy="1325880"/>
          </a:xfrm>
          <a:prstGeom prst="roundRect">
            <a:avLst>
              <a:gd name="adj" fmla="val 4138"/>
            </a:avLst>
          </a:prstGeom>
          <a:solidFill>
            <a:srgbClr val="1B2433"/>
          </a:solidFill>
          <a:ln/>
        </p:spPr>
      </p:sp>
      <p:sp>
        <p:nvSpPr>
          <p:cNvPr id="16" name="Text 14"/>
          <p:cNvSpPr/>
          <p:nvPr/>
        </p:nvSpPr>
        <p:spPr>
          <a:xfrm>
            <a:off x="7461504" y="12344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外门控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61504" y="150876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edge(g) × spec(g,x,s)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729216" y="1143000"/>
            <a:ext cx="2194560" cy="1325880"/>
          </a:xfrm>
          <a:prstGeom prst="roundRect">
            <a:avLst>
              <a:gd name="adj" fmla="val 4138"/>
            </a:avLst>
          </a:prstGeom>
          <a:solidFill>
            <a:srgbClr val="C45C26"/>
          </a:solidFill>
          <a:ln/>
        </p:spPr>
      </p:sp>
      <p:sp>
        <p:nvSpPr>
          <p:cNvPr id="19" name="Text 17"/>
          <p:cNvSpPr/>
          <p:nvPr/>
        </p:nvSpPr>
        <p:spPr>
          <a:xfrm>
            <a:off x="9802368" y="1234440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注入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02368" y="150876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 + β·out·gate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2743200"/>
            <a:ext cx="11384280" cy="3337560"/>
          </a:xfrm>
          <a:prstGeom prst="roundRect">
            <a:avLst>
              <a:gd name="adj" fmla="val 191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两层门控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" y="329184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edge_gate 只看 g：哪里有结构突变。spec_gate 看 g、x、s：这些突变是不是高光相关。两者相乘，均匀漫反射区接近 0，不被误改。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投影支路是稳定纹理基准。高光支路加 FFC，对频域异常更敏感。β 从小值学起，避免破坏梯度分支已有分布。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 /  50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MainDecoder 主解码器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级渐进上采 · 三路先验 · SpecularAwareAttention · 双头输出 b 与 r_direct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 /  50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MAIN DECODER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级架构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1B2433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3716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 H/16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64592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FFC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不上采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8288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12801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1B2433"/>
          </a:solidFill>
          <a:ln/>
        </p:spPr>
      </p:sp>
      <p:sp>
        <p:nvSpPr>
          <p:cNvPr id="11" name="Text 9"/>
          <p:cNvSpPr/>
          <p:nvPr/>
        </p:nvSpPr>
        <p:spPr>
          <a:xfrm>
            <a:off x="2816352" y="13716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 H/8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16352" y="164592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三路先验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FFC_H8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8288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4920" y="12801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1B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5148072" y="13716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 H/4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8072" y="164592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四路提取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FFC_H4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8288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12801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1B2433"/>
          </a:solidFill>
          <a:ln/>
        </p:spPr>
      </p:sp>
      <p:sp>
        <p:nvSpPr>
          <p:cNvPr id="19" name="Text 17"/>
          <p:cNvSpPr/>
          <p:nvPr/>
        </p:nvSpPr>
        <p:spPr>
          <a:xfrm>
            <a:off x="7479792" y="13716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 H/2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79792" y="164592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不再用 FFC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仍有门控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55480" y="18288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2" name="Shape 20"/>
          <p:cNvSpPr/>
          <p:nvPr/>
        </p:nvSpPr>
        <p:spPr>
          <a:xfrm>
            <a:off x="9738360" y="128016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C45C26"/>
          </a:solidFill>
          <a:ln/>
        </p:spPr>
      </p:sp>
      <p:sp>
        <p:nvSpPr>
          <p:cNvPr id="23" name="Text 21"/>
          <p:cNvSpPr/>
          <p:nvPr/>
        </p:nvSpPr>
        <p:spPr>
          <a:xfrm>
            <a:off x="9811512" y="1371600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 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11512" y="164592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/ r_direct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71800"/>
            <a:ext cx="11338560" cy="3063240"/>
          </a:xfrm>
          <a:prstGeom prst="roundRect">
            <a:avLst>
              <a:gd name="adj" fmla="val 209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每级通用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356616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上采样（L1 除外）→ 仅 L2/L3 做 FFC → 三路先验 x · (1 + a·grad + b·joint(g,x,s) + c·spec) → SpecularAware → Attention_block 门控 skip → 拼接 enh。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先拼全分辨率 g，再分三个头：b 与 r_direct 过 sigmoid，alpha_logit 不过。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 /  50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主解码器需要的全部输入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5669280" cy="1207008"/>
          </a:xfrm>
          <a:prstGeom prst="roundRect">
            <a:avLst>
              <a:gd name="adj" fmla="val 530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252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c_features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x_bb_1..4 与 x_c    编码器 skip 和瓶颈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097280"/>
            <a:ext cx="5669280" cy="1207008"/>
          </a:xfrm>
          <a:prstGeom prst="roundRect">
            <a:avLst>
              <a:gd name="adj" fmla="val 530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2252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enh1..enh4    增强层输出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423160"/>
            <a:ext cx="5669280" cy="1207008"/>
          </a:xfrm>
          <a:prstGeom prst="roundRect">
            <a:avLst>
              <a:gd name="adj" fmla="val 530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511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x_g / x_s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2926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[B,1,H,W]    梯度与高光概率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423160"/>
            <a:ext cx="5669280" cy="1207008"/>
          </a:xfrm>
          <a:prstGeom prst="roundRect">
            <a:avLst>
              <a:gd name="adj" fmla="val 530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5511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original 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2926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[B,1,H,W]    SpecAware 与门控都要用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886200"/>
            <a:ext cx="11338560" cy="2194560"/>
          </a:xfrm>
          <a:prstGeom prst="roundRect">
            <a:avLst>
              <a:gd name="adj" fmla="val 2917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148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起点：x_c → FFC1 + FFC2 + 残差 → MultiscaleConvBlock（576 通道）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L2–L4：转置/resize-conv 上采，门控，SpecAware，Attention_block，拼 enh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L5：拼 g → 压到 16 通道 → b_head / r_direct_head / alpha_logit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 /  50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LEVEL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 · H/16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3794760" cy="5029200"/>
          </a:xfrm>
          <a:prstGeom prst="roundRect">
            <a:avLst>
              <a:gd name="adj" fmla="val 168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x_c  256·H/16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已经过 FFC 与高频增强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x_bb_4  512·H/16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双向融合 + 回流后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enh1  128·H/16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 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 sa1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051560"/>
            <a:ext cx="4160520" cy="5029200"/>
          </a:xfrm>
          <a:prstGeom prst="roundRect">
            <a:avLst>
              <a:gd name="adj" fmla="val 1538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600200"/>
            <a:ext cx="3794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FFC1(x_c)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FFC2(x)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x_c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Multiscale()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576 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same-conv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768 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sa1(x, 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 = att1(x, bb4)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cat(x, gated, enh1)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68512" y="1051560"/>
            <a:ext cx="3108960" cy="5029200"/>
          </a:xfrm>
          <a:prstGeom prst="roundRect">
            <a:avLst>
              <a:gd name="adj" fmla="val 2059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51392" y="16002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[B, 1408, H/16]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768+512+128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不上采样。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51392" y="38404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重型频域。本级不做三路先验，只用 sa1。去向 L2。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 /  50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LEVEL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 · H/8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3794760" cy="5029200"/>
          </a:xfrm>
          <a:prstGeom prst="roundRect">
            <a:avLst>
              <a:gd name="adj" fmla="val 168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 1408·H/16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x_bb_3  256·H/8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enh2  64·H/8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g, s, 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缩到 H/8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051560"/>
            <a:ext cx="4160520" cy="5029200"/>
          </a:xfrm>
          <a:prstGeom prst="roundRect">
            <a:avLst>
              <a:gd name="adj" fmla="val 1538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600200"/>
            <a:ext cx="3794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up(L1) # 384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FFC_H8(x)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* (1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a*grad(g)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b*joint(g,x,s)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c*spec(s))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sa2(x)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 = att2(x, bb3)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cat(x, gated, enh2)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68512" y="1051560"/>
            <a:ext cx="3108960" cy="5029200"/>
          </a:xfrm>
          <a:prstGeom prst="roundRect">
            <a:avLst>
              <a:gd name="adj" fmla="val 2059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51392" y="16002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[B, ~704, H/8]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384+256+64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首次上采。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51392" y="38404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从这里开始三路先验。去向 L3 的多分支提取。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 /  50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LEVEL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3 · H/4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3794760" cy="5029200"/>
          </a:xfrm>
          <a:prstGeom prst="roundRect">
            <a:avLst>
              <a:gd name="adj" fmla="val 168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 ~704·H/8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x_bb_2  128·H/4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已含 ASF 与回流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enh3  32·H/4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g, s, x → H/4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051560"/>
            <a:ext cx="4160520" cy="5029200"/>
          </a:xfrm>
          <a:prstGeom prst="roundRect">
            <a:avLst>
              <a:gd name="adj" fmla="val 1538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600200"/>
            <a:ext cx="3794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FeatB(L2) # 640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up(x)     # 192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FFC_H4(x)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* (1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grad + joint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spec_lik)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sa3(x)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 = att3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cat(..., enh3)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68512" y="1051560"/>
            <a:ext cx="3108960" cy="5029200"/>
          </a:xfrm>
          <a:prstGeom prst="roundRect">
            <a:avLst>
              <a:gd name="adj" fmla="val 2059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51392" y="16002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[B, ~352, H/4]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192+128+32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条纹细节尺度。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51392" y="38404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四路特征提取提供多视野。去向 L4。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 /  50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LEVEL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4 · H/2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3794760" cy="5029200"/>
          </a:xfrm>
          <a:prstGeom prst="roundRect">
            <a:avLst>
              <a:gd name="adj" fmla="val 168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 ~352·H/4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x_bb_1  64·H/2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stem，最贴近原图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enh4  16·H/2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g, s, x → H/2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051560"/>
            <a:ext cx="4160520" cy="5029200"/>
          </a:xfrm>
          <a:prstGeom prst="roundRect">
            <a:avLst>
              <a:gd name="adj" fmla="val 1538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600200"/>
            <a:ext cx="3794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up(L3)  # 96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本级不用 FFC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* (1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grad_gate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joint_gate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spec_gate)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sa4(x)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gated = att4(x, bb1)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cat(x, gated, enh4)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68512" y="1051560"/>
            <a:ext cx="3108960" cy="5029200"/>
          </a:xfrm>
          <a:prstGeom prst="roundRect">
            <a:avLst>
              <a:gd name="adj" fmla="val 2059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51392" y="16002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[B, ~176, H/2]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96+64+16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接近全分辨率。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51392" y="38404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浅层改信局部卷积。门控和 sa4 仍在。去向 L5。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 /  50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LEVEL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5 · 双头输出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3794760" cy="5029200"/>
          </a:xfrm>
          <a:prstGeom prst="roundRect">
            <a:avLst>
              <a:gd name="adj" fmla="val 1687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 ~176·H/2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全分辨率 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48 通道拼成 49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051560"/>
            <a:ext cx="4160520" cy="5029200"/>
          </a:xfrm>
          <a:prstGeom prst="roundRect">
            <a:avLst>
              <a:gd name="adj" fmla="val 1538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600200"/>
            <a:ext cx="3794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up(L4)   # 48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cat(x, g) # 49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reduce    # 32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dilated(x)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conv3     # 16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sigmoid(head)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sigmoid(head)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alpha_head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b, r, 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68512" y="1051560"/>
            <a:ext cx="3108960" cy="5029200"/>
          </a:xfrm>
          <a:prstGeom prst="roundRect">
            <a:avLst>
              <a:gd name="adj" fmla="val 2059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51392" y="16002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∈ [0,1]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r_direct ∈ [0,1]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alpha_logit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 sigmoid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51392" y="38404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α = sigmoid(alpha_logit)，再做双路融合。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 /  50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·  ATTENTION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两类注意力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5669280" cy="4983480"/>
          </a:xfrm>
          <a:prstGeom prst="roundRect">
            <a:avLst>
              <a:gd name="adj" fmla="val 128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618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SpecularAware  sa1–sa4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原图缩到当前尺度。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局部均值 + 局部对比度。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spec_prior = clamp(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0.75·input + 0.25·contrast, 0, 1)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多级软 mask 与特征拼接，卷积出注意力。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= 特征 · (1 + scale · attn)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每一级都知道当前像素亮不亮、对比强不强。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078992"/>
            <a:ext cx="5486400" cy="4983480"/>
          </a:xfrm>
          <a:prstGeom prst="roundRect">
            <a:avLst>
              <a:gd name="adj" fmla="val 1284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2618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Attention_block  att1–att4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3952" y="173736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在拼接 skip 之前。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是当前解码特征，x 是编码器 skip。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= sigmoid(Conv(ReLU(g_proj + x_proj)))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 = skip · psi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 是逐通道的，不是一张单通道图。高光区可以压边缘通道，清晰区再放开结构通道。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 /  50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·  FUSION + REFINEMENT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双路漫反射融合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24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4592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− 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物理减法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F6A62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310896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r_direct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38328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直接预测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24028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C45C26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233172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融合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606040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sigmoid 权重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2402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1B24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23317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Refinement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3952" y="260604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r、x、r_direct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509760" y="22402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C45C26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912" y="233172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82912" y="260604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clamp 后主结果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196596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2" name="Shape 20"/>
          <p:cNvSpPr/>
          <p:nvPr/>
        </p:nvSpPr>
        <p:spPr>
          <a:xfrm>
            <a:off x="2606040" y="342900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5000" y="269748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4" name="Shape 22"/>
          <p:cNvSpPr/>
          <p:nvPr/>
        </p:nvSpPr>
        <p:spPr>
          <a:xfrm>
            <a:off x="8915400" y="2697480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34840"/>
            <a:ext cx="11247120" cy="1645920"/>
          </a:xfrm>
          <a:prstGeom prst="roundRect">
            <a:avLst>
              <a:gd name="adj" fmla="val 3889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7091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r_sub = clamp(x − b, 0, 1)    α = sigmoid(alpha_logit)    r_fused = α·r_direct + (1−α)·r_sub    r = clamp(r_fused + 0.15·δ, 0, 1)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 /  50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·  FUSION + REFINEMENT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公式与为什么要两路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6675120" cy="5029200"/>
          </a:xfrm>
          <a:prstGeom prst="roundRect">
            <a:avLst>
              <a:gd name="adj" fmla="val 1273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r_sub = clamp(x - b, 0, 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亮区 b 可靠时最好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暗区 b 偏大会被钳到 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r_direct = decoder.direct_head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不依赖 b，兜暗部和复杂边界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= sigmoid(alpha_logit)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r_fused = alpha*r_direct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(1-alpha)*r_sub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= head(r_fused, x, r_direct)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Tanh, delta in [-1, 1]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clamp(r_fused + 0.15*delta, 0,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1051560"/>
            <a:ext cx="4526280" cy="2377440"/>
          </a:xfrm>
          <a:prstGeom prst="roundRect">
            <a:avLst>
              <a:gd name="adj" fmla="val 269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207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为什么两路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0" y="16002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减法有物理含义，但 b 的误差一比一传到 r。直接路径不看 b，α 不必二选一。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3611880"/>
            <a:ext cx="4526280" cy="2468880"/>
          </a:xfrm>
          <a:prstGeom prst="roundRect">
            <a:avLst>
              <a:gd name="adj" fmla="val 2593"/>
            </a:avLst>
          </a:prstGeom>
          <a:solidFill>
            <a:srgbClr val="F8EBE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±0.15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41605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精修只修亮暗边界。系数把实际改动限制在 ±0.15，不推翻融合结果。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 /  50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 EnhancedCompositeLoss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漫反射 + 镜面 + 梯度 + 高光概率 + 双路 + 跨尺度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  /  50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·  LOSS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六类输出，六组损失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1874520"/>
          </a:xfrm>
          <a:prstGeom prst="roundRect">
            <a:avLst>
              <a:gd name="adj" fmla="val 341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 / 像素 / 频域 / 感知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3657600" cy="1874520"/>
          </a:xfrm>
          <a:prstGeom prst="roundRect">
            <a:avLst>
              <a:gd name="adj" fmla="val 341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98848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镜面主监督 + 区域损失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657600" cy="1874520"/>
          </a:xfrm>
          <a:prstGeom prst="roundRect">
            <a:avLst>
              <a:gd name="adj" fmla="val 341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9328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Sobel 结构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657600" cy="1874520"/>
          </a:xfrm>
          <a:prstGeom prst="roundRect">
            <a:avLst>
              <a:gd name="adj" fmla="val 341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" y="4389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概率与 b 的一致性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3429000"/>
            <a:ext cx="3657600" cy="1874520"/>
          </a:xfrm>
          <a:prstGeom prst="roundRect">
            <a:avLst>
              <a:gd name="adj" fmla="val 341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r_direct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98848" y="4389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高光区与双路一致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3429000"/>
            <a:ext cx="3657600" cy="1874520"/>
          </a:xfrm>
          <a:prstGeom prst="roundRect">
            <a:avLst>
              <a:gd name="adj" fmla="val 3415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39328" y="4389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三档响应图 L1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 /  50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·  LOSS · DETAILS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子损失分解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767328" cy="2395728"/>
          </a:xfrm>
          <a:prstGeom prst="roundRect">
            <a:avLst>
              <a:gd name="adj" fmla="val 267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漫反射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" y="1536192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ssim_mixed：0.8 MS-SSIM + 0.2 SSIM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l_l1：边缘加权 Charbonnier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l_freq：幅度谱 + 相位一致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l_perceptual：VGG，无权重则关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078992"/>
            <a:ext cx="3767328" cy="2395728"/>
          </a:xfrm>
          <a:prstGeom prst="roundRect">
            <a:avLst>
              <a:gd name="adj" fmla="val 267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镜面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25696" y="1536192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l_spec：Charbonnier + SSIM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focal / OHEM、Dice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l_gc：梯度一致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l_spec_peak：强高光欠预测惩罚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078992"/>
            <a:ext cx="3767328" cy="2395728"/>
          </a:xfrm>
          <a:prstGeom prst="roundRect">
            <a:avLst>
              <a:gd name="adj" fmla="val 267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梯度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39328" y="1536192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l_grad：与 Sobel(input) 的 SSIM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l_grad_edge：边缘加权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l_grad_spec：g 与 b 的边界关系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39312"/>
            <a:ext cx="3767328" cy="2395728"/>
          </a:xfrm>
          <a:prstGeom prst="roundRect">
            <a:avLst>
              <a:gd name="adj" fmla="val 267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概率头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" y="4096512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l_s_lik：BCE + SSIM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l_s_cons：s 与 b 双向一致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79392" y="3639312"/>
            <a:ext cx="3767328" cy="2395728"/>
          </a:xfrm>
          <a:prstGeom prst="roundRect">
            <a:avLst>
              <a:gd name="adj" fmla="val 267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25696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双路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25696" y="4096512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l_r_focal_hl：高光区约束 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l_r_dual_cons：r_direct 与 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l_r_smooth：高光区平滑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93024" y="3639312"/>
            <a:ext cx="3767328" cy="2395728"/>
          </a:xfrm>
          <a:prstGeom prst="roundRect">
            <a:avLst>
              <a:gd name="adj" fmla="val 2672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跨尺度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39328" y="4096512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l_cs：H/4、H/8、H/16 响应 L1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权重由调度器按 epoch 比例更新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 /  50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A6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训练与推理流程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ImprovedFringeDataset · 训练循环 · 滑窗推理 · 4 翻转 TTA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  /  50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·  TRAIN &amp; INFER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两条完整数据流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B243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5087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92808" y="1719072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0" name="Shape 8"/>
          <p:cNvSpPr/>
          <p:nvPr/>
        </p:nvSpPr>
        <p:spPr>
          <a:xfrm>
            <a:off x="2075688" y="14173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B2433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15087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57016" y="1719072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3" name="Shape 11"/>
          <p:cNvSpPr/>
          <p:nvPr/>
        </p:nvSpPr>
        <p:spPr>
          <a:xfrm>
            <a:off x="3739896" y="14173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B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813048" y="15087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21224" y="1719072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6" name="Shape 14"/>
          <p:cNvSpPr/>
          <p:nvPr/>
        </p:nvSpPr>
        <p:spPr>
          <a:xfrm>
            <a:off x="5404104" y="14173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B2433"/>
          </a:solidFill>
          <a:ln/>
        </p:spPr>
      </p:sp>
      <p:sp>
        <p:nvSpPr>
          <p:cNvPr id="17" name="Text 15"/>
          <p:cNvSpPr/>
          <p:nvPr/>
        </p:nvSpPr>
        <p:spPr>
          <a:xfrm>
            <a:off x="5477256" y="15087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85432" y="1719072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19" name="Shape 17"/>
          <p:cNvSpPr/>
          <p:nvPr/>
        </p:nvSpPr>
        <p:spPr>
          <a:xfrm>
            <a:off x="7068312" y="14173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B2433"/>
          </a:solidFill>
          <a:ln/>
        </p:spPr>
      </p:sp>
      <p:sp>
        <p:nvSpPr>
          <p:cNvPr id="20" name="Text 18"/>
          <p:cNvSpPr/>
          <p:nvPr/>
        </p:nvSpPr>
        <p:spPr>
          <a:xfrm>
            <a:off x="7141464" y="15087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裁剪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49640" y="1719072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2" name="Shape 20"/>
          <p:cNvSpPr/>
          <p:nvPr/>
        </p:nvSpPr>
        <p:spPr>
          <a:xfrm>
            <a:off x="8732520" y="14173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B2433"/>
          </a:solidFill>
          <a:ln/>
        </p:spPr>
      </p:sp>
      <p:sp>
        <p:nvSpPr>
          <p:cNvPr id="23" name="Text 21"/>
          <p:cNvSpPr/>
          <p:nvPr/>
        </p:nvSpPr>
        <p:spPr>
          <a:xfrm>
            <a:off x="8805672" y="15087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13848" y="1719072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96728" y="141732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B2433"/>
          </a:solidFill>
          <a:ln/>
        </p:spPr>
      </p:sp>
      <p:sp>
        <p:nvSpPr>
          <p:cNvPr id="26" name="Text 24"/>
          <p:cNvSpPr/>
          <p:nvPr/>
        </p:nvSpPr>
        <p:spPr>
          <a:xfrm>
            <a:off x="10469880" y="15087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1480" y="292608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F6A62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" y="30175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 EMA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92808" y="3218688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31" name="Shape 29"/>
          <p:cNvSpPr/>
          <p:nvPr/>
        </p:nvSpPr>
        <p:spPr>
          <a:xfrm>
            <a:off x="2075688" y="292608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F6A62"/>
          </a:solidFill>
          <a:ln/>
        </p:spPr>
      </p:sp>
      <p:sp>
        <p:nvSpPr>
          <p:cNvPr id="32" name="Text 30"/>
          <p:cNvSpPr/>
          <p:nvPr/>
        </p:nvSpPr>
        <p:spPr>
          <a:xfrm>
            <a:off x="2148840" y="30175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灰度张量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57016" y="3218688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34" name="Shape 32"/>
          <p:cNvSpPr/>
          <p:nvPr/>
        </p:nvSpPr>
        <p:spPr>
          <a:xfrm>
            <a:off x="3739896" y="292608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F6A62"/>
          </a:solidFill>
          <a:ln/>
        </p:spPr>
      </p:sp>
      <p:sp>
        <p:nvSpPr>
          <p:cNvPr id="35" name="Text 33"/>
          <p:cNvSpPr/>
          <p:nvPr/>
        </p:nvSpPr>
        <p:spPr>
          <a:xfrm>
            <a:off x="3813048" y="30175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221224" y="3218688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37" name="Shape 35"/>
          <p:cNvSpPr/>
          <p:nvPr/>
        </p:nvSpPr>
        <p:spPr>
          <a:xfrm>
            <a:off x="5404104" y="292608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F6A62"/>
          </a:solidFill>
          <a:ln/>
        </p:spPr>
      </p:sp>
      <p:sp>
        <p:nvSpPr>
          <p:cNvPr id="38" name="Text 36"/>
          <p:cNvSpPr/>
          <p:nvPr/>
        </p:nvSpPr>
        <p:spPr>
          <a:xfrm>
            <a:off x="5477256" y="30175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Tukey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85432" y="3218688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40" name="Shape 38"/>
          <p:cNvSpPr/>
          <p:nvPr/>
        </p:nvSpPr>
        <p:spPr>
          <a:xfrm>
            <a:off x="7068312" y="292608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F6A62"/>
          </a:solidFill>
          <a:ln/>
        </p:spPr>
      </p:sp>
      <p:sp>
        <p:nvSpPr>
          <p:cNvPr id="41" name="Text 39"/>
          <p:cNvSpPr/>
          <p:nvPr/>
        </p:nvSpPr>
        <p:spPr>
          <a:xfrm>
            <a:off x="7141464" y="30175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 TTA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49640" y="3218688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43" name="Shape 41"/>
          <p:cNvSpPr/>
          <p:nvPr/>
        </p:nvSpPr>
        <p:spPr>
          <a:xfrm>
            <a:off x="8732520" y="292608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F6A62"/>
          </a:solidFill>
          <a:ln/>
        </p:spPr>
      </p:sp>
      <p:sp>
        <p:nvSpPr>
          <p:cNvPr id="44" name="Text 42"/>
          <p:cNvSpPr/>
          <p:nvPr/>
        </p:nvSpPr>
        <p:spPr>
          <a:xfrm>
            <a:off x="8805672" y="30175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重算 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13848" y="3218688"/>
            <a:ext cx="256032" cy="164592"/>
          </a:xfrm>
          <a:prstGeom prst="rightArrow">
            <a:avLst/>
          </a:prstGeom>
          <a:solidFill>
            <a:srgbClr val="C45C26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96728" y="2926080"/>
            <a:ext cx="1481328" cy="777240"/>
          </a:xfrm>
          <a:prstGeom prst="roundRect">
            <a:avLst>
              <a:gd name="adj" fmla="val 7059"/>
            </a:avLst>
          </a:prstGeom>
          <a:solidFill>
            <a:srgbClr val="1F6A62"/>
          </a:solidFill>
          <a:ln/>
        </p:spPr>
      </p:sp>
      <p:sp>
        <p:nvSpPr>
          <p:cNvPr id="47" name="Text 45"/>
          <p:cNvSpPr/>
          <p:nvPr/>
        </p:nvSpPr>
        <p:spPr>
          <a:xfrm>
            <a:off x="10469880" y="30175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11480" y="4023360"/>
            <a:ext cx="11338560" cy="2057400"/>
          </a:xfrm>
          <a:prstGeom prst="roundRect">
            <a:avLst>
              <a:gd name="adj" fmla="val 3111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297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监督在增强之后计算：gt_specular = clamp(input − target)，gt_gradient = Sobel(input)。推理不缩放原图；尺寸不等于训练 patch 时才滑窗。TTA 先平均 b 与 r_direct，再按同一融合公式重算 r。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51" name="Text 49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 /  50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·  TRAINING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数据、增强与单 batch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5669280" cy="5029200"/>
          </a:xfrm>
          <a:prstGeom prst="roundRect">
            <a:avLst>
              <a:gd name="adj" fmla="val 1273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070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配对与增强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匹配：同名、input_→target_、input→target、数字匹配。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翻转、180°、裁剪再缩放、亮度同步作用于 input / target / gt_spec。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合成高光 p=0.5，1–6 个高斯 blob，半径 3 到短边/20，强度 0.2–0.7，同步加到 gt_specular。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5532120" cy="5029200"/>
          </a:xfrm>
          <a:prstGeom prst="roundRect">
            <a:avLst>
              <a:gd name="adj" fmla="val 1273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2070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train_one_epoch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model(inp)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criterion(r, b, g, 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r_direct, cs, targets)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跳过 NaN / Inf batch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/ accum 反传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 1.0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+ scheduler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ema.update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综合分 0.7·SSIM + 0.3/(1+Loss)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存 best / best_ssim / best_loss / last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  /  50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·  INFERENCE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加载、滑窗、TTA、保存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38560" cy="1152144"/>
          </a:xfrm>
          <a:prstGeom prst="roundRect">
            <a:avLst>
              <a:gd name="adj" fmla="val 5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2529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128016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 EMA。识别 GroupNorm 再替换。checkpoint 记录的 image_size 优先于脚本配置。形状不合则筛选兼容张量，strict=False。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340864"/>
            <a:ext cx="11338560" cy="1152144"/>
          </a:xfrm>
          <a:prstGeom prst="roundRect">
            <a:avLst>
              <a:gd name="adj" fmla="val 5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48716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94560" y="2542032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只在右和下 padding。按 overlap 算 stride。r/b/g/s/r_direct 用 Tukey 窗加权，再除以权重和，裁回原尺寸。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602736"/>
            <a:ext cx="11338560" cy="1152144"/>
          </a:xfrm>
          <a:prstGeom prst="roundRect">
            <a:avLst>
              <a:gd name="adj" fmla="val 5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94560" y="3803904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原图、水平、垂直、双向。平均 b、r_direct、g、s 后，用同一双路公式和精修头重算 r。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4864608"/>
            <a:ext cx="11338560" cy="1152144"/>
          </a:xfrm>
          <a:prstGeom prst="roundRect">
            <a:avLst>
              <a:gd name="adj" fmla="val 5556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501091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94560" y="5065776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diffuse 是主结果。specular、gradient、spec_likelihood、visualization，以及可选 16-bit。批量时另复制到 all_diffuse。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  /  50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·  OPTIMIZER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分层学习率与默认配置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675888" cy="1115568"/>
          </a:xfrm>
          <a:prstGeom prst="roundRect">
            <a:avLst>
              <a:gd name="adj" fmla="val 573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435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预训练编码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9748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×0.1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51960" y="1078992"/>
            <a:ext cx="3675888" cy="1115568"/>
          </a:xfrm>
          <a:prstGeom prst="roundRect">
            <a:avLst>
              <a:gd name="adj" fmla="val 573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12435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skip 融合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×1.0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2440" y="1078992"/>
            <a:ext cx="3675888" cy="1115568"/>
          </a:xfrm>
          <a:prstGeom prst="roundRect">
            <a:avLst>
              <a:gd name="adj" fmla="val 573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2435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其余融合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7844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×0.5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1480" y="2313432"/>
            <a:ext cx="3675888" cy="1115568"/>
          </a:xfrm>
          <a:prstGeom prst="roundRect">
            <a:avLst>
              <a:gd name="adj" fmla="val 573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4780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两个解码器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9748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×1.0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51960" y="2313432"/>
            <a:ext cx="3675888" cy="1115568"/>
          </a:xfrm>
          <a:prstGeom prst="roundRect">
            <a:avLst>
              <a:gd name="adj" fmla="val 573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24780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名称含 ffc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×0.5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92440" y="2313432"/>
            <a:ext cx="3675888" cy="1115568"/>
          </a:xfrm>
          <a:prstGeom prst="roundRect">
            <a:avLst>
              <a:gd name="adj" fmla="val 5738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7032" y="24780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 / 精修 / 高频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784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×1.0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AdamW，weight decay 1e-4。默认 300 epoch，batch 3，lr 2e-4，累积 3，裁剪 1.0，图像 128×160，GN 开，EMA 0.9995，AMP 关，高光增强 p=0.5，每 20 epoch 存档。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 /  50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总结与模块包含关系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关键设计回顾 · 模块树 · 输出含义与文件命名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  /  50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·  KEY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六大支柱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675888" cy="2286000"/>
          </a:xfrm>
          <a:prstGeom prst="roundRect">
            <a:avLst>
              <a:gd name="adj" fmla="val 280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双分支编码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 局部 + Swin 窗口。H/4、H/8 轻量注入，H/16 双向注意力，再把语义回流浅层。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115568"/>
            <a:ext cx="3675888" cy="2286000"/>
          </a:xfrm>
          <a:prstGeom prst="roundRect">
            <a:avLst>
              <a:gd name="adj" fmla="val 280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316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FFC 全链路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184708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三层封装。瓶颈、两个解码器、增强层都出现，不是只用一次 FFT。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115568"/>
            <a:ext cx="3675888" cy="2286000"/>
          </a:xfrm>
          <a:prstGeom prst="roundRect">
            <a:avLst>
              <a:gd name="adj" fmla="val 280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316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双路漫反射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184708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减法保物理含义，直接预测兜暗部，α 自适应，不硬选一路。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584448"/>
            <a:ext cx="3675888" cy="2286000"/>
          </a:xfrm>
          <a:prstGeom prst="roundRect">
            <a:avLst>
              <a:gd name="adj" fmla="val 280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85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多任务监督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431596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r、b、g、s、r_direct、cs 一起学。权重按训练进度调度。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51960" y="3584448"/>
            <a:ext cx="3675888" cy="2286000"/>
          </a:xfrm>
          <a:prstGeom prst="roundRect">
            <a:avLst>
              <a:gd name="adj" fmla="val 280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785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高光注意力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34840" y="431596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sa1–sa4 用亮度加局部对比度做软 mask，残差调制，不切断主梯度。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3584448"/>
            <a:ext cx="3675888" cy="2286000"/>
          </a:xfrm>
          <a:prstGeom prst="roundRect">
            <a:avLst>
              <a:gd name="adj" fmla="val 2800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3785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受限精修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431596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三输入，Tanh 的 δ 再乘 0.15，只做小幅边界修正。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 /  50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·  CONTAINMENT TREE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模块包含关系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024128"/>
            <a:ext cx="11384280" cy="5120640"/>
          </a:xfrm>
          <a:prstGeom prst="roundRect">
            <a:avLst>
              <a:gd name="adj" fmla="val 1250"/>
            </a:avLst>
          </a:prstGeom>
          <a:solidFill>
            <a:srgbClr val="1B2433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3444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YFFC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Encoder: ResNet50 · Swin-Tiny · ASF×2 · CrossModalFusion · TopDown · FFC 0.5 · </a:t>
            </a:r>
            <a:r>
              <a:rPr lang="en-US" sz="1400" dirty="0" err="1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高频增强</a:t>
            </a:r>
            <a:endParaRPr lang="en-US" sz="1400" dirty="0">
              <a:solidFill>
                <a:srgbClr val="F3EEE6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GradientDecoder: Block1–3 含 FFC 0.25 · Block4/5 上采 · 梯度头 g · </a:t>
            </a:r>
            <a:r>
              <a:rPr lang="en-US" sz="1400" dirty="0" err="1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概率头</a:t>
            </a:r>
            <a:r>
              <a:rPr lang="en-US" sz="14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EnhancementLayers: 4 × (投影 7×7 + 高光 3×3 + FFC + edge×spec + β)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MainDecoder: L1 双 FFC · L2 FFC_H8 · L3 FFC_H4 · L4 无 FFC · L5 双头 + alpha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ResidualRefinementHead: cat(r_fused, x, r_direct) → Tanh δ → r + 0.15δ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 /  50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29184"/>
            <a:ext cx="146304" cy="128016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C45C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·  OUTPUTS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输出含义与文件命名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38560" cy="713232"/>
          </a:xfrm>
          <a:prstGeom prst="roundRect">
            <a:avLst>
              <a:gd name="adj" fmla="val 897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43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*_diffuse.png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2435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r，主结果，给相位解算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883664"/>
            <a:ext cx="11338560" cy="713232"/>
          </a:xfrm>
          <a:prstGeom prst="roundRect">
            <a:avLst>
              <a:gd name="adj" fmla="val 897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48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*_specular.png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04825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b，被去掉的高亮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688336"/>
            <a:ext cx="11338560" cy="713232"/>
          </a:xfrm>
          <a:prstGeom prst="roundRect">
            <a:avLst>
              <a:gd name="adj" fmla="val 897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52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*_gradient.png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85292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g，结构突变预测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493008"/>
            <a:ext cx="11338560" cy="713232"/>
          </a:xfrm>
          <a:prstGeom prst="roundRect">
            <a:avLst>
              <a:gd name="adj" fmla="val 897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*_spec_likelihood.png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657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s，高光软定位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4297680"/>
            <a:ext cx="11338560" cy="713232"/>
          </a:xfrm>
          <a:prstGeom prst="roundRect">
            <a:avLst>
              <a:gd name="adj" fmla="val 897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462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*_visualization.png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446227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输入与中间结果对照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5102352"/>
            <a:ext cx="11338560" cy="713232"/>
          </a:xfrm>
          <a:prstGeom prst="roundRect">
            <a:avLst>
              <a:gd name="adj" fmla="val 8974"/>
            </a:avLst>
          </a:prstGeom>
          <a:solidFill>
            <a:srgbClr val="FFFCF8"/>
          </a:solidFill>
          <a:ln w="12700">
            <a:solidFill>
              <a:srgbClr val="E4D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5266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*_diffuse_16bit.png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526694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 16-bit 漫反射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E4DDD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7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  /  50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5C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6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双编码 + 双解码 + 双路融合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多任务监督 + 频域全局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D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ResNet50 与 Swin-Tiny 提供局部和窗口上下文，FFC 贯穿编码、解码和增强，梯度头与概率头告诉主解码器在哪里修，减法与直接预测一起保住暗部。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24304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426110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保留条纹连续性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4617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结构光下游可用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41148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243044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426110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去除局部饱和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62272" y="4617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高光可解释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41148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243044"/>
          </a:solidFill>
          <a:ln/>
        </p:spPr>
      </p:sp>
      <p:sp>
        <p:nvSpPr>
          <p:cNvPr id="14" name="Text 12"/>
          <p:cNvSpPr/>
          <p:nvPr/>
        </p:nvSpPr>
        <p:spPr>
          <a:xfrm>
            <a:off x="8119872" y="426110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84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完整多任务输出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19872" y="4617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/ b / g / 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6510528"/>
            <a:ext cx="11365992" cy="9144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6547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X-FFC V3.2  ·  模型结构与模块说明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65471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0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 /  50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5094</Words>
  <Application>Microsoft Office PowerPoint</Application>
  <PresentationFormat>宽屏</PresentationFormat>
  <Paragraphs>1013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4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X-FFC V3.2 / YFFC 模型结构与模块详细技术说明</dc:title>
  <dc:subject>按讲述版配色重排的 V3.2 详细技术说明</dc:subject>
  <dc:creator>X-FFC</dc:creator>
  <cp:lastModifiedBy>顺康 肖</cp:lastModifiedBy>
  <cp:revision>2</cp:revision>
  <dcterms:created xsi:type="dcterms:W3CDTF">2026-10-03T08:10:56Z</dcterms:created>
  <dcterms:modified xsi:type="dcterms:W3CDTF">2026-10-03T08:38:26Z</dcterms:modified>
</cp:coreProperties>
</file>
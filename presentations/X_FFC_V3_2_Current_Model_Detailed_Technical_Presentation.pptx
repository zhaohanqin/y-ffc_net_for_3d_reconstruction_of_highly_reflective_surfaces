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57200"/>
            <a:ext cx="1737360" cy="17373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5212080"/>
            <a:ext cx="1371600" cy="1371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48640" y="5303520"/>
            <a:ext cx="1463040" cy="14630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594360"/>
            <a:ext cx="5212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38BDF8"/>
                </a:solidFill>
                <a:latin typeface="Microsoft YaHei"/>
              </a:rPr>
              <a:t>DEEP LEARNING · HIGHLIGHT REMOVAL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7589520" cy="1508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8FAFC"/>
                </a:solidFill>
                <a:latin typeface="Microsoft YaHei"/>
              </a:rPr>
              <a:t>X-FFC V3.2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8FAFC"/>
                </a:solidFill>
                <a:latin typeface="Microsoft YaHei"/>
              </a:rPr>
              <a:t>当前模型结构完整讲解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770632"/>
            <a:ext cx="8503920" cy="6949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CBD5E1"/>
                </a:solidFill>
                <a:latin typeface="Microsoft YaHei"/>
              </a:rPr>
              <a:t>X-shaped Fast Fourier Convolutional Network</a:t>
            </a:r>
          </a:p>
          <a:p>
            <a:pPr algn="l">
              <a:lnSpc>
                <a:spcPct val="108000"/>
              </a:lnSpc>
            </a:pPr>
            <a:r>
              <a:rPr sz="1500" b="0">
                <a:solidFill>
                  <a:srgbClr val="CBD5E1"/>
                </a:solidFill>
                <a:latin typeface="Microsoft YaHei"/>
              </a:rPr>
              <a:t>面向灰度结构光/条纹图像的高反光去除、镜面分量分离与漫反射恢复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977639"/>
            <a:ext cx="2053742" cy="1024128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3977639"/>
            <a:ext cx="54864" cy="10241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4087368"/>
            <a:ext cx="182514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F8FAFC"/>
                </a:solidFill>
                <a:latin typeface="Microsoft YaHei"/>
              </a:rPr>
              <a:t>输入条纹图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4480559"/>
            <a:ext cx="1825142" cy="4297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CBD5E1"/>
                </a:solidFill>
                <a:latin typeface="Microsoft YaHei"/>
              </a:rPr>
              <a:t>x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12110" y="4489704"/>
            <a:ext cx="164592" cy="0"/>
          </a:xfrm>
          <a:prstGeom prst="line">
            <a:avLst/>
          </a:prstGeom>
          <a:ln w="152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76702" y="3977639"/>
            <a:ext cx="2053742" cy="1024128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76702" y="3977639"/>
            <a:ext cx="54864" cy="10241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3862" y="4087368"/>
            <a:ext cx="182514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F8FAFC"/>
                </a:solidFill>
                <a:latin typeface="Microsoft YaHei"/>
              </a:rPr>
              <a:t>双编码器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3862" y="4480559"/>
            <a:ext cx="1825142" cy="4297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CBD5E1"/>
                </a:solidFill>
                <a:latin typeface="Microsoft YaHei"/>
              </a:rPr>
              <a:t>ResNet + Swin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30444" y="4489704"/>
            <a:ext cx="164592" cy="0"/>
          </a:xfrm>
          <a:prstGeom prst="line">
            <a:avLst/>
          </a:prstGeom>
          <a:ln w="1524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95036" y="3977639"/>
            <a:ext cx="2053742" cy="1024128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95036" y="3977639"/>
            <a:ext cx="54864" cy="10241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32196" y="4087368"/>
            <a:ext cx="182514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F8FAFC"/>
                </a:solidFill>
                <a:latin typeface="Microsoft YaHei"/>
              </a:rPr>
              <a:t>梯度/高光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2196" y="4480559"/>
            <a:ext cx="1825142" cy="4297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CBD5E1"/>
                </a:solidFill>
                <a:latin typeface="Microsoft YaHei"/>
              </a:rPr>
              <a:t>g 与 s 先验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48779" y="4489704"/>
            <a:ext cx="164592" cy="0"/>
          </a:xfrm>
          <a:prstGeom prst="line">
            <a:avLst/>
          </a:prstGeom>
          <a:ln w="1524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13371" y="3977639"/>
            <a:ext cx="2053742" cy="1024128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3371" y="3977639"/>
            <a:ext cx="54864" cy="10241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0531" y="4087368"/>
            <a:ext cx="182514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F8FAFC"/>
                </a:solidFill>
                <a:latin typeface="Microsoft YaHei"/>
              </a:rPr>
              <a:t>双头解码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0531" y="4480559"/>
            <a:ext cx="1825142" cy="4297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CBD5E1"/>
                </a:solidFill>
                <a:latin typeface="Microsoft YaHei"/>
              </a:rPr>
              <a:t>b 与 r_direct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67113" y="4489704"/>
            <a:ext cx="164592" cy="0"/>
          </a:xfrm>
          <a:prstGeom prst="line">
            <a:avLst/>
          </a:prstGeom>
          <a:ln w="152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531705" y="3977639"/>
            <a:ext cx="2053742" cy="1024128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31705" y="3977639"/>
            <a:ext cx="54864" cy="10241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68865" y="4087368"/>
            <a:ext cx="182514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F8FAFC"/>
                </a:solidFill>
                <a:latin typeface="Microsoft YaHei"/>
              </a:rPr>
              <a:t>残差精修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68865" y="4480559"/>
            <a:ext cx="1825142" cy="4297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CBD5E1"/>
                </a:solidFill>
                <a:latin typeface="Microsoft YaHei"/>
              </a:rPr>
              <a:t>最终 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6080760"/>
            <a:ext cx="9601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基于当前 Y_FFC_unified.py · train.py · process_images.py · 当前模型说明文档重新制作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讲解大纲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2081174" cy="10058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508760"/>
            <a:ext cx="54864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18488"/>
            <a:ext cx="185257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180" b="1">
                <a:solidFill>
                  <a:srgbClr val="F8FAFC"/>
                </a:solidFill>
                <a:latin typeface="Microsoft YaHei"/>
              </a:rPr>
              <a:t>任务与效果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1852574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CBD5E1"/>
                </a:solidFill>
                <a:latin typeface="Microsoft YaHei"/>
              </a:rPr>
              <a:t>输入/输出、要实现的图像分解效果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5534" y="2011680"/>
            <a:ext cx="164592" cy="0"/>
          </a:xfrm>
          <a:prstGeom prst="line">
            <a:avLst/>
          </a:prstGeom>
          <a:ln w="152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40126" y="1508760"/>
            <a:ext cx="2081174" cy="10058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40126" y="1508760"/>
            <a:ext cx="54864" cy="10058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7286" y="1618488"/>
            <a:ext cx="185257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180" b="1">
                <a:solidFill>
                  <a:srgbClr val="F8FAFC"/>
                </a:solidFill>
                <a:latin typeface="Microsoft YaHei"/>
              </a:rPr>
              <a:t>总体架构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7286" y="2011680"/>
            <a:ext cx="1852574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CBD5E1"/>
                </a:solidFill>
                <a:latin typeface="Microsoft YaHei"/>
              </a:rPr>
              <a:t>X 型拓扑、端到端数据流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21300" y="2011680"/>
            <a:ext cx="164592" cy="0"/>
          </a:xfrm>
          <a:prstGeom prst="line">
            <a:avLst/>
          </a:prstGeom>
          <a:ln w="1524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85892" y="1508760"/>
            <a:ext cx="2081174" cy="10058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85892" y="1508760"/>
            <a:ext cx="54864" cy="10058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23052" y="1618488"/>
            <a:ext cx="185257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180" b="1">
                <a:solidFill>
                  <a:srgbClr val="F8FAFC"/>
                </a:solidFill>
                <a:latin typeface="Microsoft YaHei"/>
              </a:rPr>
              <a:t>核心模块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3052" y="2011680"/>
            <a:ext cx="1852574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CBD5E1"/>
                </a:solidFill>
                <a:latin typeface="Microsoft YaHei"/>
              </a:rPr>
              <a:t>Encoder、FFC、梯度/高光、增强、主解码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67067" y="2011680"/>
            <a:ext cx="164592" cy="0"/>
          </a:xfrm>
          <a:prstGeom prst="line">
            <a:avLst/>
          </a:prstGeom>
          <a:ln w="1524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31659" y="1508760"/>
            <a:ext cx="2081174" cy="10058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31659" y="1508760"/>
            <a:ext cx="54864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68819" y="1618488"/>
            <a:ext cx="185257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180" b="1">
                <a:solidFill>
                  <a:srgbClr val="F8FAFC"/>
                </a:solidFill>
                <a:latin typeface="Microsoft YaHei"/>
              </a:rPr>
              <a:t>训练系统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8819" y="2011680"/>
            <a:ext cx="1852574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CBD5E1"/>
                </a:solidFill>
                <a:latin typeface="Microsoft YaHei"/>
              </a:rPr>
              <a:t>损失函数、数据增强、优化器、保存策略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412833" y="2011680"/>
            <a:ext cx="164592" cy="0"/>
          </a:xfrm>
          <a:prstGeom prst="line">
            <a:avLst/>
          </a:prstGeom>
          <a:ln w="152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577425" y="1508760"/>
            <a:ext cx="2081174" cy="10058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77425" y="1508760"/>
            <a:ext cx="54864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14585" y="1618488"/>
            <a:ext cx="185257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180" b="1">
                <a:solidFill>
                  <a:srgbClr val="F8FAFC"/>
                </a:solidFill>
                <a:latin typeface="Microsoft YaHei"/>
              </a:rPr>
              <a:t>推理系统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4585" y="2011680"/>
            <a:ext cx="1852574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CBD5E1"/>
                </a:solidFill>
                <a:latin typeface="Microsoft YaHei"/>
              </a:rPr>
              <a:t>模型加载、滑窗、TTA、输出诊断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2971800"/>
            <a:ext cx="5394960" cy="14630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2971800"/>
            <a:ext cx="54864" cy="1463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3081528"/>
            <a:ext cx="51663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阅读方式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3474720"/>
            <a:ext cx="516636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这份 PPT 以“数据如何流动”为主线：先看输入 x 如何被编码，再看 g/s 如何提供辅助先验，最后看 b、r_direct 和 r 如何形成。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55080" y="2971800"/>
            <a:ext cx="5166360" cy="14630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5080" y="2971800"/>
            <a:ext cx="54864" cy="1463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3081528"/>
            <a:ext cx="4937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文件对应关系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3474720"/>
            <a:ext cx="493776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模型结构来自 Y_FFC_unified.py；训练流程来自 train.py；推理与输出保存来自 process_images.py；章节组织参考新的当前模型技术文档。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1005840" y="4709160"/>
          <a:ext cx="10241280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0"/>
              </a:tblGrid>
              <a:tr h="24140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8FAFC"/>
                          </a:solidFill>
                          <a:latin typeface="Microsoft YaHei"/>
                        </a:rPr>
                        <a:t>部分</a:t>
                      </a:r>
                    </a:p>
                  </a:txBody>
                  <a:tcPr marL="45720" marR="45720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8FAFC"/>
                          </a:solidFill>
                          <a:latin typeface="Microsoft YaHei"/>
                        </a:rPr>
                        <a:t>主要讲解内容</a:t>
                      </a:r>
                    </a:p>
                  </a:txBody>
                  <a:tcPr marL="45720" marR="45720" marT="27432" marB="27432">
                    <a:solidFill>
                      <a:srgbClr val="1E293B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BD5E1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BD5E1"/>
                          </a:solidFill>
                          <a:latin typeface="Microsoft YaHei"/>
                        </a:rPr>
                        <a:t>任务定义、输入输出与要达到的去高光效果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BD5E1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BD5E1"/>
                          </a:solidFill>
                          <a:latin typeface="Microsoft YaHei"/>
                        </a:rPr>
                        <a:t>整体网络拓扑和关键数据流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BD5E1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BD5E1"/>
                          </a:solidFill>
                          <a:latin typeface="Microsoft YaHei"/>
                        </a:rPr>
                        <a:t>每个核心模块的结构、作用与意义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</a:tr>
              <a:tr h="24140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BD5E1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BD5E1"/>
                          </a:solidFill>
                          <a:latin typeface="Microsoft YaHei"/>
                        </a:rPr>
                        <a:t>训练、验证、指标、checkpoint 与推理部署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9080" y="0"/>
            <a:ext cx="4114800" cy="6858000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38160" y="0"/>
            <a:ext cx="41148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94A3B8"/>
                </a:solidFill>
                <a:latin typeface="Microsoft YaHei"/>
              </a:rPr>
              <a:t>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914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>
                <a:solidFill>
                  <a:srgbClr val="38BDF8"/>
                </a:solidFill>
                <a:latin typeface="Microsoft YaHei"/>
              </a:rPr>
              <a:t>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64208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3100" b="1">
                <a:solidFill>
                  <a:srgbClr val="F8FAFC"/>
                </a:solidFill>
                <a:latin typeface="Microsoft YaHei"/>
              </a:rPr>
              <a:t>任务目标与实现效果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2578608"/>
            <a:ext cx="8961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CBD5E1"/>
                </a:solidFill>
                <a:latin typeface="Microsoft YaHei"/>
              </a:rPr>
              <a:t>从单张灰度条纹图中分离高反光分量，恢复可用于后续相位解算的漫反射条纹。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3337560"/>
            <a:ext cx="804672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1 ·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任务定义：把输入拆成漫反射与高反光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325880"/>
            <a:ext cx="3840480" cy="13258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508760"/>
            <a:ext cx="3511296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8FAFC"/>
                </a:solidFill>
                <a:latin typeface="Cambria Math"/>
              </a:rPr>
              <a:t>x ≈ r +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130552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输入 x 被看作漫反射 r 与镜面/高反光分量 b 的叠加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1325880"/>
            <a:ext cx="3017520" cy="13258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3480" y="1325880"/>
            <a:ext cx="54864" cy="1325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435607"/>
            <a:ext cx="2788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输入 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828800"/>
            <a:ext cx="2788920" cy="7315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灰度图 [B, 1, H, W]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包含条纹纹理、真实物体反射、高亮饱和区域和噪声。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325880"/>
            <a:ext cx="3017520" cy="13258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1325880"/>
            <a:ext cx="54864" cy="1325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435607"/>
            <a:ext cx="2788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输出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828800"/>
            <a:ext cx="2788920" cy="7315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最终漫反射图。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这是推理主结果，用于替换原图进入后续条纹相位或三维重建流程。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3063240"/>
            <a:ext cx="338328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3063240"/>
            <a:ext cx="54864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39" y="3172968"/>
            <a:ext cx="3154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输出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39" y="3566160"/>
            <a:ext cx="31546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模型估计的镜面反射 / 高反光分量。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用于解释从输入中被移除的高动态亮斑。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063240"/>
            <a:ext cx="338328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3063240"/>
            <a:ext cx="54864" cy="1234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172968"/>
            <a:ext cx="3154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辅助 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566160"/>
            <a:ext cx="31546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输入梯度图。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帮助模型看见条纹边界、高光边缘和局部结构突变。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3063240"/>
            <a:ext cx="338328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01000" y="3063240"/>
            <a:ext cx="54864" cy="1234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0" y="3172968"/>
            <a:ext cx="3154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辅助 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3566160"/>
            <a:ext cx="31546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高光概率图。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以软 mask 的形式提示哪些区域更可能是高反光区域。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" y="4892040"/>
            <a:ext cx="1024128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001768"/>
            <a:ext cx="9875519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38BDF8"/>
                </a:solidFill>
                <a:latin typeface="Microsoft YaHei"/>
              </a:rPr>
              <a:t>模型输出字典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294376"/>
            <a:ext cx="992124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YFFC.forward() → {"r": pred_diffuse, "g": g_map, "b": est_b, "s": s_map, "r_direct": r_direct, "alpha": alpha, "cs": cs_loss}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1 · EFFECT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要实现的效果：保留条纹，去除高光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xffc_io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234440"/>
            <a:ext cx="10789920" cy="31089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4754880"/>
            <a:ext cx="5212080" cy="10058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4754880"/>
            <a:ext cx="54864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864608"/>
            <a:ext cx="4983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核心目标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257800"/>
            <a:ext cx="498348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去除局部饱和和强反光，同时尽可能保留条纹连续性、边缘位置和灰度结构。最终输出 r 不只是“变暗”，而是恢复可用的漫反射条纹。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754880"/>
            <a:ext cx="4983480" cy="10058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4754880"/>
            <a:ext cx="54864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864608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为什么同时输出 b/g/s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257800"/>
            <a:ext cx="475488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b 解释被移除的高光；g 提供边界先验；s 提供高光区域先验。三者共同帮助 r 更稳定、更可信。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1 ·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四个文件在工程中的职责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234440"/>
          <a:ext cx="109728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5074920"/>
                <a:gridCol w="3108960"/>
              </a:tblGrid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969" b="1">
                          <a:solidFill>
                            <a:srgbClr val="F8FAFC"/>
                          </a:solidFill>
                          <a:latin typeface="Microsoft YaHei"/>
                        </a:rPr>
                        <a:t>文件</a:t>
                      </a:r>
                    </a:p>
                  </a:txBody>
                  <a:tcPr marL="45720" marR="45720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9" b="1">
                          <a:solidFill>
                            <a:srgbClr val="F8FAFC"/>
                          </a:solidFill>
                          <a:latin typeface="Microsoft YaHei"/>
                        </a:rPr>
                        <a:t>核心职责</a:t>
                      </a:r>
                    </a:p>
                  </a:txBody>
                  <a:tcPr marL="45720" marR="45720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9" b="1">
                          <a:solidFill>
                            <a:srgbClr val="F8FAFC"/>
                          </a:solidFill>
                          <a:latin typeface="Microsoft YaHei"/>
                        </a:rPr>
                        <a:t>在 PPT 中对应章节</a:t>
                      </a:r>
                    </a:p>
                  </a:txBody>
                  <a:tcPr marL="45720" marR="45720" marT="27432" marB="27432">
                    <a:solidFill>
                      <a:srgbClr val="1E293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CBD5E1"/>
                          </a:solidFill>
                          <a:latin typeface="Microsoft YaHei"/>
                        </a:rPr>
                        <a:t>Y_FFC_unified.py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CBD5E1"/>
                          </a:solidFill>
                          <a:latin typeface="Microsoft YaHei"/>
                        </a:rPr>
                        <a:t>实现模型、FFC、Swin 分支、损失、增强、数据与训练工具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CBD5E1"/>
                          </a:solidFill>
                          <a:latin typeface="Microsoft YaHei"/>
                        </a:rPr>
                        <a:t>模型结构 / 模块拆解 / 损失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CBD5E1"/>
                          </a:solidFill>
                          <a:latin typeface="Microsoft YaHei"/>
                        </a:rPr>
                        <a:t>train.py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CBD5E1"/>
                          </a:solidFill>
                          <a:latin typeface="Microsoft YaHei"/>
                        </a:rPr>
                        <a:t>实现数据读取、增强、训练循环、验证、指标、曲线和模型保存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CBD5E1"/>
                          </a:solidFill>
                          <a:latin typeface="Microsoft YaHei"/>
                        </a:rPr>
                        <a:t>训练系统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CBD5E1"/>
                          </a:solidFill>
                          <a:latin typeface="Microsoft YaHei"/>
                        </a:rPr>
                        <a:t>process_images.py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CBD5E1"/>
                          </a:solidFill>
                          <a:latin typeface="Microsoft YaHei"/>
                        </a:rPr>
                        <a:t>实现 checkpoint 加载、滑窗推理、TTA、结果保存与可视化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CBD5E1"/>
                          </a:solidFill>
                          <a:latin typeface="Microsoft YaHei"/>
                        </a:rPr>
                        <a:t>推理系统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CBD5E1"/>
                          </a:solidFill>
                          <a:latin typeface="Microsoft YaHei"/>
                        </a:rPr>
                        <a:t>X_FFC_V3_2_Current_Model_Technical_Document.md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CBD5E1"/>
                          </a:solidFill>
                          <a:latin typeface="Microsoft YaHei"/>
                        </a:rPr>
                        <a:t>当前模型的完整说明文档，是本 PPT 的内容主线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CBD5E1"/>
                          </a:solidFill>
                          <a:latin typeface="Microsoft YaHei"/>
                        </a:rPr>
                        <a:t>全局结构与讲解顺序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22960" y="3886200"/>
            <a:ext cx="5166360" cy="13258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886200"/>
            <a:ext cx="54864" cy="13258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95928"/>
            <a:ext cx="4937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从源码统计到的核心类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389120"/>
            <a:ext cx="4937760" cy="7315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模型文件包含 32 个 class。核心包括 FourierUnit、SpectralTransform、FFC_BN_ACT、SwinEncoderBranch、Encoder、GradientDecoder、EnhancementLayers、MainDecoder、ResidualRefinementHead、YFFC 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886200"/>
            <a:ext cx="5074920" cy="13258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3886200"/>
            <a:ext cx="54864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995928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训练/推理入口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389120"/>
            <a:ext cx="4846320" cy="7315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train.py 中有 19 个主要函数，process_images.py 中有 19 个主要函数。二者围绕同一个 YFFC 模型进行训练与部署。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9080" y="0"/>
            <a:ext cx="4114800" cy="6858000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38160" y="0"/>
            <a:ext cx="41148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94A3B8"/>
                </a:solidFill>
                <a:latin typeface="Microsoft YaHei"/>
              </a:rPr>
              <a:t>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914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>
                <a:solidFill>
                  <a:srgbClr val="6366F1"/>
                </a:solidFill>
                <a:latin typeface="Microsoft YaHei"/>
              </a:rPr>
              <a:t>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64208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3100" b="1">
                <a:solidFill>
                  <a:srgbClr val="F8FAFC"/>
                </a:solidFill>
                <a:latin typeface="Microsoft YaHei"/>
              </a:rPr>
              <a:t>整体网络结构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2578608"/>
            <a:ext cx="8961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CBD5E1"/>
                </a:solidFill>
                <a:latin typeface="Microsoft YaHei"/>
              </a:rPr>
              <a:t>以 X 型双分支结构组织编码、辅助先验、增强特征、主解码与最终漫反射重建。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3337560"/>
            <a:ext cx="804672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2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整体拓扑：X 型双分支 + 双路径漫反射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2743200"/>
            <a:ext cx="1051560" cy="411480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98064"/>
            <a:ext cx="9601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F8FAFC"/>
                </a:solidFill>
                <a:latin typeface="Microsoft YaHei"/>
              </a:rPr>
              <a:t>输入 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2331720"/>
            <a:ext cx="1920240" cy="11430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65960" y="2331720"/>
            <a:ext cx="54864" cy="1143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2441448"/>
            <a:ext cx="1691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F8FAFC"/>
                </a:solidFill>
                <a:latin typeface="Microsoft YaHei"/>
              </a:rPr>
              <a:t>Encoder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834639"/>
            <a:ext cx="16916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CBD5E1"/>
                </a:solidFill>
                <a:latin typeface="Microsoft YaHei"/>
              </a:rPr>
              <a:t>ResNet50 + Swin-Tiny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CBD5E1"/>
                </a:solidFill>
                <a:latin typeface="Microsoft YaHei"/>
              </a:rPr>
              <a:t>CNN/Transformer 融合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1234440"/>
            <a:ext cx="2057400" cy="11430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17720" y="1234440"/>
            <a:ext cx="54864" cy="1143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1344168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8FAFC"/>
                </a:solidFill>
                <a:latin typeface="Microsoft YaHei"/>
              </a:rPr>
              <a:t>GradientDecoder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1737360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CBD5E1"/>
                </a:solidFill>
                <a:latin typeface="Microsoft YaHei"/>
              </a:rPr>
              <a:t>输出 g / s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CBD5E1"/>
                </a:solidFill>
                <a:latin typeface="Microsoft YaHei"/>
              </a:rPr>
              <a:t>生成 xe1~xe4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3584448"/>
            <a:ext cx="2057400" cy="11430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17720" y="3584448"/>
            <a:ext cx="54864" cy="1143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3694176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8FAFC"/>
                </a:solidFill>
                <a:latin typeface="Microsoft YaHei"/>
              </a:rPr>
              <a:t>EnhancementLayers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087368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CBD5E1"/>
                </a:solidFill>
                <a:latin typeface="Microsoft YaHei"/>
              </a:rPr>
              <a:t>利用 x/g/s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CBD5E1"/>
                </a:solidFill>
                <a:latin typeface="Microsoft YaHei"/>
              </a:rPr>
              <a:t>增强高光相关特征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2331720"/>
            <a:ext cx="2148840" cy="11430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6640" y="2331720"/>
            <a:ext cx="54864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2441448"/>
            <a:ext cx="1920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8FAFC"/>
                </a:solidFill>
                <a:latin typeface="Microsoft YaHei"/>
              </a:rPr>
              <a:t>MainDecoder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2834639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CBD5E1"/>
                </a:solidFill>
                <a:latin typeface="Microsoft YaHei"/>
              </a:rPr>
              <a:t>输出 b、r_direct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CBD5E1"/>
                </a:solidFill>
                <a:latin typeface="Microsoft YaHei"/>
              </a:rPr>
              <a:t>和 alpha_logit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04120" y="2331720"/>
            <a:ext cx="1600200" cy="11430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104120" y="2331720"/>
            <a:ext cx="54864" cy="1143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0" y="2441448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8FAFC"/>
                </a:solidFill>
                <a:latin typeface="Microsoft YaHei"/>
              </a:rPr>
              <a:t>ResidualRefine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2834639"/>
            <a:ext cx="1371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CBD5E1"/>
                </a:solidFill>
                <a:latin typeface="Microsoft YaHei"/>
              </a:rPr>
              <a:t>融合后残差精修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CBD5E1"/>
                </a:solidFill>
                <a:latin typeface="Microsoft YaHei"/>
              </a:rPr>
              <a:t>得到最终 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645920" y="2944368"/>
            <a:ext cx="320040" cy="0"/>
          </a:xfrm>
          <a:prstGeom prst="line">
            <a:avLst/>
          </a:prstGeom>
          <a:ln w="1778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886200" y="1828800"/>
            <a:ext cx="731520" cy="96012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886200" y="3154680"/>
            <a:ext cx="731520" cy="1005840"/>
          </a:xfrm>
          <a:prstGeom prst="line">
            <a:avLst/>
          </a:prstGeom>
          <a:ln w="1778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675120" y="1874519"/>
            <a:ext cx="731520" cy="822961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675120" y="3200400"/>
            <a:ext cx="731520" cy="960120"/>
          </a:xfrm>
          <a:prstGeom prst="line">
            <a:avLst/>
          </a:prstGeom>
          <a:ln w="1778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555480" y="2944368"/>
            <a:ext cx="548640" cy="0"/>
          </a:xfrm>
          <a:prstGeom prst="line">
            <a:avLst/>
          </a:prstGeom>
          <a:ln w="1778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966960" y="3977639"/>
            <a:ext cx="1920240" cy="411480"/>
          </a:xfrm>
          <a:prstGeom prst="roundRect">
            <a:avLst/>
          </a:prstGeom>
          <a:solidFill>
            <a:srgbClr val="22C55E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12680" y="4032503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F8FAFC"/>
                </a:solidFill>
                <a:latin typeface="Microsoft YaHei"/>
              </a:rPr>
              <a:t>输出 r / b / g / 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" y="5349240"/>
            <a:ext cx="1024128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>
                <a:solidFill>
                  <a:srgbClr val="CBD5E1"/>
                </a:solidFill>
                <a:latin typeface="Microsoft YaHei"/>
              </a:rPr>
              <a:t>X 型含义：GradientDecoder 与 MainDecoder 两条分支从编码特征处分叉；增强层把 g/s/x 形成的先验反馈给主解码路径，两条路径交叉协作。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2 ·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端到端数据流：从输入到最终 r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1722119" cy="11430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54864" cy="1143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27048"/>
            <a:ext cx="1493519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F8FAFC"/>
                </a:solidFill>
                <a:latin typeface="Microsoft YaHei"/>
              </a:rPr>
              <a:t>1 输入 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1493519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CBD5E1"/>
                </a:solidFill>
                <a:latin typeface="Microsoft YaHei"/>
              </a:rPr>
              <a:t>[B,1,H,W]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25040" y="1988819"/>
            <a:ext cx="164592" cy="0"/>
          </a:xfrm>
          <a:prstGeom prst="line">
            <a:avLst/>
          </a:prstGeom>
          <a:ln w="152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389632" y="1417320"/>
            <a:ext cx="1722119" cy="11430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89632" y="1417320"/>
            <a:ext cx="54864" cy="1143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26792" y="1527048"/>
            <a:ext cx="1493519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F8FAFC"/>
                </a:solidFill>
                <a:latin typeface="Microsoft YaHei"/>
              </a:rPr>
              <a:t>2 Encoder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6792" y="1920240"/>
            <a:ext cx="1493519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CBD5E1"/>
                </a:solidFill>
                <a:latin typeface="Microsoft YaHei"/>
              </a:rPr>
              <a:t>5级编码特征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11751" y="1988819"/>
            <a:ext cx="164592" cy="0"/>
          </a:xfrm>
          <a:prstGeom prst="line">
            <a:avLst/>
          </a:prstGeom>
          <a:ln w="1524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276343" y="1417320"/>
            <a:ext cx="1722119" cy="11430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6343" y="1417320"/>
            <a:ext cx="54864" cy="1143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3504" y="1527048"/>
            <a:ext cx="1493519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F8FAFC"/>
                </a:solidFill>
                <a:latin typeface="Microsoft YaHei"/>
              </a:rPr>
              <a:t>3 GradientDecoder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3504" y="1920240"/>
            <a:ext cx="1493519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CBD5E1"/>
                </a:solidFill>
                <a:latin typeface="Microsoft YaHei"/>
              </a:rPr>
              <a:t>g、s、xe1~xe4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98463" y="1988819"/>
            <a:ext cx="164592" cy="0"/>
          </a:xfrm>
          <a:prstGeom prst="line">
            <a:avLst/>
          </a:prstGeom>
          <a:ln w="1524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63055" y="1417320"/>
            <a:ext cx="1722119" cy="11430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63055" y="1417320"/>
            <a:ext cx="54864" cy="1143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0216" y="1527048"/>
            <a:ext cx="1493519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F8FAFC"/>
                </a:solidFill>
                <a:latin typeface="Microsoft YaHei"/>
              </a:rPr>
              <a:t>4 Enhancement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216" y="1920240"/>
            <a:ext cx="1493519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CBD5E1"/>
                </a:solidFill>
                <a:latin typeface="Microsoft YaHei"/>
              </a:rPr>
              <a:t>enh1~enh4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885176" y="1988819"/>
            <a:ext cx="164591" cy="0"/>
          </a:xfrm>
          <a:prstGeom prst="line">
            <a:avLst/>
          </a:prstGeom>
          <a:ln w="1524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049767" y="1417320"/>
            <a:ext cx="1722119" cy="11430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9767" y="1417320"/>
            <a:ext cx="54864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6928" y="1527048"/>
            <a:ext cx="1493519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F8FAFC"/>
                </a:solidFill>
                <a:latin typeface="Microsoft YaHei"/>
              </a:rPr>
              <a:t>5 MainDecoder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6928" y="1920240"/>
            <a:ext cx="1493519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CBD5E1"/>
                </a:solidFill>
                <a:latin typeface="Microsoft YaHei"/>
              </a:rPr>
              <a:t>b、r_direct、alpha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771888" y="1988819"/>
            <a:ext cx="164591" cy="0"/>
          </a:xfrm>
          <a:prstGeom prst="line">
            <a:avLst/>
          </a:prstGeom>
          <a:ln w="152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936479" y="1417320"/>
            <a:ext cx="1722119" cy="11430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36479" y="1417320"/>
            <a:ext cx="54864" cy="1143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73640" y="1527048"/>
            <a:ext cx="1493519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F8FAFC"/>
                </a:solidFill>
                <a:latin typeface="Microsoft YaHei"/>
              </a:rPr>
              <a:t>6 Fusion + Refine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73640" y="1920240"/>
            <a:ext cx="1493519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CBD5E1"/>
                </a:solidFill>
                <a:latin typeface="Microsoft YaHei"/>
              </a:rPr>
              <a:t>最终 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2971800"/>
            <a:ext cx="10332720" cy="2240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3081528"/>
            <a:ext cx="9966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38BDF8"/>
                </a:solidFill>
                <a:latin typeface="Microsoft YaHei"/>
              </a:rPr>
              <a:t>YFFC.forward 的核心逻辑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" y="3374136"/>
            <a:ext cx="10012680" cy="1783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c_feat = encoder(x)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xe1, xe2, xe3, xe4, g, s = gradient_decoder(...)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enh = enhancement_layers((xe1, xe2, xe3, xe4), g, x, s)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est_b, r_direct, alpha_logit = main_decoder(c_feat, enh, g, s, x)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r_sub   = clamp(x - est_b, 0, 1)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alpha   = sigmoid(alpha_logit)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r_fused = alpha * r_direct + (1 - alpha) * r_sub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r       = refinement_head(r_fused, x, r_direct)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532120"/>
            <a:ext cx="1042416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>
                <a:solidFill>
                  <a:srgbClr val="CBD5E1"/>
                </a:solidFill>
                <a:latin typeface="Microsoft YaHei"/>
              </a:rPr>
              <a:t>这条数据流体现了当前模型的关键思想：先估计高光位置和边界，再用这些先验帮助主解码器同时重建 b 与 r。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2 ·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模型输出：主结果与辅助结果同时返回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34440"/>
            <a:ext cx="3474720" cy="11430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234440"/>
            <a:ext cx="54864" cy="1143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344168"/>
            <a:ext cx="3246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r · pred_diffuse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37360"/>
            <a:ext cx="3246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最终漫反射输出，是推理主结果。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由 r_direct 与 r_sub 融合后再精修得到。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234440"/>
            <a:ext cx="3474720" cy="11430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1234440"/>
            <a:ext cx="54864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344168"/>
            <a:ext cx="3246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b · est_specular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1737360"/>
            <a:ext cx="3246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估计出的高反光 / 镜面分量。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可用于检查模型移除了哪些亮斑。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234440"/>
            <a:ext cx="3246120" cy="11430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234440"/>
            <a:ext cx="54864" cy="1143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344168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g · gradient_map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737360"/>
            <a:ext cx="30175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输入梯度先验。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帮助定位条纹边缘与高光边缘。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788920"/>
            <a:ext cx="3474720" cy="11430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2788920"/>
            <a:ext cx="54864" cy="1143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898648"/>
            <a:ext cx="3246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s · spec_likelihood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291839"/>
            <a:ext cx="3246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高光软概率图。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参与增强层与主解码器门控。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07408" y="2788920"/>
            <a:ext cx="3474720" cy="11430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07408" y="2788920"/>
            <a:ext cx="54864" cy="1143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44568" y="2898648"/>
            <a:ext cx="3246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r_direct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4568" y="3291839"/>
            <a:ext cx="3246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主解码器直接预测的漫反射。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与物理减法路径共同形成最终 r。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2788920"/>
            <a:ext cx="3246120" cy="11430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92440" y="2788920"/>
            <a:ext cx="54864" cy="1143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2898648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alpha / 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291839"/>
            <a:ext cx="30175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alpha 控制两条 r 路径的融合权重；cs 为跨尺度一致性约束。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80160" y="4617720"/>
            <a:ext cx="9601200" cy="1143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63039" y="4727448"/>
            <a:ext cx="92354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38BDF8"/>
                </a:solidFill>
                <a:latin typeface="Microsoft YaHei"/>
              </a:rPr>
              <a:t>返回字典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44751" y="5020056"/>
            <a:ext cx="928116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{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  "r": final diffuse image,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  "g": input gradient prior,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  "b": estimated specular component,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  "s": specular likelihood map,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  "r_direct": direct diffuse prediction,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  "alpha": learnable fusion coefficient,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  "cs": cross-scale consistency loss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9080" y="0"/>
            <a:ext cx="4114800" cy="6858000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38160" y="0"/>
            <a:ext cx="41148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94A3B8"/>
                </a:solidFill>
                <a:latin typeface="Microsoft YaHei"/>
              </a:rPr>
              <a:t>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914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>
                <a:solidFill>
                  <a:srgbClr val="8B5CF6"/>
                </a:solidFill>
                <a:latin typeface="Microsoft YaHei"/>
              </a:rPr>
              <a:t>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64208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3100" b="1">
                <a:solidFill>
                  <a:srgbClr val="F8FAFC"/>
                </a:solidFill>
                <a:latin typeface="Microsoft YaHei"/>
              </a:rPr>
              <a:t>编码器与上下文融合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2578608"/>
            <a:ext cx="8961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CBD5E1"/>
                </a:solidFill>
                <a:latin typeface="Microsoft YaHei"/>
              </a:rPr>
              <a:t>ResNet50 提取局部纹理，Swin-Tiny 提供窗口上下文，多级融合后进入 FFC 与高频增强。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3337560"/>
            <a:ext cx="80467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3 · ENCODER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Encoder：五级特征输出与瓶颈表示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2008022" cy="1170432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54864" cy="1170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81328"/>
            <a:ext cx="177942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F8FAFC"/>
                </a:solidFill>
                <a:latin typeface="Microsoft YaHei"/>
              </a:rPr>
              <a:t>x_bb_1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74519"/>
            <a:ext cx="1779422" cy="5760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CBD5E1"/>
                </a:solidFill>
                <a:latin typeface="Microsoft YaHei"/>
              </a:rPr>
              <a:t>64ch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CBD5E1"/>
                </a:solidFill>
                <a:latin typeface="Microsoft YaHei"/>
              </a:rPr>
              <a:t>H/2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39542" y="1956816"/>
            <a:ext cx="164592" cy="0"/>
          </a:xfrm>
          <a:prstGeom prst="line">
            <a:avLst/>
          </a:prstGeom>
          <a:ln w="152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04134" y="1371600"/>
            <a:ext cx="2008022" cy="1170432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04134" y="1371600"/>
            <a:ext cx="54864" cy="1170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1294" y="1481328"/>
            <a:ext cx="177942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F8FAFC"/>
                </a:solidFill>
                <a:latin typeface="Microsoft YaHei"/>
              </a:rPr>
              <a:t>x_bb_2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1294" y="1874519"/>
            <a:ext cx="1779422" cy="5760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CBD5E1"/>
                </a:solidFill>
                <a:latin typeface="Microsoft YaHei"/>
              </a:rPr>
              <a:t>128ch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CBD5E1"/>
                </a:solidFill>
                <a:latin typeface="Microsoft YaHei"/>
              </a:rPr>
              <a:t>H/4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12156" y="1956816"/>
            <a:ext cx="164592" cy="0"/>
          </a:xfrm>
          <a:prstGeom prst="line">
            <a:avLst/>
          </a:prstGeom>
          <a:ln w="1524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76748" y="1371600"/>
            <a:ext cx="2008022" cy="1170432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76748" y="1371600"/>
            <a:ext cx="54864" cy="11704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3908" y="1481328"/>
            <a:ext cx="177942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F8FAFC"/>
                </a:solidFill>
                <a:latin typeface="Microsoft YaHei"/>
              </a:rPr>
              <a:t>x_bb_3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3908" y="1874519"/>
            <a:ext cx="1779422" cy="5760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CBD5E1"/>
                </a:solidFill>
                <a:latin typeface="Microsoft YaHei"/>
              </a:rPr>
              <a:t>256ch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CBD5E1"/>
                </a:solidFill>
                <a:latin typeface="Microsoft YaHei"/>
              </a:rPr>
              <a:t>H/8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84771" y="1956816"/>
            <a:ext cx="164592" cy="0"/>
          </a:xfrm>
          <a:prstGeom prst="line">
            <a:avLst/>
          </a:prstGeom>
          <a:ln w="1524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49363" y="1371600"/>
            <a:ext cx="2008022" cy="1170432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49363" y="1371600"/>
            <a:ext cx="54864" cy="1170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86523" y="1481328"/>
            <a:ext cx="177942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F8FAFC"/>
                </a:solidFill>
                <a:latin typeface="Microsoft YaHei"/>
              </a:rPr>
              <a:t>x_bb_4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6523" y="1874519"/>
            <a:ext cx="1779422" cy="5760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CBD5E1"/>
                </a:solidFill>
                <a:latin typeface="Microsoft YaHei"/>
              </a:rPr>
              <a:t>512ch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CBD5E1"/>
                </a:solidFill>
                <a:latin typeface="Microsoft YaHei"/>
              </a:rPr>
              <a:t>H/16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257385" y="1956816"/>
            <a:ext cx="164592" cy="0"/>
          </a:xfrm>
          <a:prstGeom prst="line">
            <a:avLst/>
          </a:prstGeom>
          <a:ln w="152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21977" y="1371600"/>
            <a:ext cx="2008022" cy="1170432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21977" y="1371600"/>
            <a:ext cx="54864" cy="11704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59137" y="1481328"/>
            <a:ext cx="177942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F8FAFC"/>
                </a:solidFill>
                <a:latin typeface="Microsoft YaHei"/>
              </a:rPr>
              <a:t>x_c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9137" y="1874519"/>
            <a:ext cx="1779422" cy="5760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CBD5E1"/>
                </a:solidFill>
                <a:latin typeface="Microsoft YaHei"/>
              </a:rPr>
              <a:t>256ch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CBD5E1"/>
                </a:solidFill>
                <a:latin typeface="Microsoft YaHei"/>
              </a:rPr>
              <a:t>H/16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2971800"/>
            <a:ext cx="521208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2971800"/>
            <a:ext cx="54864" cy="1234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3081528"/>
            <a:ext cx="4983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编码器作用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3474720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把单通道输入图像转换成多尺度特征金字塔。浅层保留边缘和条纹细节；深层表达高反光区域的语义、上下文和全局结构。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2971800"/>
            <a:ext cx="521208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2971800"/>
            <a:ext cx="54864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3081528"/>
            <a:ext cx="4983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瓶颈 x_c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3474720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x_c 是主干融合后的核心特征：H/16 分辨率、256 通道，经过 CNN/Swin 融合、跨尺度回流、FFC 和高频增强。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822960" y="4617720"/>
          <a:ext cx="1051560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4846320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910" b="1">
                          <a:solidFill>
                            <a:srgbClr val="F8FAFC"/>
                          </a:solidFill>
                          <a:latin typeface="Microsoft YaHei"/>
                        </a:rPr>
                        <a:t>模块</a:t>
                      </a:r>
                    </a:p>
                  </a:txBody>
                  <a:tcPr marL="45720" marR="45720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0" b="1">
                          <a:solidFill>
                            <a:srgbClr val="F8FAFC"/>
                          </a:solidFill>
                          <a:latin typeface="Microsoft YaHei"/>
                        </a:rPr>
                        <a:t>输入/输出</a:t>
                      </a:r>
                    </a:p>
                  </a:txBody>
                  <a:tcPr marL="45720" marR="45720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0" b="1">
                          <a:solidFill>
                            <a:srgbClr val="F8FAFC"/>
                          </a:solidFill>
                          <a:latin typeface="Microsoft YaHei"/>
                        </a:rPr>
                        <a:t>意义</a:t>
                      </a:r>
                    </a:p>
                  </a:txBody>
                  <a:tcPr marL="45720" marR="45720" marT="27432" marB="27432">
                    <a:solidFill>
                      <a:srgbClr val="1E29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CBD5E1"/>
                          </a:solidFill>
                          <a:latin typeface="Microsoft YaHei"/>
                        </a:rPr>
                        <a:t>ResNet50 灰度分支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CBD5E1"/>
                          </a:solidFill>
                          <a:latin typeface="Microsoft YaHei"/>
                        </a:rPr>
                        <a:t>x → 多层 CNN 特征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CBD5E1"/>
                          </a:solidFill>
                          <a:latin typeface="Microsoft YaHei"/>
                        </a:rPr>
                        <a:t>稳定提取局部纹理和边缘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CBD5E1"/>
                          </a:solidFill>
                          <a:latin typeface="Microsoft YaHei"/>
                        </a:rPr>
                        <a:t>Swin-Tiny 分支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CBD5E1"/>
                          </a:solidFill>
                          <a:latin typeface="Microsoft YaHei"/>
                        </a:rPr>
                        <a:t>x → H/4,H/8,H/16 上下文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CBD5E1"/>
                          </a:solidFill>
                          <a:latin typeface="Microsoft YaHei"/>
                        </a:rPr>
                        <a:t>建模窗口上下文和较长依赖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CBD5E1"/>
                          </a:solidFill>
                          <a:latin typeface="Microsoft YaHei"/>
                        </a:rPr>
                        <a:t>CrossModalFusion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CBD5E1"/>
                          </a:solidFill>
                          <a:latin typeface="Microsoft YaHei"/>
                        </a:rPr>
                        <a:t>CNN H/16 + Swin H/16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CBD5E1"/>
                          </a:solidFill>
                          <a:latin typeface="Microsoft YaHei"/>
                        </a:rPr>
                        <a:t>融合局部卷积和 Transformer 上下文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CBD5E1"/>
                          </a:solidFill>
                          <a:latin typeface="Microsoft YaHei"/>
                        </a:rPr>
                        <a:t>FFC + HFE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CBD5E1"/>
                          </a:solidFill>
                          <a:latin typeface="Microsoft YaHei"/>
                        </a:rPr>
                        <a:t>瓶颈特征 → x_c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CBD5E1"/>
                          </a:solidFill>
                          <a:latin typeface="Microsoft YaHei"/>
                        </a:rPr>
                        <a:t>频域全局建模 + 高频边界增强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3 · RESNET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ResNet50 灰度分支：局部纹理骨架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353312"/>
            <a:ext cx="2062886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53312"/>
            <a:ext cx="54864" cy="10972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63040"/>
            <a:ext cx="183428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1">
                <a:solidFill>
                  <a:srgbClr val="F8FAFC"/>
                </a:solidFill>
                <a:latin typeface="Microsoft YaHei"/>
              </a:rPr>
              <a:t>输入灰度 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856232"/>
            <a:ext cx="1834286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CBD5E1"/>
                </a:solidFill>
                <a:latin typeface="Microsoft YaHei"/>
              </a:rPr>
              <a:t>[B,1,H,W]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02966" y="1901952"/>
            <a:ext cx="164592" cy="0"/>
          </a:xfrm>
          <a:prstGeom prst="line">
            <a:avLst/>
          </a:prstGeom>
          <a:ln w="152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67558" y="1353312"/>
            <a:ext cx="2062886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67558" y="1353312"/>
            <a:ext cx="54864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04718" y="1463040"/>
            <a:ext cx="183428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1">
                <a:solidFill>
                  <a:srgbClr val="F8FAFC"/>
                </a:solidFill>
                <a:latin typeface="Microsoft YaHei"/>
              </a:rPr>
              <a:t>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4718" y="1856232"/>
            <a:ext cx="1834286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CBD5E1"/>
                </a:solidFill>
                <a:latin typeface="Microsoft YaHei"/>
              </a:rPr>
              <a:t>7×7 conv</a:t>
            </a:r>
          </a:p>
          <a:p>
            <a:pPr algn="l">
              <a:lnSpc>
                <a:spcPct val="105000"/>
              </a:lnSpc>
            </a:pPr>
            <a:r>
              <a:rPr sz="880" b="0">
                <a:solidFill>
                  <a:srgbClr val="CBD5E1"/>
                </a:solidFill>
                <a:latin typeface="Microsoft YaHei"/>
              </a:rPr>
              <a:t>BN/ReLU/pool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30444" y="1901952"/>
            <a:ext cx="164592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95036" y="1353312"/>
            <a:ext cx="2062886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95036" y="1353312"/>
            <a:ext cx="54864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32196" y="1463040"/>
            <a:ext cx="183428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1">
                <a:solidFill>
                  <a:srgbClr val="F8FAFC"/>
                </a:solidFill>
                <a:latin typeface="Microsoft YaHei"/>
              </a:rPr>
              <a:t>layer1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2196" y="1856232"/>
            <a:ext cx="1834286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CBD5E1"/>
                </a:solidFill>
                <a:latin typeface="Microsoft YaHei"/>
              </a:rPr>
              <a:t>H/4</a:t>
            </a:r>
          </a:p>
          <a:p>
            <a:pPr algn="l">
              <a:lnSpc>
                <a:spcPct val="105000"/>
              </a:lnSpc>
            </a:pPr>
            <a:r>
              <a:rPr sz="880" b="0">
                <a:solidFill>
                  <a:srgbClr val="CBD5E1"/>
                </a:solidFill>
                <a:latin typeface="Microsoft YaHei"/>
              </a:rPr>
              <a:t>→ 128ch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57923" y="1901952"/>
            <a:ext cx="164592" cy="0"/>
          </a:xfrm>
          <a:prstGeom prst="line">
            <a:avLst/>
          </a:prstGeom>
          <a:ln w="1524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22515" y="1353312"/>
            <a:ext cx="2062886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22515" y="1353312"/>
            <a:ext cx="54864" cy="109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9675" y="1463040"/>
            <a:ext cx="183428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1">
                <a:solidFill>
                  <a:srgbClr val="F8FAFC"/>
                </a:solidFill>
                <a:latin typeface="Microsoft YaHei"/>
              </a:rPr>
              <a:t>layer2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9675" y="1856232"/>
            <a:ext cx="1834286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CBD5E1"/>
                </a:solidFill>
                <a:latin typeface="Microsoft YaHei"/>
              </a:rPr>
              <a:t>H/8</a:t>
            </a:r>
          </a:p>
          <a:p>
            <a:pPr algn="l">
              <a:lnSpc>
                <a:spcPct val="105000"/>
              </a:lnSpc>
            </a:pPr>
            <a:r>
              <a:rPr sz="880" b="0">
                <a:solidFill>
                  <a:srgbClr val="CBD5E1"/>
                </a:solidFill>
                <a:latin typeface="Microsoft YaHei"/>
              </a:rPr>
              <a:t>→ 256ch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85401" y="1901952"/>
            <a:ext cx="164592" cy="0"/>
          </a:xfrm>
          <a:prstGeom prst="line">
            <a:avLst/>
          </a:prstGeom>
          <a:ln w="1524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549993" y="1353312"/>
            <a:ext cx="2062886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49993" y="1353312"/>
            <a:ext cx="54864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87153" y="1463040"/>
            <a:ext cx="183428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1">
                <a:solidFill>
                  <a:srgbClr val="F8FAFC"/>
                </a:solidFill>
                <a:latin typeface="Microsoft YaHei"/>
              </a:rPr>
              <a:t>layer3/4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87153" y="1856232"/>
            <a:ext cx="1834286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CBD5E1"/>
                </a:solidFill>
                <a:latin typeface="Microsoft YaHei"/>
              </a:rPr>
              <a:t>H/16</a:t>
            </a:r>
          </a:p>
          <a:p>
            <a:pPr algn="l">
              <a:lnSpc>
                <a:spcPct val="105000"/>
              </a:lnSpc>
            </a:pPr>
            <a:r>
              <a:rPr sz="880" b="0">
                <a:solidFill>
                  <a:srgbClr val="CBD5E1"/>
                </a:solidFill>
                <a:latin typeface="Microsoft YaHei"/>
              </a:rPr>
              <a:t>→ 512ch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2926080"/>
            <a:ext cx="5212080" cy="11430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" y="2926080"/>
            <a:ext cx="54864" cy="1143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3035808"/>
            <a:ext cx="4983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为什么使用 ResNet50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3429000"/>
            <a:ext cx="49834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卷积网络对局部纹理、边缘、灰度变化和条纹细节非常敏感，适合作为图像分解任务的稳定基础骨架。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2926080"/>
            <a:ext cx="4892040" cy="11430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2926080"/>
            <a:ext cx="54864" cy="1143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3035808"/>
            <a:ext cx="46634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单通道初始化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3429000"/>
            <a:ext cx="46634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第一层卷积由 RGB 改为 1 通道，权重用原 RGB 卷积核均值初始化，使灰度输入也能继承预训练特征能力。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43000" y="4572000"/>
            <a:ext cx="9875520" cy="1143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25880" y="4681728"/>
            <a:ext cx="95097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38BDF8"/>
                </a:solidFill>
                <a:latin typeface="Microsoft YaHei"/>
              </a:rPr>
              <a:t>ResNet 分支输出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07592" y="4974336"/>
            <a:ext cx="955548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conv1: 3 channels → 1 channel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new_weight = old_weight.mean(dim=1, keepdim=True)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x_bb_1: stem feature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x_bb_2: reduce(layer1)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x_bb_3: reduce(layer2)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x_bb_4: fuse(layer3, layer4)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3 · SWIN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Swin-Tiny 分支：窗口上下文编码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353312"/>
            <a:ext cx="2044598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353312"/>
            <a:ext cx="54864" cy="10972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1815998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8FAFC"/>
                </a:solidFill>
                <a:latin typeface="Microsoft YaHei"/>
              </a:rPr>
              <a:t>灰度输入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856232"/>
            <a:ext cx="1815998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CBD5E1"/>
                </a:solidFill>
                <a:latin typeface="Microsoft YaHei"/>
              </a:rPr>
              <a:t>1ch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30398" y="1901952"/>
            <a:ext cx="164592" cy="0"/>
          </a:xfrm>
          <a:prstGeom prst="line">
            <a:avLst/>
          </a:prstGeom>
          <a:ln w="152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94990" y="1353312"/>
            <a:ext cx="2044598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94990" y="1353312"/>
            <a:ext cx="54864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32150" y="1463040"/>
            <a:ext cx="1815998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8FAFC"/>
                </a:solidFill>
                <a:latin typeface="Microsoft YaHei"/>
              </a:rPr>
              <a:t>Patch Embedding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2150" y="1856232"/>
            <a:ext cx="1815998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CBD5E1"/>
                </a:solidFill>
                <a:latin typeface="Microsoft YaHei"/>
              </a:rPr>
              <a:t>RGB → Gray</a:t>
            </a:r>
          </a:p>
          <a:p>
            <a:pPr algn="l">
              <a:lnSpc>
                <a:spcPct val="105000"/>
              </a:lnSpc>
            </a:pPr>
            <a:r>
              <a:rPr sz="850" b="0">
                <a:solidFill>
                  <a:srgbClr val="CBD5E1"/>
                </a:solidFill>
                <a:latin typeface="Microsoft YaHei"/>
              </a:rPr>
              <a:t>权重均值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39588" y="1901952"/>
            <a:ext cx="164592" cy="0"/>
          </a:xfrm>
          <a:prstGeom prst="line">
            <a:avLst/>
          </a:prstGeom>
          <a:ln w="1524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04180" y="1353312"/>
            <a:ext cx="2044598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04180" y="1353312"/>
            <a:ext cx="54864" cy="109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1340" y="1463040"/>
            <a:ext cx="1815998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8FAFC"/>
                </a:solidFill>
                <a:latin typeface="Microsoft YaHei"/>
              </a:rPr>
              <a:t>Swin Stage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1340" y="1856232"/>
            <a:ext cx="1815998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CBD5E1"/>
                </a:solidFill>
                <a:latin typeface="Microsoft YaHei"/>
              </a:rPr>
              <a:t>窗口注意力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48779" y="1901952"/>
            <a:ext cx="164592" cy="0"/>
          </a:xfrm>
          <a:prstGeom prst="line">
            <a:avLst/>
          </a:prstGeom>
          <a:ln w="1524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13371" y="1353312"/>
            <a:ext cx="2044598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3371" y="1353312"/>
            <a:ext cx="54864" cy="10972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0531" y="1463040"/>
            <a:ext cx="1815998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8FAFC"/>
                </a:solidFill>
                <a:latin typeface="Microsoft YaHei"/>
              </a:rPr>
              <a:t>Padding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0531" y="1856232"/>
            <a:ext cx="1815998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CBD5E1"/>
                </a:solidFill>
                <a:latin typeface="Microsoft YaHei"/>
              </a:rPr>
              <a:t>右/下补齐</a:t>
            </a:r>
          </a:p>
          <a:p>
            <a:pPr algn="l">
              <a:lnSpc>
                <a:spcPct val="105000"/>
              </a:lnSpc>
            </a:pPr>
            <a:r>
              <a:rPr sz="850" b="0">
                <a:solidFill>
                  <a:srgbClr val="CBD5E1"/>
                </a:solidFill>
                <a:latin typeface="Microsoft YaHei"/>
              </a:rPr>
              <a:t>支持任意尺寸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57969" y="1901952"/>
            <a:ext cx="164592" cy="0"/>
          </a:xfrm>
          <a:prstGeom prst="line">
            <a:avLst/>
          </a:prstGeom>
          <a:ln w="1524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522561" y="1353312"/>
            <a:ext cx="2044598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22561" y="1353312"/>
            <a:ext cx="54864" cy="1097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59721" y="1463040"/>
            <a:ext cx="1815998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8FAFC"/>
                </a:solidFill>
                <a:latin typeface="Microsoft YaHei"/>
              </a:rPr>
              <a:t>输出特征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9721" y="1856232"/>
            <a:ext cx="1815998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CBD5E1"/>
                </a:solidFill>
                <a:latin typeface="Microsoft YaHei"/>
              </a:rPr>
              <a:t>H/4 H/8 H/16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2971800"/>
            <a:ext cx="5257800" cy="14630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" y="2971800"/>
            <a:ext cx="54864" cy="1463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3081528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Swin 的作用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3474720"/>
            <a:ext cx="502920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普通卷积更擅长局部；Swin 的窗口注意力能看见更大的上下文，帮助判断亮区是否是高光，以及高光后面应该恢复怎样的条纹结构。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2971800"/>
            <a:ext cx="4983480" cy="14630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2971800"/>
            <a:ext cx="54864" cy="14630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3081528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尺寸处理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3474720"/>
            <a:ext cx="47548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Swin 分支不强制把输入缩放到 224×224，而是直接处理训练/推理 patch。高宽不能被 32 整除时，只在右侧和下侧 padding。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1097280" y="4892040"/>
          <a:ext cx="996696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1554480"/>
                <a:gridCol w="5394960"/>
              </a:tblGrid>
              <a:tr h="262890">
                <a:tc>
                  <a:txBody>
                    <a:bodyPr/>
                    <a:lstStyle/>
                    <a:p>
                      <a:pPr algn="ctr"/>
                      <a:r>
                        <a:rPr sz="910" b="1">
                          <a:solidFill>
                            <a:srgbClr val="F8FAFC"/>
                          </a:solidFill>
                          <a:latin typeface="Microsoft YaHei"/>
                        </a:rPr>
                        <a:t>输出</a:t>
                      </a:r>
                    </a:p>
                  </a:txBody>
                  <a:tcPr marL="45720" marR="45720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0" b="1">
                          <a:solidFill>
                            <a:srgbClr val="F8FAFC"/>
                          </a:solidFill>
                          <a:latin typeface="Microsoft YaHei"/>
                        </a:rPr>
                        <a:t>通道</a:t>
                      </a:r>
                    </a:p>
                  </a:txBody>
                  <a:tcPr marL="45720" marR="45720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0" b="1">
                          <a:solidFill>
                            <a:srgbClr val="F8FAFC"/>
                          </a:solidFill>
                          <a:latin typeface="Microsoft YaHei"/>
                        </a:rPr>
                        <a:t>分辨率</a:t>
                      </a:r>
                    </a:p>
                  </a:txBody>
                  <a:tcPr marL="45720" marR="45720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0" b="1">
                          <a:solidFill>
                            <a:srgbClr val="F8FAFC"/>
                          </a:solidFill>
                          <a:latin typeface="Microsoft YaHei"/>
                        </a:rPr>
                        <a:t>后续用途</a:t>
                      </a:r>
                    </a:p>
                  </a:txBody>
                  <a:tcPr marL="45720" marR="45720" marT="27432" marB="27432">
                    <a:solidFill>
                      <a:srgbClr val="1E293B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CBD5E1"/>
                          </a:solidFill>
                          <a:latin typeface="Microsoft YaHei"/>
                        </a:rPr>
                        <a:t>swin_4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CBD5E1"/>
                          </a:solidFill>
                          <a:latin typeface="Microsoft YaHei"/>
                        </a:rPr>
                        <a:t>96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CBD5E1"/>
                          </a:solidFill>
                          <a:latin typeface="Microsoft YaHei"/>
                        </a:rPr>
                        <a:t>H/4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CBD5E1"/>
                          </a:solidFill>
                          <a:latin typeface="Microsoft YaHei"/>
                        </a:rPr>
                        <a:t>与 x_bb_2 做 AdaptiveSkipFusion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CBD5E1"/>
                          </a:solidFill>
                          <a:latin typeface="Microsoft YaHei"/>
                        </a:rPr>
                        <a:t>swin_8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CBD5E1"/>
                          </a:solidFill>
                          <a:latin typeface="Microsoft YaHei"/>
                        </a:rPr>
                        <a:t>192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CBD5E1"/>
                          </a:solidFill>
                          <a:latin typeface="Microsoft YaHei"/>
                        </a:rPr>
                        <a:t>H/8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CBD5E1"/>
                          </a:solidFill>
                          <a:latin typeface="Microsoft YaHei"/>
                        </a:rPr>
                        <a:t>与 x_bb_3 做 AdaptiveSkipFusion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CBD5E1"/>
                          </a:solidFill>
                          <a:latin typeface="Microsoft YaHei"/>
                        </a:rPr>
                        <a:t>swin_16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CBD5E1"/>
                          </a:solidFill>
                          <a:latin typeface="Microsoft YaHei"/>
                        </a:rPr>
                        <a:t>384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CBD5E1"/>
                          </a:solidFill>
                          <a:latin typeface="Microsoft YaHei"/>
                        </a:rPr>
                        <a:t>H/16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CBD5E1"/>
                          </a:solidFill>
                          <a:latin typeface="Microsoft YaHei"/>
                        </a:rPr>
                        <a:t>投影到 512 后做 CrossModalFusion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3 · SKIP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AdaptiveSkipFusion：把 Swin 上下文注入浅中层 skip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325880"/>
            <a:ext cx="5029200" cy="11887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508760"/>
            <a:ext cx="4700016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8FAFC"/>
                </a:solidFill>
                <a:latin typeface="Cambria Math"/>
              </a:rPr>
              <a:t>fused = res_feat + β · gate · swin_proj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30552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ResNet 特征为主，Swin 特征作为可控残差注入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252728"/>
            <a:ext cx="919886" cy="13258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1252728"/>
            <a:ext cx="54864" cy="13258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362456"/>
            <a:ext cx="69128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8FAFC"/>
                </a:solidFill>
                <a:latin typeface="Microsoft YaHei"/>
              </a:rPr>
              <a:t>swin_feat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755648"/>
            <a:ext cx="691286" cy="7315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CBD5E1"/>
                </a:solidFill>
                <a:latin typeface="Microsoft YaHei"/>
              </a:rPr>
              <a:t>96/192ch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00646" y="1915668"/>
            <a:ext cx="164592" cy="0"/>
          </a:xfrm>
          <a:prstGeom prst="line">
            <a:avLst/>
          </a:prstGeom>
          <a:ln w="1524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165238" y="1252728"/>
            <a:ext cx="919886" cy="13258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65238" y="1252728"/>
            <a:ext cx="54864" cy="1325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02398" y="1362456"/>
            <a:ext cx="69128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8FAFC"/>
                </a:solidFill>
                <a:latin typeface="Microsoft YaHei"/>
              </a:rPr>
              <a:t>swin_proj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2398" y="1755648"/>
            <a:ext cx="691286" cy="7315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CBD5E1"/>
                </a:solidFill>
                <a:latin typeface="Microsoft YaHei"/>
              </a:rPr>
              <a:t>1×1 投影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85124" y="1915668"/>
            <a:ext cx="164592" cy="0"/>
          </a:xfrm>
          <a:prstGeom prst="line">
            <a:avLst/>
          </a:prstGeom>
          <a:ln w="1524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49716" y="1252728"/>
            <a:ext cx="919886" cy="13258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49716" y="1252728"/>
            <a:ext cx="54864" cy="1325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6876" y="1362456"/>
            <a:ext cx="69128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8FAFC"/>
                </a:solidFill>
                <a:latin typeface="Microsoft YaHei"/>
              </a:rPr>
              <a:t>concat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6876" y="1755648"/>
            <a:ext cx="691286" cy="7315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CBD5E1"/>
                </a:solidFill>
                <a:latin typeface="Microsoft YaHei"/>
              </a:rPr>
              <a:t>res + swin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69603" y="1915668"/>
            <a:ext cx="164592" cy="0"/>
          </a:xfrm>
          <a:prstGeom prst="line">
            <a:avLst/>
          </a:prstGeom>
          <a:ln w="152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334195" y="1252728"/>
            <a:ext cx="919886" cy="13258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34195" y="1252728"/>
            <a:ext cx="54864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71355" y="1362456"/>
            <a:ext cx="69128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8FAFC"/>
                </a:solidFill>
                <a:latin typeface="Microsoft YaHei"/>
              </a:rPr>
              <a:t>gate_net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1355" y="1755648"/>
            <a:ext cx="691286" cy="7315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CBD5E1"/>
                </a:solidFill>
                <a:latin typeface="Microsoft YaHei"/>
              </a:rPr>
              <a:t>生成门控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254081" y="1915668"/>
            <a:ext cx="164592" cy="0"/>
          </a:xfrm>
          <a:prstGeom prst="line">
            <a:avLst/>
          </a:prstGeom>
          <a:ln w="152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418673" y="1252728"/>
            <a:ext cx="919886" cy="13258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418673" y="1252728"/>
            <a:ext cx="54864" cy="1325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55833" y="1362456"/>
            <a:ext cx="69128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8FAFC"/>
                </a:solidFill>
                <a:latin typeface="Microsoft YaHei"/>
              </a:rPr>
              <a:t>residual add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55833" y="1755648"/>
            <a:ext cx="691286" cy="7315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CBD5E1"/>
                </a:solidFill>
                <a:latin typeface="Microsoft YaHei"/>
              </a:rPr>
              <a:t>受 β 控制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3154680"/>
            <a:ext cx="5029200" cy="141732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" y="3154680"/>
            <a:ext cx="54864" cy="1417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3264408"/>
            <a:ext cx="4800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在模型中的位置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3657600"/>
            <a:ext cx="4800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H/4：fuse_h4(x_bb_2, swin_4)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H/8：fuse_h8(x_bb_3, swin_8)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它们作用于 skip 特征，使后续解码器获得更丰富的上下文。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3154680"/>
            <a:ext cx="5074920" cy="141732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72200" y="3154680"/>
            <a:ext cx="54864" cy="1417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3264408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具体意义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3657600"/>
            <a:ext cx="48463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不是简单拼接，而是用 gate 和 β 控制注入强度，避免 Transformer 上下文破坏卷积特征的边缘定位能力。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166360"/>
            <a:ext cx="102870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>
                <a:solidFill>
                  <a:srgbClr val="CBD5E1"/>
                </a:solidFill>
                <a:latin typeface="Microsoft YaHei"/>
              </a:rPr>
              <a:t>可以理解为：ResNet 提供“精确局部坐标”，Swin 提供“周围上下文判断”，AdaptiveSkipFusion 决定每个区域需要多少上下文。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3 · CROSS MODAL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CrossModalFusion：H/16 CNN-Transformer 双向融合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2011680" cy="9144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54864" cy="914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38528"/>
            <a:ext cx="1783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F8FAFC"/>
                </a:solidFill>
                <a:latin typeface="Microsoft YaHei"/>
              </a:rPr>
              <a:t>CNN H/16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31720"/>
            <a:ext cx="1783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CBD5E1"/>
                </a:solidFill>
                <a:latin typeface="Microsoft YaHei"/>
              </a:rPr>
              <a:t>x_bb_4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CBD5E1"/>
                </a:solidFill>
                <a:latin typeface="Microsoft YaHei"/>
              </a:rPr>
              <a:t>局部纹理强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657600"/>
            <a:ext cx="2011680" cy="9144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657600"/>
            <a:ext cx="54864" cy="91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67328"/>
            <a:ext cx="1783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F8FAFC"/>
                </a:solidFill>
                <a:latin typeface="Microsoft YaHei"/>
              </a:rPr>
              <a:t>Swin H/16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1783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CBD5E1"/>
                </a:solidFill>
                <a:latin typeface="Microsoft YaHei"/>
              </a:rPr>
              <a:t>swin16_proj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CBD5E1"/>
                </a:solidFill>
                <a:latin typeface="Microsoft YaHei"/>
              </a:rPr>
              <a:t>上下文强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1554480"/>
            <a:ext cx="2148840" cy="9144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0" y="1554480"/>
            <a:ext cx="54864" cy="914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94760" y="1664207"/>
            <a:ext cx="1920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8FAFC"/>
                </a:solidFill>
                <a:latin typeface="Microsoft YaHei"/>
              </a:rPr>
              <a:t>CNN → Swin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2057400"/>
            <a:ext cx="1920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CBD5E1"/>
                </a:solidFill>
                <a:latin typeface="Microsoft YaHei"/>
              </a:rPr>
              <a:t>CNN 作 Query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CBD5E1"/>
                </a:solidFill>
                <a:latin typeface="Microsoft YaHei"/>
              </a:rPr>
              <a:t>Swin 作 Key/Value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931920"/>
            <a:ext cx="2148840" cy="9144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0" y="3931920"/>
            <a:ext cx="54864" cy="91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4760" y="4041648"/>
            <a:ext cx="1920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8FAFC"/>
                </a:solidFill>
                <a:latin typeface="Microsoft YaHei"/>
              </a:rPr>
              <a:t>Swin → CNN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4434840"/>
            <a:ext cx="1920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CBD5E1"/>
                </a:solidFill>
                <a:latin typeface="Microsoft YaHei"/>
              </a:rPr>
              <a:t>Swin 作 Query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CBD5E1"/>
                </a:solidFill>
                <a:latin typeface="Microsoft YaHei"/>
              </a:rPr>
              <a:t>CNN 作 Key/Value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2514600"/>
            <a:ext cx="2057400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29400" y="2514600"/>
            <a:ext cx="54864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2624328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8FAFC"/>
                </a:solidFill>
                <a:latin typeface="Microsoft YaHei"/>
              </a:rPr>
              <a:t>门控融合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017520"/>
            <a:ext cx="1828800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CBD5E1"/>
                </a:solidFill>
                <a:latin typeface="Microsoft YaHei"/>
              </a:rPr>
              <a:t>gate * c2ctx</a:t>
            </a:r>
          </a:p>
          <a:p>
            <a:pPr algn="l">
              <a:lnSpc>
                <a:spcPct val="105000"/>
              </a:lnSpc>
            </a:pPr>
            <a:r>
              <a:rPr sz="919" b="0">
                <a:solidFill>
                  <a:srgbClr val="CBD5E1"/>
                </a:solidFill>
                <a:latin typeface="Microsoft YaHei"/>
              </a:rPr>
              <a:t>+</a:t>
            </a:r>
          </a:p>
          <a:p>
            <a:pPr algn="l">
              <a:lnSpc>
                <a:spcPct val="105000"/>
              </a:lnSpc>
            </a:pPr>
            <a:r>
              <a:rPr sz="919" b="0">
                <a:solidFill>
                  <a:srgbClr val="CBD5E1"/>
                </a:solidFill>
                <a:latin typeface="Microsoft YaHei"/>
              </a:rPr>
              <a:t>(1-gate) * ctx2c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64040" y="2514600"/>
            <a:ext cx="1828800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64040" y="2514600"/>
            <a:ext cx="54864" cy="1097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2624328"/>
            <a:ext cx="1600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8FAFC"/>
                </a:solidFill>
                <a:latin typeface="Microsoft YaHei"/>
              </a:rPr>
              <a:t>final_proj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3017520"/>
            <a:ext cx="1600200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CBD5E1"/>
                </a:solidFill>
                <a:latin typeface="Microsoft YaHei"/>
              </a:rPr>
              <a:t>局部卷积精炼</a:t>
            </a:r>
          </a:p>
          <a:p>
            <a:pPr algn="l">
              <a:lnSpc>
                <a:spcPct val="105000"/>
              </a:lnSpc>
            </a:pPr>
            <a:r>
              <a:rPr sz="919" b="0">
                <a:solidFill>
                  <a:srgbClr val="CBD5E1"/>
                </a:solidFill>
                <a:latin typeface="Microsoft YaHei"/>
              </a:rPr>
              <a:t>输出 512ch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2788920" y="2011680"/>
            <a:ext cx="868680" cy="274320"/>
          </a:xfrm>
          <a:prstGeom prst="line">
            <a:avLst/>
          </a:prstGeom>
          <a:ln w="1397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788920" y="4114800"/>
            <a:ext cx="868680" cy="274320"/>
          </a:xfrm>
          <a:prstGeom prst="line">
            <a:avLst/>
          </a:prstGeom>
          <a:ln w="1397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806440" y="2011680"/>
            <a:ext cx="822960" cy="868680"/>
          </a:xfrm>
          <a:prstGeom prst="line">
            <a:avLst/>
          </a:prstGeom>
          <a:ln w="1397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806440" y="3246120"/>
            <a:ext cx="822960" cy="1143000"/>
          </a:xfrm>
          <a:prstGeom prst="line">
            <a:avLst/>
          </a:prstGeom>
          <a:ln w="1397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686800" y="3063240"/>
            <a:ext cx="777240" cy="0"/>
          </a:xfrm>
          <a:prstGeom prst="line">
            <a:avLst/>
          </a:prstGeom>
          <a:ln w="1397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14400" y="5321808"/>
            <a:ext cx="10424160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>
                <a:solidFill>
                  <a:srgbClr val="CBD5E1"/>
                </a:solidFill>
                <a:latin typeface="Microsoft YaHei"/>
              </a:rPr>
              <a:t>作用：让深层瓶颈同时具备 CNN 的纹理定位能力和 Swin 的窗口上下文判断能力，是后续 FFC 和主解码器的语义入口。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3 · TOP-DOWN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CrossScaleTopDownRefinement：把深层语义回流到浅层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53312"/>
            <a:ext cx="2026310" cy="11430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53312"/>
            <a:ext cx="54864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179771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8FAFC"/>
                </a:solidFill>
                <a:latin typeface="Microsoft YaHei"/>
              </a:rPr>
              <a:t>H/16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56232"/>
            <a:ext cx="179771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CBD5E1"/>
                </a:solidFill>
                <a:latin typeface="Microsoft YaHei"/>
              </a:rPr>
              <a:t>全局语义</a:t>
            </a:r>
          </a:p>
          <a:p>
            <a:pPr algn="l">
              <a:lnSpc>
                <a:spcPct val="105000"/>
              </a:lnSpc>
            </a:pPr>
            <a:r>
              <a:rPr sz="850" b="0">
                <a:solidFill>
                  <a:srgbClr val="CBD5E1"/>
                </a:solidFill>
                <a:latin typeface="Microsoft YaHei"/>
              </a:rPr>
              <a:t>高光上下文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57830" y="1924812"/>
            <a:ext cx="164592" cy="0"/>
          </a:xfrm>
          <a:prstGeom prst="line">
            <a:avLst/>
          </a:prstGeom>
          <a:ln w="152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22422" y="1353312"/>
            <a:ext cx="2026310" cy="11430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22422" y="1353312"/>
            <a:ext cx="54864" cy="1143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59582" y="1463040"/>
            <a:ext cx="179771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8FAFC"/>
                </a:solidFill>
                <a:latin typeface="Microsoft YaHei"/>
              </a:rPr>
              <a:t>上采样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9582" y="1856232"/>
            <a:ext cx="179771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CBD5E1"/>
                </a:solidFill>
                <a:latin typeface="Microsoft YaHei"/>
              </a:rPr>
              <a:t>对齐 H/8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48732" y="1924812"/>
            <a:ext cx="164592" cy="0"/>
          </a:xfrm>
          <a:prstGeom prst="line">
            <a:avLst/>
          </a:prstGeom>
          <a:ln w="1524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13324" y="1353312"/>
            <a:ext cx="2026310" cy="11430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13324" y="1353312"/>
            <a:ext cx="54864" cy="1143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0484" y="1463040"/>
            <a:ext cx="179771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8FAFC"/>
                </a:solidFill>
                <a:latin typeface="Microsoft YaHei"/>
              </a:rPr>
              <a:t>注入 H/8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0484" y="1856232"/>
            <a:ext cx="179771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CBD5E1"/>
                </a:solidFill>
                <a:latin typeface="Microsoft YaHei"/>
              </a:rPr>
              <a:t>gate + γ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39635" y="1924812"/>
            <a:ext cx="164592" cy="0"/>
          </a:xfrm>
          <a:prstGeom prst="line">
            <a:avLst/>
          </a:prstGeom>
          <a:ln w="1524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04227" y="1353312"/>
            <a:ext cx="2026310" cy="11430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04227" y="1353312"/>
            <a:ext cx="54864" cy="1143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1387" y="1463040"/>
            <a:ext cx="179771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8FAFC"/>
                </a:solidFill>
                <a:latin typeface="Microsoft YaHei"/>
              </a:rPr>
              <a:t>上采样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1387" y="1856232"/>
            <a:ext cx="179771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CBD5E1"/>
                </a:solidFill>
                <a:latin typeface="Microsoft YaHei"/>
              </a:rPr>
              <a:t>对齐 H/4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30537" y="1924812"/>
            <a:ext cx="164592" cy="0"/>
          </a:xfrm>
          <a:prstGeom prst="line">
            <a:avLst/>
          </a:prstGeom>
          <a:ln w="1524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95129" y="1353312"/>
            <a:ext cx="2026310" cy="11430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95129" y="1353312"/>
            <a:ext cx="54864" cy="1143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32289" y="1463040"/>
            <a:ext cx="179771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8FAFC"/>
                </a:solidFill>
                <a:latin typeface="Microsoft YaHei"/>
              </a:rPr>
              <a:t>注入 H/4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2289" y="1856232"/>
            <a:ext cx="179771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CBD5E1"/>
                </a:solidFill>
                <a:latin typeface="Microsoft YaHei"/>
              </a:rPr>
              <a:t>gate + γ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2971800"/>
            <a:ext cx="5349240" cy="141732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" y="2971800"/>
            <a:ext cx="54864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3081528"/>
            <a:ext cx="5120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为什么需要顶向回流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3474720"/>
            <a:ext cx="51206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高光是否该被移除，往往需要深层上下文；但恢复条纹位置又依赖浅层精细边缘。顶向回流把深层判断反馈给 H/8、H/4。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2971800"/>
            <a:ext cx="4846320" cy="141732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2971800"/>
            <a:ext cx="54864" cy="1417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3081528"/>
            <a:ext cx="4617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gate 与 γ 的意义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3474720"/>
            <a:ext cx="46177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gate 决定哪里注入；γ 控制注入强度。这样可以避免深层语义过度覆盖浅层的精确纹理。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23160" y="4919472"/>
            <a:ext cx="7315200" cy="8686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87752" y="5102352"/>
            <a:ext cx="6986016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8FAFC"/>
                </a:solidFill>
                <a:latin typeface="Cambria Math"/>
              </a:rPr>
              <a:t>h_l ← h_l + γ · gate · up(h_deep)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51760" y="5724144"/>
            <a:ext cx="6858000" cy="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浅层特征 = 原始浅层 + 受控的深层上下文残差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9080" y="0"/>
            <a:ext cx="4114800" cy="6858000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38160" y="0"/>
            <a:ext cx="41148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94A3B8"/>
                </a:solidFill>
                <a:latin typeface="Microsoft YaHei"/>
              </a:rPr>
              <a:t>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914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>
                <a:solidFill>
                  <a:srgbClr val="38BDF8"/>
                </a:solidFill>
                <a:latin typeface="Microsoft YaHei"/>
              </a:rPr>
              <a:t>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64208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3100" b="1">
                <a:solidFill>
                  <a:srgbClr val="F8FAFC"/>
                </a:solidFill>
                <a:latin typeface="Microsoft YaHei"/>
              </a:rPr>
              <a:t>FFC 频域核心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2578608"/>
            <a:ext cx="8961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CBD5E1"/>
                </a:solidFill>
                <a:latin typeface="Microsoft YaHei"/>
              </a:rPr>
              <a:t>FourierUnit、SpectralTransform 和 FFC_BN_ACT 让模型在空间域与频域之间交互，捕获条纹周期和全局高光模式。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3337560"/>
            <a:ext cx="804672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4 · FFC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FourierUnit：空间 → 频域 → 空间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1472184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4864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435607"/>
            <a:ext cx="124358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1">
                <a:solidFill>
                  <a:srgbClr val="F8FAFC"/>
                </a:solidFill>
                <a:latin typeface="Microsoft YaHei"/>
              </a:rPr>
              <a:t>输入特征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28800"/>
            <a:ext cx="1243584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19" b="0">
                <a:solidFill>
                  <a:srgbClr val="CBD5E1"/>
                </a:solidFill>
                <a:latin typeface="Microsoft YaHei"/>
              </a:rPr>
              <a:t>空间域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29384" y="1851660"/>
            <a:ext cx="164592" cy="0"/>
          </a:xfrm>
          <a:prstGeom prst="line">
            <a:avLst/>
          </a:prstGeom>
          <a:ln w="152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93976" y="1325880"/>
            <a:ext cx="1472184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93976" y="1325880"/>
            <a:ext cx="54864" cy="10515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31136" y="1435607"/>
            <a:ext cx="124358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1">
                <a:solidFill>
                  <a:srgbClr val="F8FAFC"/>
                </a:solidFill>
                <a:latin typeface="Microsoft YaHei"/>
              </a:rPr>
              <a:t>Tukey 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31136" y="1828800"/>
            <a:ext cx="1243584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19" b="0">
                <a:solidFill>
                  <a:srgbClr val="CBD5E1"/>
                </a:solidFill>
                <a:latin typeface="Microsoft YaHei"/>
              </a:rPr>
              <a:t>减少泄漏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66160" y="1851660"/>
            <a:ext cx="164592" cy="0"/>
          </a:xfrm>
          <a:prstGeom prst="line">
            <a:avLst/>
          </a:prstGeom>
          <a:ln w="1524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730752" y="1325880"/>
            <a:ext cx="1472184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30752" y="1325880"/>
            <a:ext cx="54864" cy="10515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67912" y="1435607"/>
            <a:ext cx="124358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1">
                <a:solidFill>
                  <a:srgbClr val="F8FAFC"/>
                </a:solidFill>
                <a:latin typeface="Microsoft YaHei"/>
              </a:rPr>
              <a:t>rFFT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67912" y="1828800"/>
            <a:ext cx="1243584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19" b="0">
                <a:solidFill>
                  <a:srgbClr val="CBD5E1"/>
                </a:solidFill>
                <a:latin typeface="Microsoft YaHei"/>
              </a:rPr>
              <a:t>进入频域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202936" y="1851660"/>
            <a:ext cx="164591" cy="0"/>
          </a:xfrm>
          <a:prstGeom prst="line">
            <a:avLst/>
          </a:prstGeom>
          <a:ln w="1524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367527" y="1325880"/>
            <a:ext cx="1472184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67527" y="1325880"/>
            <a:ext cx="54864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04688" y="1435607"/>
            <a:ext cx="124358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1">
                <a:solidFill>
                  <a:srgbClr val="F8FAFC"/>
                </a:solidFill>
                <a:latin typeface="Microsoft YaHei"/>
              </a:rPr>
              <a:t>real/imag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04688" y="1828800"/>
            <a:ext cx="1243584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19" b="0">
                <a:solidFill>
                  <a:srgbClr val="CBD5E1"/>
                </a:solidFill>
                <a:latin typeface="Microsoft YaHei"/>
              </a:rPr>
              <a:t>通道拼接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39711" y="1851660"/>
            <a:ext cx="164592" cy="0"/>
          </a:xfrm>
          <a:prstGeom prst="line">
            <a:avLst/>
          </a:prstGeom>
          <a:ln w="1524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004303" y="1325880"/>
            <a:ext cx="1472184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04303" y="1325880"/>
            <a:ext cx="54864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41464" y="1435607"/>
            <a:ext cx="124358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1">
                <a:solidFill>
                  <a:srgbClr val="F8FAFC"/>
                </a:solidFill>
                <a:latin typeface="Microsoft YaHei"/>
              </a:rPr>
              <a:t>1×1 Conv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41464" y="1828800"/>
            <a:ext cx="1243584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19" b="0">
                <a:solidFill>
                  <a:srgbClr val="CBD5E1"/>
                </a:solidFill>
                <a:latin typeface="Microsoft YaHei"/>
              </a:rPr>
              <a:t>频域学习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476488" y="1851660"/>
            <a:ext cx="164592" cy="0"/>
          </a:xfrm>
          <a:prstGeom prst="line">
            <a:avLst/>
          </a:prstGeom>
          <a:ln w="152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641080" y="1325880"/>
            <a:ext cx="1472184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641080" y="1325880"/>
            <a:ext cx="54864" cy="10515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0" y="1435607"/>
            <a:ext cx="124358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1">
                <a:solidFill>
                  <a:srgbClr val="F8FAFC"/>
                </a:solidFill>
                <a:latin typeface="Microsoft YaHei"/>
              </a:rPr>
              <a:t>SE 注意力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1828800"/>
            <a:ext cx="1243584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19" b="0">
                <a:solidFill>
                  <a:srgbClr val="CBD5E1"/>
                </a:solidFill>
                <a:latin typeface="Microsoft YaHei"/>
              </a:rPr>
              <a:t>频段选择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113263" y="1851660"/>
            <a:ext cx="164592" cy="0"/>
          </a:xfrm>
          <a:prstGeom prst="line">
            <a:avLst/>
          </a:prstGeom>
          <a:ln w="1524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0277855" y="1325880"/>
            <a:ext cx="1472184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277855" y="1325880"/>
            <a:ext cx="54864" cy="1051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15015" y="1435607"/>
            <a:ext cx="124358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1">
                <a:solidFill>
                  <a:srgbClr val="F8FAFC"/>
                </a:solidFill>
                <a:latin typeface="Microsoft YaHei"/>
              </a:rPr>
              <a:t>irFFT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15015" y="1828800"/>
            <a:ext cx="1243584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19" b="0">
                <a:solidFill>
                  <a:srgbClr val="CBD5E1"/>
                </a:solidFill>
                <a:latin typeface="Microsoft YaHei"/>
              </a:rPr>
              <a:t>回到空间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9808" y="2788920"/>
            <a:ext cx="5257800" cy="141732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49808" y="2788920"/>
            <a:ext cx="54864" cy="1417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6968" y="2898648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结构作用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" y="3291839"/>
            <a:ext cx="50292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FourierUnit 是 FFC 的最小频域单元。它把空间特征转换到频域，对实部和虚部做 1×1 卷积，再通过 irFFT 回到空间。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91072" y="2788920"/>
            <a:ext cx="4983480" cy="141732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91072" y="2788920"/>
            <a:ext cx="54864" cy="1417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28232" y="2898648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具体意义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28232" y="3291839"/>
            <a:ext cx="47548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条纹图像具有明显周期性，高光也常呈局部强频率扰动。频域建模能帮助网络在更全局的尺度上识别和修正这些结构。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280160" y="4709160"/>
            <a:ext cx="946404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63039" y="4818888"/>
            <a:ext cx="90982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38BDF8"/>
                </a:solidFill>
                <a:latin typeface="Microsoft YaHei"/>
              </a:rPr>
              <a:t>FourierUnit 核心流程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44751" y="5111496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x_win = x * tukey_2d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ffted = torch.fft.rfftn(x_win)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ffted = concat(real, imag)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ffted = Conv1x1 + BN + GELU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ffted = ffted * freq_se(ffted)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out = torch.fft.irfftn(ffted)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4 · SPECTRAL TRANSFORM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SpectralTransform：全局 FU 与局部 LFU 门控融合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353312"/>
            <a:ext cx="1684020" cy="1078992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53312"/>
            <a:ext cx="54864" cy="10789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63040"/>
            <a:ext cx="14554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8FAFC"/>
                </a:solidFill>
                <a:latin typeface="Microsoft YaHei"/>
              </a:rPr>
              <a:t>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856232"/>
            <a:ext cx="1455420" cy="484631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CBD5E1"/>
                </a:solidFill>
                <a:latin typeface="Microsoft YaHei"/>
              </a:rPr>
              <a:t>feature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24100" y="1892807"/>
            <a:ext cx="164592" cy="0"/>
          </a:xfrm>
          <a:prstGeom prst="line">
            <a:avLst/>
          </a:prstGeom>
          <a:ln w="152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88692" y="1353312"/>
            <a:ext cx="1684020" cy="1078992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88692" y="1353312"/>
            <a:ext cx="54864" cy="10789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25852" y="1463040"/>
            <a:ext cx="14554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8FAFC"/>
                </a:solidFill>
                <a:latin typeface="Microsoft YaHei"/>
              </a:rPr>
              <a:t>1×1 降维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25852" y="1856232"/>
            <a:ext cx="1455420" cy="484631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CBD5E1"/>
                </a:solidFill>
                <a:latin typeface="Microsoft YaHei"/>
              </a:rPr>
              <a:t>减少计算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72712" y="1892807"/>
            <a:ext cx="164592" cy="0"/>
          </a:xfrm>
          <a:prstGeom prst="line">
            <a:avLst/>
          </a:prstGeom>
          <a:ln w="1524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37304" y="1353312"/>
            <a:ext cx="1684020" cy="1078992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7304" y="1353312"/>
            <a:ext cx="54864" cy="10789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74464" y="1463040"/>
            <a:ext cx="14554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8FAFC"/>
                </a:solidFill>
                <a:latin typeface="Microsoft YaHei"/>
              </a:rPr>
              <a:t>FU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4464" y="1856232"/>
            <a:ext cx="1455420" cy="484631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CBD5E1"/>
                </a:solidFill>
                <a:latin typeface="Microsoft YaHei"/>
              </a:rPr>
              <a:t>全局频域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21324" y="1892807"/>
            <a:ext cx="164592" cy="0"/>
          </a:xfrm>
          <a:prstGeom prst="line">
            <a:avLst/>
          </a:prstGeom>
          <a:ln w="1524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85916" y="1353312"/>
            <a:ext cx="1684020" cy="1078992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85916" y="1353312"/>
            <a:ext cx="54864" cy="10789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3076" y="1463040"/>
            <a:ext cx="14554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8FAFC"/>
                </a:solidFill>
                <a:latin typeface="Microsoft YaHei"/>
              </a:rPr>
              <a:t>LFU top/bot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3076" y="1856232"/>
            <a:ext cx="1455420" cy="484631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CBD5E1"/>
                </a:solidFill>
                <a:latin typeface="Microsoft YaHei"/>
              </a:rPr>
              <a:t>局部频域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869935" y="1892807"/>
            <a:ext cx="164592" cy="0"/>
          </a:xfrm>
          <a:prstGeom prst="line">
            <a:avLst/>
          </a:prstGeom>
          <a:ln w="152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034527" y="1353312"/>
            <a:ext cx="1684020" cy="1078992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34527" y="1353312"/>
            <a:ext cx="54864" cy="107899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1687" y="1463040"/>
            <a:ext cx="14554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8FAFC"/>
                </a:solidFill>
                <a:latin typeface="Microsoft YaHei"/>
              </a:rPr>
              <a:t>gate 融合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1687" y="1856232"/>
            <a:ext cx="1455420" cy="484631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CBD5E1"/>
                </a:solidFill>
                <a:latin typeface="Microsoft YaHei"/>
              </a:rPr>
              <a:t>自适应选择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718547" y="1892807"/>
            <a:ext cx="164592" cy="0"/>
          </a:xfrm>
          <a:prstGeom prst="line">
            <a:avLst/>
          </a:prstGeom>
          <a:ln w="1524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883139" y="1353312"/>
            <a:ext cx="1684020" cy="1078992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883139" y="1353312"/>
            <a:ext cx="54864" cy="10789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20299" y="1463040"/>
            <a:ext cx="14554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8FAFC"/>
                </a:solidFill>
                <a:latin typeface="Microsoft YaHei"/>
              </a:rPr>
              <a:t>1×1 升维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20299" y="1856232"/>
            <a:ext cx="1455420" cy="484631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CBD5E1"/>
                </a:solidFill>
                <a:latin typeface="Microsoft YaHei"/>
              </a:rPr>
              <a:t>输出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2971800"/>
            <a:ext cx="3291840" cy="12801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" y="2971800"/>
            <a:ext cx="54864" cy="12801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3081528"/>
            <a:ext cx="3063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FU 的角色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3474720"/>
            <a:ext cx="3063240" cy="6857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全局 FourierUnit 处理整张特征图，适合捕获大范围条纹周期和整片高光趋势。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34840" y="2971800"/>
            <a:ext cx="3246120" cy="12801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34840" y="2971800"/>
            <a:ext cx="54864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3081528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LFU 的角色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474720"/>
            <a:ext cx="3017520" cy="6857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局部 FourierUnit 将特征上下分块处理，强化局部频率变化和局部高反光边界。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01000" y="2971800"/>
            <a:ext cx="3246120" cy="12801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001000" y="2971800"/>
            <a:ext cx="54864" cy="1280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38160" y="3081528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gate 的角色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8160" y="3474720"/>
            <a:ext cx="3017520" cy="6857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融合门控决定每个位置更依赖全局频域还是局部频域，避免固定相加带来的信息冲突。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331720" y="4892040"/>
            <a:ext cx="7589520" cy="8686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96312" y="5074920"/>
            <a:ext cx="7260336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8FAFC"/>
                </a:solidFill>
                <a:latin typeface="Cambria Math"/>
              </a:rPr>
              <a:t>combined = gate · FU(x) + (1 - gate) · LFU(x)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60320" y="5696712"/>
            <a:ext cx="7132320" cy="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全局频域信息与局部频域信息的可学习融合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4 · FFC_BN_ACT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FFC_BN_ACT：局部 L 与全局 G 的四路交互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417320"/>
            <a:ext cx="228600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417320"/>
            <a:ext cx="54864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527048"/>
            <a:ext cx="2057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F8FAFC"/>
                </a:solidFill>
                <a:latin typeface="Microsoft YaHei"/>
              </a:rPr>
              <a:t>L2L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920240"/>
            <a:ext cx="205740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CBD5E1"/>
                </a:solidFill>
                <a:latin typeface="Microsoft YaHei"/>
              </a:rPr>
              <a:t>局部 → 局部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CBD5E1"/>
                </a:solidFill>
                <a:latin typeface="Microsoft YaHei"/>
              </a:rPr>
              <a:t>普通空间卷积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1417320"/>
            <a:ext cx="228600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0" y="1417320"/>
            <a:ext cx="54864" cy="10515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40" y="1527048"/>
            <a:ext cx="2057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F8FAFC"/>
                </a:solidFill>
                <a:latin typeface="Microsoft YaHei"/>
              </a:rPr>
              <a:t>L2G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1920240"/>
            <a:ext cx="205740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CBD5E1"/>
                </a:solidFill>
                <a:latin typeface="Microsoft YaHei"/>
              </a:rPr>
              <a:t>局部 → 全局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CBD5E1"/>
                </a:solidFill>
                <a:latin typeface="Microsoft YaHei"/>
              </a:rPr>
              <a:t>空间卷积投影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1417320"/>
            <a:ext cx="228600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1417320"/>
            <a:ext cx="54864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2057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F8FAFC"/>
                </a:solidFill>
                <a:latin typeface="Microsoft YaHei"/>
              </a:rPr>
              <a:t>G2L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1920240"/>
            <a:ext cx="205740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CBD5E1"/>
                </a:solidFill>
                <a:latin typeface="Microsoft YaHei"/>
              </a:rPr>
              <a:t>全局 → 局部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CBD5E1"/>
                </a:solidFill>
                <a:latin typeface="Microsoft YaHei"/>
              </a:rPr>
              <a:t>SpectralTransform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1417320"/>
            <a:ext cx="192024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92640" y="1417320"/>
            <a:ext cx="54864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29800" y="1527048"/>
            <a:ext cx="1691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F8FAFC"/>
                </a:solidFill>
                <a:latin typeface="Microsoft YaHei"/>
              </a:rPr>
              <a:t>G2G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1920240"/>
            <a:ext cx="169164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CBD5E1"/>
                </a:solidFill>
                <a:latin typeface="Microsoft YaHei"/>
              </a:rPr>
              <a:t>全局 → 全局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CBD5E1"/>
                </a:solidFill>
                <a:latin typeface="Microsoft YaHei"/>
              </a:rPr>
              <a:t>SpectralTransform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278892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>
                <a:solidFill>
                  <a:srgbClr val="CBD5E1"/>
                </a:solidFill>
                <a:latin typeface="Microsoft YaHei"/>
              </a:rPr>
              <a:t>输入特征被分为 local branch 与 global branch；四条路径互相交换信息，输出再经过 BN 和激活。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3474720"/>
            <a:ext cx="5257800" cy="13258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8680" y="3474720"/>
            <a:ext cx="54864" cy="1325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39" y="3584448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在模型中的位置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39" y="3977639"/>
            <a:ext cx="5029200" cy="7315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Encoder 的 ffc_bottleneck、GradientDecoder 的 H/16/H/8/H/4、MainDecoder 的多个层级、EnhancementLayers 的频域分支都会使用 FFC_BN_ACT。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474720"/>
            <a:ext cx="4892040" cy="13258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3474720"/>
            <a:ext cx="54864" cy="1325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3584448"/>
            <a:ext cx="46634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具体意义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3977639"/>
            <a:ext cx="4663440" cy="7315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空间卷积保留局部纹理；频域分支提供全局视野。二者共同解决条纹图像中“局部细节”和“整体周期结构”需要同时保留的问题。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31720" y="5166360"/>
            <a:ext cx="7589520" cy="749808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96312" y="5349240"/>
            <a:ext cx="7260336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8FAFC"/>
                </a:solidFill>
                <a:latin typeface="Cambria Math"/>
              </a:rPr>
              <a:t>out_L = L2L(x_L) + gate · G2L(x_G)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5971032"/>
            <a:ext cx="7132320" cy="-1188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跨域门控抑制频域噪声对空间分支的污染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4 · HFE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HighFrequencyEnhancement：瓶颈处强化边界与条纹高频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353312"/>
            <a:ext cx="166878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353312"/>
            <a:ext cx="54864" cy="10515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14401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1">
                <a:solidFill>
                  <a:srgbClr val="F8FAFC"/>
                </a:solidFill>
                <a:latin typeface="Microsoft YaHei"/>
              </a:rPr>
              <a:t>x_c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856232"/>
            <a:ext cx="144018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>
                <a:solidFill>
                  <a:srgbClr val="CBD5E1"/>
                </a:solidFill>
                <a:latin typeface="Microsoft YaHei"/>
              </a:rPr>
              <a:t>瓶颈特征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54580" y="1879091"/>
            <a:ext cx="164592" cy="0"/>
          </a:xfrm>
          <a:prstGeom prst="line">
            <a:avLst/>
          </a:prstGeom>
          <a:ln w="1524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519172" y="1353312"/>
            <a:ext cx="166878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19172" y="1353312"/>
            <a:ext cx="54864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6332" y="1463040"/>
            <a:ext cx="14401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1">
                <a:solidFill>
                  <a:srgbClr val="F8FAFC"/>
                </a:solidFill>
                <a:latin typeface="Microsoft YaHei"/>
              </a:rPr>
              <a:t>Laplacian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6332" y="1856232"/>
            <a:ext cx="144018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>
                <a:solidFill>
                  <a:srgbClr val="CBD5E1"/>
                </a:solidFill>
                <a:latin typeface="Microsoft YaHei"/>
              </a:rPr>
              <a:t>固定高频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87952" y="1879091"/>
            <a:ext cx="164592" cy="0"/>
          </a:xfrm>
          <a:prstGeom prst="line">
            <a:avLst/>
          </a:prstGeom>
          <a:ln w="152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52544" y="1353312"/>
            <a:ext cx="166878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52544" y="1353312"/>
            <a:ext cx="54864" cy="10515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9704" y="1463040"/>
            <a:ext cx="14401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1">
                <a:solidFill>
                  <a:srgbClr val="F8FAFC"/>
                </a:solidFill>
                <a:latin typeface="Microsoft YaHei"/>
              </a:rPr>
              <a:t>learn_hf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9704" y="1856232"/>
            <a:ext cx="144018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>
                <a:solidFill>
                  <a:srgbClr val="CBD5E1"/>
                </a:solidFill>
                <a:latin typeface="Microsoft YaHei"/>
              </a:rPr>
              <a:t>可学习高频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21324" y="1879091"/>
            <a:ext cx="164592" cy="0"/>
          </a:xfrm>
          <a:prstGeom prst="line">
            <a:avLst/>
          </a:prstGeom>
          <a:ln w="1524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85916" y="1353312"/>
            <a:ext cx="166878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85916" y="1353312"/>
            <a:ext cx="54864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3076" y="1463040"/>
            <a:ext cx="14401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1">
                <a:solidFill>
                  <a:srgbClr val="F8FAFC"/>
                </a:solidFill>
                <a:latin typeface="Microsoft YaHei"/>
              </a:rPr>
              <a:t>concat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3076" y="1856232"/>
            <a:ext cx="144018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>
                <a:solidFill>
                  <a:srgbClr val="CBD5E1"/>
                </a:solidFill>
                <a:latin typeface="Microsoft YaHei"/>
              </a:rPr>
              <a:t>x + 两路高频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854696" y="1879091"/>
            <a:ext cx="164592" cy="0"/>
          </a:xfrm>
          <a:prstGeom prst="line">
            <a:avLst/>
          </a:prstGeom>
          <a:ln w="152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019288" y="1353312"/>
            <a:ext cx="166878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9288" y="1353312"/>
            <a:ext cx="54864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56448" y="1463040"/>
            <a:ext cx="14401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1">
                <a:solidFill>
                  <a:srgbClr val="F8FAFC"/>
                </a:solidFill>
                <a:latin typeface="Microsoft YaHei"/>
              </a:rPr>
              <a:t>fusion + 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1856232"/>
            <a:ext cx="144018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>
                <a:solidFill>
                  <a:srgbClr val="CBD5E1"/>
                </a:solidFill>
                <a:latin typeface="Microsoft YaHei"/>
              </a:rPr>
              <a:t>通道选择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688067" y="1879091"/>
            <a:ext cx="164592" cy="0"/>
          </a:xfrm>
          <a:prstGeom prst="line">
            <a:avLst/>
          </a:prstGeom>
          <a:ln w="1524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852659" y="1353312"/>
            <a:ext cx="166878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852659" y="1353312"/>
            <a:ext cx="54864" cy="1051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89819" y="1463040"/>
            <a:ext cx="14401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1">
                <a:solidFill>
                  <a:srgbClr val="F8FAFC"/>
                </a:solidFill>
                <a:latin typeface="Microsoft YaHei"/>
              </a:rPr>
              <a:t>残差输出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89819" y="1856232"/>
            <a:ext cx="144018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>
                <a:solidFill>
                  <a:srgbClr val="CBD5E1"/>
                </a:solidFill>
                <a:latin typeface="Microsoft YaHei"/>
              </a:rPr>
              <a:t>x + γ·hf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2926080"/>
            <a:ext cx="5349240" cy="141732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" y="2926080"/>
            <a:ext cx="54864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3035808"/>
            <a:ext cx="5120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结构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3429000"/>
            <a:ext cx="51206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固定 Laplacian 分支捕获二阶边缘；可学习分支捕获数据驱动的高频模式；两者与原特征拼接后通过卷积和 SE 注意力融合。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46520" y="2926080"/>
            <a:ext cx="4800600" cy="141732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46520" y="2926080"/>
            <a:ext cx="54864" cy="1417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3035808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意义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3429000"/>
            <a:ext cx="45720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高光边界往往伴随强高频变化，条纹也以高频结构存在。HFE 在进入解码前强化这些信息，减少恢复过程中的边界模糊。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920240" y="4937760"/>
            <a:ext cx="8321040" cy="8686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84832" y="5120640"/>
            <a:ext cx="7991856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8FAFC"/>
                </a:solidFill>
                <a:latin typeface="Cambria Math"/>
              </a:rPr>
              <a:t>output = x + γ · SE(fusion([x, lap_hf, learn_hf]))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48840" y="5742432"/>
            <a:ext cx="7863840" cy="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受控残差高频增强，不直接覆盖原始瓶颈特征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9080" y="0"/>
            <a:ext cx="4114800" cy="6858000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38160" y="0"/>
            <a:ext cx="41148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94A3B8"/>
                </a:solidFill>
                <a:latin typeface="Microsoft YaHei"/>
              </a:rPr>
              <a:t>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914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>
                <a:solidFill>
                  <a:srgbClr val="14B8A6"/>
                </a:solidFill>
                <a:latin typeface="Microsoft YaHei"/>
              </a:rPr>
              <a:t>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64208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3100" b="1">
                <a:solidFill>
                  <a:srgbClr val="F8FAFC"/>
                </a:solidFill>
                <a:latin typeface="Microsoft YaHei"/>
              </a:rPr>
              <a:t>梯度分支与高光概率分支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2578608"/>
            <a:ext cx="8961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CBD5E1"/>
                </a:solidFill>
                <a:latin typeface="Microsoft YaHei"/>
              </a:rPr>
              <a:t>GradientDecoder 同时输出 g、s 和 xe1~xe4，让边界先验与高光先验参与后续增强和主解码。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3337560"/>
            <a:ext cx="804672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5 · GRADIENT DECODER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GradientDecoder：从编码特征解码 g / s / xe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1699260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325880"/>
            <a:ext cx="54864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x_c + x_bb_4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28800"/>
            <a:ext cx="1470660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深层融合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93620" y="1874519"/>
            <a:ext cx="164592" cy="0"/>
          </a:xfrm>
          <a:prstGeom prst="line">
            <a:avLst/>
          </a:prstGeom>
          <a:ln w="1524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58212" y="1325880"/>
            <a:ext cx="1699260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58212" y="1325880"/>
            <a:ext cx="54864" cy="109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5372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FFC H/16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5372" y="1828800"/>
            <a:ext cx="1470660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全局频域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57472" y="1874519"/>
            <a:ext cx="164592" cy="0"/>
          </a:xfrm>
          <a:prstGeom prst="line">
            <a:avLst/>
          </a:prstGeom>
          <a:ln w="1524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22064" y="1325880"/>
            <a:ext cx="1699260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2064" y="1325880"/>
            <a:ext cx="54864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9224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skip x_bb_3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9224" y="1828800"/>
            <a:ext cx="1470660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H/8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21324" y="1874519"/>
            <a:ext cx="164592" cy="0"/>
          </a:xfrm>
          <a:prstGeom prst="line">
            <a:avLst/>
          </a:prstGeom>
          <a:ln w="152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85916" y="1325880"/>
            <a:ext cx="1699260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85916" y="1325880"/>
            <a:ext cx="54864" cy="109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3076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FFC H/8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3076" y="1828800"/>
            <a:ext cx="1470660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中层频域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885176" y="1874519"/>
            <a:ext cx="164592" cy="0"/>
          </a:xfrm>
          <a:prstGeom prst="line">
            <a:avLst/>
          </a:prstGeom>
          <a:ln w="1524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049768" y="1325880"/>
            <a:ext cx="1699260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9768" y="1325880"/>
            <a:ext cx="54864" cy="10972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6928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skip x_bb_2/x_bb_1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6928" y="1828800"/>
            <a:ext cx="1470660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浅层细节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749028" y="1874519"/>
            <a:ext cx="164592" cy="0"/>
          </a:xfrm>
          <a:prstGeom prst="line">
            <a:avLst/>
          </a:prstGeom>
          <a:ln w="152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913620" y="1325880"/>
            <a:ext cx="1699260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13620" y="1325880"/>
            <a:ext cx="54864" cy="1097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0780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输出 g/s/xe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0780" y="1828800"/>
            <a:ext cx="1470660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先验与增强特征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2880360"/>
            <a:ext cx="3337560" cy="13258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" y="2880360"/>
            <a:ext cx="54864" cy="13258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2990088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输出 1：x_g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3383280"/>
            <a:ext cx="3108960" cy="7315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梯度图，监督目标为输入图像 Sobel 梯度。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它让网络显式学习边缘、条纹变化和高光边界。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34840" y="2880360"/>
            <a:ext cx="3337560" cy="13258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34840" y="2880360"/>
            <a:ext cx="54864" cy="13258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2990088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输出 2：x_s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383280"/>
            <a:ext cx="3108960" cy="7315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高光概率图，监督目标由 input-target 得到的 gt_specular。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它为后续模块提供高光位置的软 mask。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92440" y="2880360"/>
            <a:ext cx="3246120" cy="13258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092440" y="2880360"/>
            <a:ext cx="54864" cy="13258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0" y="2990088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输出 3：xe1~xe4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3383280"/>
            <a:ext cx="3017520" cy="7315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四级待增强特征。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它们会进入 EnhancementLayers，转化为主解码器使用的 enh1~enh4。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4892040"/>
            <a:ext cx="9875520" cy="594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25880" y="5001768"/>
            <a:ext cx="95097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38BDF8"/>
                </a:solidFill>
                <a:latin typeface="Microsoft YaHei"/>
              </a:rPr>
              <a:t>GradientDecoder.forward 返回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07592" y="5294376"/>
            <a:ext cx="9555480" cy="137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return x_to_be_enhanced_1, x_to_be_enhanced_2, x_to_be_enhanced_3, x_to_be_enhanced_4, x_g, x_s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5 · GRADIENT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梯度图 g：让模型看见边界和结构突变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298448"/>
            <a:ext cx="4663440" cy="11430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481328"/>
            <a:ext cx="4334255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8FAFC"/>
                </a:solidFill>
                <a:latin typeface="Cambria Math"/>
              </a:rPr>
              <a:t>gt_grad = Sobel(input_img)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103120"/>
            <a:ext cx="4206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训练时由输入图自动构造梯度监督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1298448"/>
            <a:ext cx="5349240" cy="11430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06440" y="1298448"/>
            <a:ext cx="54864" cy="1143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1408176"/>
            <a:ext cx="5120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为什么不是监督 target 的梯度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801368"/>
            <a:ext cx="51206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当前实现使用输入图 Sobel 梯度作为监督。高光边界、条纹边界和亮度突变都来自输入图，g 的任务是告诉后续模块“结构变化在哪里”。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063240"/>
            <a:ext cx="1907438" cy="10058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" y="3063240"/>
            <a:ext cx="54864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172968"/>
            <a:ext cx="1678838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8FAFC"/>
                </a:solidFill>
                <a:latin typeface="Microsoft YaHei"/>
              </a:rPr>
              <a:t>输入 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566160"/>
            <a:ext cx="1678838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CBD5E1"/>
                </a:solidFill>
                <a:latin typeface="Microsoft YaHei"/>
              </a:rPr>
              <a:t>灰度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67558" y="3566160"/>
            <a:ext cx="164592" cy="0"/>
          </a:xfrm>
          <a:prstGeom prst="line">
            <a:avLst/>
          </a:prstGeom>
          <a:ln w="152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032150" y="3063240"/>
            <a:ext cx="1907438" cy="10058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32150" y="3063240"/>
            <a:ext cx="54864" cy="10058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69310" y="3172968"/>
            <a:ext cx="1678838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8FAFC"/>
                </a:solidFill>
                <a:latin typeface="Microsoft YaHei"/>
              </a:rPr>
              <a:t>Sobel dx/dy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69310" y="3566160"/>
            <a:ext cx="1678838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CBD5E1"/>
                </a:solidFill>
                <a:latin typeface="Microsoft YaHei"/>
              </a:rPr>
              <a:t>梯度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939588" y="3566160"/>
            <a:ext cx="164592" cy="0"/>
          </a:xfrm>
          <a:prstGeom prst="line">
            <a:avLst/>
          </a:prstGeom>
          <a:ln w="1524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104180" y="3063240"/>
            <a:ext cx="1907438" cy="10058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04180" y="3063240"/>
            <a:ext cx="54864" cy="10058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41340" y="3172968"/>
            <a:ext cx="1678838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8FAFC"/>
                </a:solidFill>
                <a:latin typeface="Microsoft YaHei"/>
              </a:rPr>
              <a:t>magnitude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41340" y="3566160"/>
            <a:ext cx="1678838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CBD5E1"/>
                </a:solidFill>
                <a:latin typeface="Microsoft YaHei"/>
              </a:rPr>
              <a:t>幅值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11619" y="3566160"/>
            <a:ext cx="164592" cy="0"/>
          </a:xfrm>
          <a:prstGeom prst="line">
            <a:avLst/>
          </a:prstGeom>
          <a:ln w="1524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176211" y="3063240"/>
            <a:ext cx="1907438" cy="10058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76211" y="3063240"/>
            <a:ext cx="54864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3371" y="3172968"/>
            <a:ext cx="1678838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8FAFC"/>
                </a:solidFill>
                <a:latin typeface="Microsoft YaHei"/>
              </a:rPr>
              <a:t>normalize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3371" y="3566160"/>
            <a:ext cx="1678838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CBD5E1"/>
                </a:solidFill>
                <a:latin typeface="Microsoft YaHei"/>
              </a:rPr>
              <a:t>稳定范围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083649" y="3566160"/>
            <a:ext cx="164592" cy="0"/>
          </a:xfrm>
          <a:prstGeom prst="line">
            <a:avLst/>
          </a:prstGeom>
          <a:ln w="152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248241" y="3063240"/>
            <a:ext cx="1907438" cy="10058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48241" y="3063240"/>
            <a:ext cx="54864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85401" y="3172968"/>
            <a:ext cx="1678838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8FAFC"/>
                </a:solidFill>
                <a:latin typeface="Microsoft YaHei"/>
              </a:rPr>
              <a:t>监督 x_g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85401" y="3566160"/>
            <a:ext cx="1678838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CBD5E1"/>
                </a:solidFill>
                <a:latin typeface="Microsoft YaHei"/>
              </a:rPr>
              <a:t>SSIM + Edge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97280" y="4800600"/>
            <a:ext cx="9921240" cy="8686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97280" y="4800600"/>
            <a:ext cx="54864" cy="8686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34439" y="4910328"/>
            <a:ext cx="9692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在模型中的作用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39" y="5303520"/>
            <a:ext cx="9692640" cy="2743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g 会进入 EnhancementLayers 和 MainDecoder 的调制门控，帮助主路径在高光边界、条纹断裂和纹理突变处做更精细的修复。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5 · SPECULAR LIKELIHOOD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高光概率 s：把“哪里像高光”显式传给主路径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325880"/>
            <a:ext cx="2008022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325880"/>
            <a:ext cx="54864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35607"/>
            <a:ext cx="177942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8FAFC"/>
                </a:solidFill>
                <a:latin typeface="Microsoft YaHei"/>
              </a:rPr>
              <a:t>x_concat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1779422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CBD5E1"/>
                </a:solidFill>
                <a:latin typeface="Microsoft YaHei"/>
              </a:rPr>
              <a:t>decoder feature + x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85262" y="1851660"/>
            <a:ext cx="164592" cy="0"/>
          </a:xfrm>
          <a:prstGeom prst="line">
            <a:avLst/>
          </a:prstGeom>
          <a:ln w="152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49854" y="1325880"/>
            <a:ext cx="2008022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49854" y="1325880"/>
            <a:ext cx="54864" cy="10515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87014" y="1435607"/>
            <a:ext cx="177942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8FAFC"/>
                </a:solidFill>
                <a:latin typeface="Microsoft YaHei"/>
              </a:rPr>
              <a:t>Conv3×3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1828800"/>
            <a:ext cx="1779422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CBD5E1"/>
                </a:solidFill>
                <a:latin typeface="Microsoft YaHei"/>
              </a:rPr>
              <a:t>32ch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57876" y="1851660"/>
            <a:ext cx="164592" cy="0"/>
          </a:xfrm>
          <a:prstGeom prst="line">
            <a:avLst/>
          </a:prstGeom>
          <a:ln w="1524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22468" y="1325880"/>
            <a:ext cx="2008022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2468" y="1325880"/>
            <a:ext cx="54864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9628" y="1435607"/>
            <a:ext cx="177942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8FAFC"/>
                </a:solidFill>
                <a:latin typeface="Microsoft YaHei"/>
              </a:rPr>
              <a:t>Conv3×3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9628" y="1828800"/>
            <a:ext cx="1779422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CBD5E1"/>
                </a:solidFill>
                <a:latin typeface="Microsoft YaHei"/>
              </a:rPr>
              <a:t>16ch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30491" y="1851660"/>
            <a:ext cx="164592" cy="0"/>
          </a:xfrm>
          <a:prstGeom prst="line">
            <a:avLst/>
          </a:prstGeom>
          <a:ln w="1524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95083" y="1325880"/>
            <a:ext cx="2008022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5083" y="1325880"/>
            <a:ext cx="54864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32243" y="1435607"/>
            <a:ext cx="177942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8FAFC"/>
                </a:solidFill>
                <a:latin typeface="Microsoft YaHei"/>
              </a:rPr>
              <a:t>Conv5×5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32243" y="1828800"/>
            <a:ext cx="1779422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CBD5E1"/>
                </a:solidFill>
                <a:latin typeface="Microsoft YaHei"/>
              </a:rPr>
              <a:t>1ch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03105" y="1851660"/>
            <a:ext cx="164592" cy="0"/>
          </a:xfrm>
          <a:prstGeom prst="line">
            <a:avLst/>
          </a:prstGeom>
          <a:ln w="152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67697" y="1325880"/>
            <a:ext cx="2008022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67697" y="1325880"/>
            <a:ext cx="54864" cy="10515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4857" y="1435607"/>
            <a:ext cx="177942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8FAFC"/>
                </a:solidFill>
                <a:latin typeface="Microsoft YaHei"/>
              </a:rPr>
              <a:t>Sigmoid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4857" y="1828800"/>
            <a:ext cx="1779422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CBD5E1"/>
                </a:solidFill>
                <a:latin typeface="Microsoft YaHei"/>
              </a:rPr>
              <a:t>s ∈ [0,1]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2880360"/>
            <a:ext cx="512064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68680" y="2880360"/>
            <a:ext cx="54864" cy="1234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39" y="2990088"/>
            <a:ext cx="4892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监督目标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39" y="3383280"/>
            <a:ext cx="48920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gt_specular = clamp(input - target, 0, 1)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该图近似表示输入中比目标多出来的高反光成分。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2880360"/>
            <a:ext cx="489204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2880360"/>
            <a:ext cx="54864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2990088"/>
            <a:ext cx="46634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作用方式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383280"/>
            <a:ext cx="46634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s 不直接作为最终输出使用，而是进入增强层和主解码器门控，控制高光区域需要更强的特征调整。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057400" y="4892040"/>
            <a:ext cx="8046720" cy="8686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21992" y="5074920"/>
            <a:ext cx="7717536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8FAFC"/>
                </a:solidFill>
                <a:latin typeface="Cambria Math"/>
              </a:rPr>
              <a:t>s = sigmoid(spec_lik_head([decoder_feature, x]))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86000" y="5696712"/>
            <a:ext cx="7589520" cy="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高光概率图是可微的软先验，不是硬阈值 mask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9080" y="0"/>
            <a:ext cx="4114800" cy="6858000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38160" y="0"/>
            <a:ext cx="41148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94A3B8"/>
                </a:solidFill>
                <a:latin typeface="Microsoft YaHei"/>
              </a:rPr>
              <a:t>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914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>
                <a:solidFill>
                  <a:srgbClr val="8B5CF6"/>
                </a:solidFill>
                <a:latin typeface="Microsoft YaHei"/>
              </a:rPr>
              <a:t>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64208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3100" b="1">
                <a:solidFill>
                  <a:srgbClr val="F8FAFC"/>
                </a:solidFill>
                <a:latin typeface="Microsoft YaHei"/>
              </a:rPr>
              <a:t>增强层与高光感知模块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2578608"/>
            <a:ext cx="8961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CBD5E1"/>
                </a:solidFill>
                <a:latin typeface="Microsoft YaHei"/>
              </a:rPr>
              <a:t>EnhancementLayers 把 xe1~xe4 与 x/g/s 结合，生成主解码器所需的四级高光增强特征。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3337560"/>
            <a:ext cx="80467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6 · ENHANCEMENT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EnhancementLayers：将辅助先验转化为四级增强特征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1691639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54864" cy="10515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35607"/>
            <a:ext cx="1463039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xe1~xe4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828800"/>
            <a:ext cx="1463039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待增强特征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31720" y="1851660"/>
            <a:ext cx="164592" cy="0"/>
          </a:xfrm>
          <a:prstGeom prst="line">
            <a:avLst/>
          </a:prstGeom>
          <a:ln w="1524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96311" y="1325880"/>
            <a:ext cx="1691639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96311" y="1325880"/>
            <a:ext cx="54864" cy="10515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33471" y="1435607"/>
            <a:ext cx="1463039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g_map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33471" y="1828800"/>
            <a:ext cx="1463039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边界先验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87951" y="1851660"/>
            <a:ext cx="164592" cy="0"/>
          </a:xfrm>
          <a:prstGeom prst="line">
            <a:avLst/>
          </a:prstGeom>
          <a:ln w="1524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52544" y="1325880"/>
            <a:ext cx="1691639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52544" y="1325880"/>
            <a:ext cx="54864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9704" y="1435607"/>
            <a:ext cx="1463039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input 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9704" y="1828800"/>
            <a:ext cx="1463039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亮度先验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44183" y="1851660"/>
            <a:ext cx="164592" cy="0"/>
          </a:xfrm>
          <a:prstGeom prst="line">
            <a:avLst/>
          </a:prstGeom>
          <a:ln w="152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208776" y="1325880"/>
            <a:ext cx="1691639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8776" y="1325880"/>
            <a:ext cx="54864" cy="10515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5936" y="1435607"/>
            <a:ext cx="1463039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s_map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1828800"/>
            <a:ext cx="1463039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高光概率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00416" y="1851660"/>
            <a:ext cx="164592" cy="0"/>
          </a:xfrm>
          <a:prstGeom prst="line">
            <a:avLst/>
          </a:prstGeom>
          <a:ln w="1524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065007" y="1325880"/>
            <a:ext cx="1691639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65007" y="1325880"/>
            <a:ext cx="54864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02167" y="1435607"/>
            <a:ext cx="1463039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SpectralDecomp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2167" y="1828800"/>
            <a:ext cx="1463039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频域/空间分解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756647" y="1851660"/>
            <a:ext cx="164592" cy="0"/>
          </a:xfrm>
          <a:prstGeom prst="line">
            <a:avLst/>
          </a:prstGeom>
          <a:ln w="1524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921239" y="1325880"/>
            <a:ext cx="1691639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21239" y="1325880"/>
            <a:ext cx="54864" cy="1051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399" y="1435607"/>
            <a:ext cx="1463039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enh1~enh4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399" y="1828800"/>
            <a:ext cx="1463039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送入 MainDecoder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" y="2834640"/>
            <a:ext cx="2743200" cy="16002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68680" y="2834640"/>
            <a:ext cx="54864" cy="1600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39" y="2944368"/>
            <a:ext cx="2514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四级输出通道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39" y="3337560"/>
            <a:ext cx="251460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enh1: 128ch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enh2: 64ch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enh3: 32ch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enh4: 16ch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分辨率随解码器层级逐级对齐。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86200" y="2834640"/>
            <a:ext cx="3520440" cy="16002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886200" y="2834640"/>
            <a:ext cx="54864" cy="1600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23360" y="2944368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为什么要单独做增强层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23360" y="3337560"/>
            <a:ext cx="329184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GradientDecoder 输出的是辅助分支特征；增强层进一步利用 g、x、s，把这些特征转化为高光区域更敏感、边界更清晰的解码补充信息。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80960" y="2834640"/>
            <a:ext cx="3520440" cy="16002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680960" y="2834640"/>
            <a:ext cx="54864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18120" y="2944368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在主解码器中的使用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18120" y="3337560"/>
            <a:ext cx="329184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MainDecoder 每一级都会把 decoder feature、编码器 skip 和对应 enh 特征拼接，让高光先验直接影响重建过程。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" y="5166360"/>
            <a:ext cx="102870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>
                <a:solidFill>
                  <a:srgbClr val="CBD5E1"/>
                </a:solidFill>
                <a:latin typeface="Microsoft YaHei"/>
              </a:rPr>
              <a:t>可以理解为：GradientDecoder 先“看见”高光和边界，EnhancementLayers 再把这种观察整理成主解码器能用的特征。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6 · SPECTRAL DECOMP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_SpectralDecompositionUnit：投影分支 + 高光频域分支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169926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325880"/>
            <a:ext cx="54864" cy="1234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10" b="1">
                <a:solidFill>
                  <a:srgbClr val="F8FAFC"/>
                </a:solidFill>
                <a:latin typeface="Microsoft YaHei"/>
              </a:rPr>
              <a:t>输入 xe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28800"/>
            <a:ext cx="14706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10" b="0">
                <a:solidFill>
                  <a:srgbClr val="CBD5E1"/>
                </a:solidFill>
                <a:latin typeface="Microsoft YaHei"/>
              </a:rPr>
              <a:t>多尺度特征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93620" y="1943100"/>
            <a:ext cx="164592" cy="0"/>
          </a:xfrm>
          <a:prstGeom prst="line">
            <a:avLst/>
          </a:prstGeom>
          <a:ln w="1524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58212" y="1325880"/>
            <a:ext cx="169926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58212" y="1325880"/>
            <a:ext cx="54864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5372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10" b="1">
                <a:solidFill>
                  <a:srgbClr val="F8FAFC"/>
                </a:solidFill>
                <a:latin typeface="Microsoft YaHei"/>
              </a:rPr>
              <a:t>projection_branch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5372" y="1828800"/>
            <a:ext cx="14706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10" b="0">
                <a:solidFill>
                  <a:srgbClr val="CBD5E1"/>
                </a:solidFill>
                <a:latin typeface="Microsoft YaHei"/>
              </a:rPr>
              <a:t>大核卷积</a:t>
            </a:r>
          </a:p>
          <a:p>
            <a:pPr algn="l">
              <a:lnSpc>
                <a:spcPct val="105000"/>
              </a:lnSpc>
            </a:pPr>
            <a:r>
              <a:rPr sz="710" b="0">
                <a:solidFill>
                  <a:srgbClr val="CBD5E1"/>
                </a:solidFill>
                <a:latin typeface="Microsoft YaHei"/>
              </a:rPr>
              <a:t>通用投影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57472" y="1943100"/>
            <a:ext cx="164592" cy="0"/>
          </a:xfrm>
          <a:prstGeom prst="line">
            <a:avLst/>
          </a:prstGeom>
          <a:ln w="152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22064" y="1325880"/>
            <a:ext cx="169926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2064" y="1325880"/>
            <a:ext cx="54864" cy="1234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9224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10" b="1">
                <a:solidFill>
                  <a:srgbClr val="F8FAFC"/>
                </a:solidFill>
                <a:latin typeface="Microsoft YaHei"/>
              </a:rPr>
              <a:t>specular_branch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9224" y="1828800"/>
            <a:ext cx="14706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10" b="0">
                <a:solidFill>
                  <a:srgbClr val="CBD5E1"/>
                </a:solidFill>
                <a:latin typeface="Microsoft YaHei"/>
              </a:rPr>
              <a:t>局部卷积 + FFC</a:t>
            </a:r>
          </a:p>
          <a:p>
            <a:pPr algn="l">
              <a:lnSpc>
                <a:spcPct val="105000"/>
              </a:lnSpc>
            </a:pPr>
            <a:r>
              <a:rPr sz="710" b="0">
                <a:solidFill>
                  <a:srgbClr val="CBD5E1"/>
                </a:solidFill>
                <a:latin typeface="Microsoft YaHei"/>
              </a:rPr>
              <a:t>高光频域精炼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21324" y="1943100"/>
            <a:ext cx="164592" cy="0"/>
          </a:xfrm>
          <a:prstGeom prst="line">
            <a:avLst/>
          </a:prstGeom>
          <a:ln w="1524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85916" y="1325880"/>
            <a:ext cx="169926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85916" y="1325880"/>
            <a:ext cx="54864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3076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10" b="1">
                <a:solidFill>
                  <a:srgbClr val="F8FAFC"/>
                </a:solidFill>
                <a:latin typeface="Microsoft YaHei"/>
              </a:rPr>
              <a:t>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3076" y="1828800"/>
            <a:ext cx="14706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10" b="0">
                <a:solidFill>
                  <a:srgbClr val="CBD5E1"/>
                </a:solidFill>
                <a:latin typeface="Microsoft YaHei"/>
              </a:rPr>
              <a:t>融合门控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885176" y="1943100"/>
            <a:ext cx="164592" cy="0"/>
          </a:xfrm>
          <a:prstGeom prst="line">
            <a:avLst/>
          </a:prstGeom>
          <a:ln w="152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049768" y="1325880"/>
            <a:ext cx="169926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9768" y="1325880"/>
            <a:ext cx="54864" cy="1234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6928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10" b="1">
                <a:solidFill>
                  <a:srgbClr val="F8FAFC"/>
                </a:solidFill>
                <a:latin typeface="Microsoft YaHei"/>
              </a:rPr>
              <a:t>x/g/s 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6928" y="1828800"/>
            <a:ext cx="14706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10" b="0">
                <a:solidFill>
                  <a:srgbClr val="CBD5E1"/>
                </a:solidFill>
                <a:latin typeface="Microsoft YaHei"/>
              </a:rPr>
              <a:t>边界+亮度+概率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749028" y="1943100"/>
            <a:ext cx="164592" cy="0"/>
          </a:xfrm>
          <a:prstGeom prst="line">
            <a:avLst/>
          </a:prstGeom>
          <a:ln w="1524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913620" y="1325880"/>
            <a:ext cx="169926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13620" y="1325880"/>
            <a:ext cx="54864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0780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10" b="1">
                <a:solidFill>
                  <a:srgbClr val="F8FAFC"/>
                </a:solidFill>
                <a:latin typeface="Microsoft YaHei"/>
              </a:rPr>
              <a:t>输出 enh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0780" y="1828800"/>
            <a:ext cx="14706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10" b="0">
                <a:solidFill>
                  <a:srgbClr val="CBD5E1"/>
                </a:solidFill>
                <a:latin typeface="Microsoft YaHei"/>
              </a:rPr>
              <a:t>高光增强特征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1248" y="3063240"/>
            <a:ext cx="324612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41248" y="3063240"/>
            <a:ext cx="54864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" y="3172968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projection_branch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" y="3566160"/>
            <a:ext cx="30175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负责把输入特征转为目标通道，保留通用纹理和结构信息，是稳定的基础投影路径。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34840" y="3063240"/>
            <a:ext cx="324612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34840" y="3063240"/>
            <a:ext cx="54864" cy="1234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3172968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specular_branch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566160"/>
            <a:ext cx="30175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包含局部卷积和 FFC，专门处理高光相关的频域/空间异常，让增强特征对高反光更敏感。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28431" y="3063240"/>
            <a:ext cx="324612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028431" y="3063240"/>
            <a:ext cx="54864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65592" y="3172968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final_gate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5592" y="3566160"/>
            <a:ext cx="30175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edge_gate 来自 g；specular_gate 来自 [g, x, s]。最终门控让增强主要作用在边界和高光相关区域。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965960" y="4983480"/>
            <a:ext cx="8229600" cy="8229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30552" y="5166360"/>
            <a:ext cx="7900416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8FAFC"/>
                </a:solidFill>
                <a:latin typeface="Cambria Math"/>
              </a:rPr>
              <a:t>output = specular_refined + β · specular_refined · final_gate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94560" y="5788152"/>
            <a:ext cx="7772400" cy="-457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增强是受控残差，不破坏整体特征稳定性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6 · SPECULAR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SpecularAwareAttention：基于亮度与局部对比的高光注意力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261872"/>
            <a:ext cx="5486400" cy="10972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444751"/>
            <a:ext cx="5157216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8FAFC"/>
                </a:solidFill>
                <a:latin typeface="Cambria Math"/>
              </a:rPr>
              <a:t>spec_prior = 0.75 · input + 0.25 · |input - local_mean|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66543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亮度强 + 局部对比强的区域更可能是高反光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261872"/>
            <a:ext cx="819302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261872"/>
            <a:ext cx="54864" cy="10972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371600"/>
            <a:ext cx="59070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F8FAFC"/>
                </a:solidFill>
                <a:latin typeface="Microsoft YaHei"/>
              </a:rPr>
              <a:t>original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764792"/>
            <a:ext cx="590702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00" b="0">
                <a:solidFill>
                  <a:srgbClr val="CBD5E1"/>
                </a:solidFill>
                <a:latin typeface="Microsoft YaHei"/>
              </a:rPr>
              <a:t>亮度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57262" y="1810512"/>
            <a:ext cx="164592" cy="0"/>
          </a:xfrm>
          <a:prstGeom prst="line">
            <a:avLst/>
          </a:prstGeom>
          <a:ln w="152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521854" y="1261872"/>
            <a:ext cx="819302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21854" y="1261872"/>
            <a:ext cx="54864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59014" y="1371600"/>
            <a:ext cx="59070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F8FAFC"/>
                </a:solidFill>
                <a:latin typeface="Microsoft YaHei"/>
              </a:rPr>
              <a:t>local mean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9014" y="1764792"/>
            <a:ext cx="590702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00" b="0">
                <a:solidFill>
                  <a:srgbClr val="CBD5E1"/>
                </a:solidFill>
                <a:latin typeface="Microsoft YaHei"/>
              </a:rPr>
              <a:t>局部平均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41156" y="1810512"/>
            <a:ext cx="164592" cy="0"/>
          </a:xfrm>
          <a:prstGeom prst="line">
            <a:avLst/>
          </a:prstGeom>
          <a:ln w="1524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505748" y="1261872"/>
            <a:ext cx="819302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05748" y="1261872"/>
            <a:ext cx="54864" cy="109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2908" y="1371600"/>
            <a:ext cx="59070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F8FAFC"/>
                </a:solidFill>
                <a:latin typeface="Microsoft YaHei"/>
              </a:rPr>
              <a:t>contrast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2908" y="1764792"/>
            <a:ext cx="590702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00" b="0">
                <a:solidFill>
                  <a:srgbClr val="CBD5E1"/>
                </a:solidFill>
                <a:latin typeface="Microsoft YaHei"/>
              </a:rPr>
              <a:t>局部对比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25051" y="1810512"/>
            <a:ext cx="164592" cy="0"/>
          </a:xfrm>
          <a:prstGeom prst="line">
            <a:avLst/>
          </a:prstGeom>
          <a:ln w="1524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489643" y="1261872"/>
            <a:ext cx="819302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489643" y="1261872"/>
            <a:ext cx="54864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26803" y="1371600"/>
            <a:ext cx="59070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F8FAFC"/>
                </a:solidFill>
                <a:latin typeface="Microsoft YaHei"/>
              </a:rPr>
              <a:t>multi-threshold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26803" y="1764792"/>
            <a:ext cx="590702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00" b="0">
                <a:solidFill>
                  <a:srgbClr val="CBD5E1"/>
                </a:solidFill>
                <a:latin typeface="Microsoft YaHei"/>
              </a:rPr>
              <a:t>0.5/0.7/0.9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308945" y="1810512"/>
            <a:ext cx="164592" cy="0"/>
          </a:xfrm>
          <a:prstGeom prst="line">
            <a:avLst/>
          </a:prstGeom>
          <a:ln w="152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473537" y="1261872"/>
            <a:ext cx="819302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473537" y="1261872"/>
            <a:ext cx="54864" cy="10972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10697" y="1371600"/>
            <a:ext cx="59070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F8FAFC"/>
                </a:solidFill>
                <a:latin typeface="Microsoft YaHei"/>
              </a:rPr>
              <a:t>attention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10697" y="1764792"/>
            <a:ext cx="590702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00" b="0">
                <a:solidFill>
                  <a:srgbClr val="CBD5E1"/>
                </a:solidFill>
                <a:latin typeface="Microsoft YaHei"/>
              </a:rPr>
              <a:t>调制特征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2926080"/>
            <a:ext cx="5029200" cy="12801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8680" y="2926080"/>
            <a:ext cx="54864" cy="12801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39" y="3035808"/>
            <a:ext cx="4800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结构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39" y="3429000"/>
            <a:ext cx="4800600" cy="6857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对 spec_prior 使用多个阈值生成高光 mask，再与特征拼接，通过卷积生成注意力图。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99632" y="2926080"/>
            <a:ext cx="4983480" cy="12801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99632" y="2926080"/>
            <a:ext cx="54864" cy="1280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36792" y="3035808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作用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36792" y="3429000"/>
            <a:ext cx="4754880" cy="6857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用于 MainDecoder 的多个层级，帮助解码器在亮斑、局部饱和和高光边界附近更强地调整特征。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874519" y="4892040"/>
            <a:ext cx="8412480" cy="8686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39112" y="5074920"/>
            <a:ext cx="8083296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8FAFC"/>
                </a:solidFill>
                <a:latin typeface="Cambria Math"/>
              </a:rPr>
              <a:t>features_out = features · (1 + scale · attention)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120" y="5696712"/>
            <a:ext cx="7955279" cy="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注意力以乘性残差方式增强特征，不直接替换原特征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9080" y="0"/>
            <a:ext cx="4114800" cy="6858000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38160" y="0"/>
            <a:ext cx="41148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94A3B8"/>
                </a:solidFill>
                <a:latin typeface="Microsoft YaHei"/>
              </a:rPr>
              <a:t>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914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>
                <a:solidFill>
                  <a:srgbClr val="F59E0B"/>
                </a:solidFill>
                <a:latin typeface="Microsoft YaHei"/>
              </a:rPr>
              <a:t>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64208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3100" b="1">
                <a:solidFill>
                  <a:srgbClr val="F8FAFC"/>
                </a:solidFill>
                <a:latin typeface="Microsoft YaHei"/>
              </a:rPr>
              <a:t>主解码器与最终 r 形成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2578608"/>
            <a:ext cx="8961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CBD5E1"/>
                </a:solidFill>
                <a:latin typeface="Microsoft YaHei"/>
              </a:rPr>
              <a:t>MainDecoder 融合编码器 skip、增强特征、g/s 先验与原始输入，同时输出高光分量 b 和直接漫反射 r_direct。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3337560"/>
            <a:ext cx="8046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7 · MAIN DECODER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MainDecoder：多级上采样 + skip + 增强 + 门控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1729740" cy="11430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54864" cy="1143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08176"/>
            <a:ext cx="15011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x_c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01368"/>
            <a:ext cx="15011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FFC 起步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32660" y="1869948"/>
            <a:ext cx="164592" cy="0"/>
          </a:xfrm>
          <a:prstGeom prst="line">
            <a:avLst/>
          </a:prstGeom>
          <a:ln w="1524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397252" y="1298448"/>
            <a:ext cx="1729740" cy="11430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97252" y="1298448"/>
            <a:ext cx="54864" cy="1143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34412" y="1408176"/>
            <a:ext cx="15011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Level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34412" y="1801368"/>
            <a:ext cx="15011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H/16</a:t>
            </a:r>
          </a:p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x_bb_4 + enh1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26992" y="1869948"/>
            <a:ext cx="164592" cy="0"/>
          </a:xfrm>
          <a:prstGeom prst="line">
            <a:avLst/>
          </a:prstGeom>
          <a:ln w="1524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291584" y="1298448"/>
            <a:ext cx="1729740" cy="11430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1584" y="1298448"/>
            <a:ext cx="54864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8744" y="1408176"/>
            <a:ext cx="15011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Level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8744" y="1801368"/>
            <a:ext cx="15011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H/8</a:t>
            </a:r>
          </a:p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x_bb_3 + enh2 + gates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21324" y="1869948"/>
            <a:ext cx="164592" cy="0"/>
          </a:xfrm>
          <a:prstGeom prst="line">
            <a:avLst/>
          </a:prstGeom>
          <a:ln w="152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85916" y="1298448"/>
            <a:ext cx="1729740" cy="11430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85916" y="1298448"/>
            <a:ext cx="54864" cy="1143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3076" y="1408176"/>
            <a:ext cx="15011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Level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3076" y="1801368"/>
            <a:ext cx="15011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H/4</a:t>
            </a:r>
          </a:p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x_bb_2 + enh3 + gates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15656" y="1869948"/>
            <a:ext cx="164591" cy="0"/>
          </a:xfrm>
          <a:prstGeom prst="line">
            <a:avLst/>
          </a:prstGeom>
          <a:ln w="1524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080248" y="1298448"/>
            <a:ext cx="1729740" cy="11430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80248" y="1298448"/>
            <a:ext cx="54864" cy="1143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17408" y="1408176"/>
            <a:ext cx="15011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Level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7408" y="1801368"/>
            <a:ext cx="15011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H/2</a:t>
            </a:r>
          </a:p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x_bb_1 + enh4 + gates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809988" y="1869948"/>
            <a:ext cx="164592" cy="0"/>
          </a:xfrm>
          <a:prstGeom prst="line">
            <a:avLst/>
          </a:prstGeom>
          <a:ln w="1524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974580" y="1298448"/>
            <a:ext cx="1729740" cy="11430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74580" y="1298448"/>
            <a:ext cx="54864" cy="1143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11740" y="1408176"/>
            <a:ext cx="15011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Output Head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11740" y="1801368"/>
            <a:ext cx="15011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b + r_direct + alpha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2880360"/>
            <a:ext cx="3063240" cy="15544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" y="2880360"/>
            <a:ext cx="54864" cy="1554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2990088"/>
            <a:ext cx="2834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输入来源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3383280"/>
            <a:ext cx="2834640" cy="9601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0">
                <a:solidFill>
                  <a:srgbClr val="CBD5E1"/>
                </a:solidFill>
                <a:latin typeface="Microsoft YaHei"/>
              </a:rPr>
              <a:t>c_features: 编码器五级特征</a:t>
            </a:r>
          </a:p>
          <a:p>
            <a:pPr algn="l">
              <a:lnSpc>
                <a:spcPct val="105000"/>
              </a:lnSpc>
            </a:pPr>
            <a:r>
              <a:rPr sz="1019" b="0">
                <a:solidFill>
                  <a:srgbClr val="CBD5E1"/>
                </a:solidFill>
                <a:latin typeface="Microsoft YaHei"/>
              </a:rPr>
              <a:t>enhanced_features: enh1~enh4</a:t>
            </a:r>
          </a:p>
          <a:p>
            <a:pPr algn="l">
              <a:lnSpc>
                <a:spcPct val="105000"/>
              </a:lnSpc>
            </a:pPr>
            <a:r>
              <a:rPr sz="1019" b="0">
                <a:solidFill>
                  <a:srgbClr val="CBD5E1"/>
                </a:solidFill>
                <a:latin typeface="Microsoft YaHei"/>
              </a:rPr>
              <a:t>x_g: 梯度图</a:t>
            </a:r>
          </a:p>
          <a:p>
            <a:pPr algn="l">
              <a:lnSpc>
                <a:spcPct val="105000"/>
              </a:lnSpc>
            </a:pPr>
            <a:r>
              <a:rPr sz="1019" b="0">
                <a:solidFill>
                  <a:srgbClr val="CBD5E1"/>
                </a:solidFill>
                <a:latin typeface="Microsoft YaHei"/>
              </a:rPr>
              <a:t>x_s: 高光概率图</a:t>
            </a:r>
          </a:p>
          <a:p>
            <a:pPr algn="l">
              <a:lnSpc>
                <a:spcPct val="105000"/>
              </a:lnSpc>
            </a:pPr>
            <a:r>
              <a:rPr sz="1019" b="0">
                <a:solidFill>
                  <a:srgbClr val="CBD5E1"/>
                </a:solidFill>
                <a:latin typeface="Microsoft YaHei"/>
              </a:rPr>
              <a:t>original_input: 原始输入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60520" y="2880360"/>
            <a:ext cx="3429000" cy="15544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60520" y="2880360"/>
            <a:ext cx="54864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97680" y="2990088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内部设计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80" y="3383280"/>
            <a:ext cx="3200400" cy="9601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使用 FFC、上采样多分支卷积、Attention_block、SpecularAwareAttention 以及三路先验调制。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63840" y="2880360"/>
            <a:ext cx="3429000" cy="15544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863840" y="2880360"/>
            <a:ext cx="54864" cy="1554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01000" y="2990088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输出设计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01000" y="3383280"/>
            <a:ext cx="3200400" cy="9601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共享解码主体后分成两个头：一个预测高光 b，一个直接预测漫反射 r_direct；alpha_logit 控制最终融合。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212080"/>
            <a:ext cx="10287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>
                <a:solidFill>
                  <a:srgbClr val="CBD5E1"/>
                </a:solidFill>
                <a:latin typeface="Microsoft YaHei"/>
              </a:rPr>
              <a:t>主解码器是模型中“真正生成图像分量”的核心部分。它将前面所有先验和多尺度特征汇聚到最终输出头。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7 · DECODER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MainDecoder 四个层级：逐步恢复空间细节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88720"/>
          <a:ext cx="112014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2926080"/>
                <a:gridCol w="3291840"/>
                <a:gridCol w="3840480"/>
              </a:tblGrid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8FAFC"/>
                          </a:solidFill>
                          <a:latin typeface="Microsoft YaHei"/>
                        </a:rPr>
                        <a:t>层级</a:t>
                      </a:r>
                    </a:p>
                  </a:txBody>
                  <a:tcPr marL="45720" marR="45720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8FAFC"/>
                          </a:solidFill>
                          <a:latin typeface="Microsoft YaHei"/>
                        </a:rPr>
                        <a:t>主要输入</a:t>
                      </a:r>
                    </a:p>
                  </a:txBody>
                  <a:tcPr marL="45720" marR="45720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8FAFC"/>
                          </a:solidFill>
                          <a:latin typeface="Microsoft YaHei"/>
                        </a:rPr>
                        <a:t>主要操作</a:t>
                      </a:r>
                    </a:p>
                  </a:txBody>
                  <a:tcPr marL="45720" marR="45720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8FAFC"/>
                          </a:solidFill>
                          <a:latin typeface="Microsoft YaHei"/>
                        </a:rPr>
                        <a:t>作用</a:t>
                      </a:r>
                    </a:p>
                  </a:txBody>
                  <a:tcPr marL="45720" marR="45720" marT="27432" marB="27432">
                    <a:solidFill>
                      <a:srgbClr val="1E293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CBD5E1"/>
                          </a:solidFill>
                          <a:latin typeface="Microsoft YaHei"/>
                        </a:rPr>
                        <a:t>Level 1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CBD5E1"/>
                          </a:solidFill>
                          <a:latin typeface="Microsoft YaHei"/>
                        </a:rPr>
                        <a:t>x_c / x_bb_4 / enh1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CBD5E1"/>
                          </a:solidFill>
                          <a:latin typeface="Microsoft YaHei"/>
                        </a:rPr>
                        <a:t>same-size 多分支卷积 + 高光注意力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CBD5E1"/>
                          </a:solidFill>
                          <a:latin typeface="Microsoft YaHei"/>
                        </a:rPr>
                        <a:t>处理深层语义和全局高光区域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CBD5E1"/>
                          </a:solidFill>
                          <a:latin typeface="Microsoft YaHei"/>
                        </a:rPr>
                        <a:t>Level 2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CBD5E1"/>
                          </a:solidFill>
                          <a:latin typeface="Microsoft YaHei"/>
                        </a:rPr>
                        <a:t>x_bb_3 / enh2 / g/s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CBD5E1"/>
                          </a:solidFill>
                          <a:latin typeface="Microsoft YaHei"/>
                        </a:rPr>
                        <a:t>上采样 + FFC H/8 + 三路门控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CBD5E1"/>
                          </a:solidFill>
                          <a:latin typeface="Microsoft YaHei"/>
                        </a:rPr>
                        <a:t>恢复中层结构，注入先验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CBD5E1"/>
                          </a:solidFill>
                          <a:latin typeface="Microsoft YaHei"/>
                        </a:rPr>
                        <a:t>Level 3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CBD5E1"/>
                          </a:solidFill>
                          <a:latin typeface="Microsoft YaHei"/>
                        </a:rPr>
                        <a:t>x_bb_2 / enh3 / g/s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CBD5E1"/>
                          </a:solidFill>
                          <a:latin typeface="Microsoft YaHei"/>
                        </a:rPr>
                        <a:t>FeatureExtractionB + FFC H/4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CBD5E1"/>
                          </a:solidFill>
                          <a:latin typeface="Microsoft YaHei"/>
                        </a:rPr>
                        <a:t>恢复条纹细节和边界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CBD5E1"/>
                          </a:solidFill>
                          <a:latin typeface="Microsoft YaHei"/>
                        </a:rPr>
                        <a:t>Level 4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CBD5E1"/>
                          </a:solidFill>
                          <a:latin typeface="Microsoft YaHei"/>
                        </a:rPr>
                        <a:t>x_bb_1 / enh4 / g/s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CBD5E1"/>
                          </a:solidFill>
                          <a:latin typeface="Microsoft YaHei"/>
                        </a:rPr>
                        <a:t>上采样 + attention + 拼接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CBD5E1"/>
                          </a:solidFill>
                          <a:latin typeface="Microsoft YaHei"/>
                        </a:rPr>
                        <a:t>恢复浅层纹理和局部灰度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22960" y="4069080"/>
            <a:ext cx="516636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4069080"/>
            <a:ext cx="54864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78808"/>
            <a:ext cx="4937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解码逻辑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572000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每一级都不是简单上采样，而是：上采样特征、编码器 skip、增强特征和先验门控共同参与。这样既保留浅层位置，又利用深层语义。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069080"/>
            <a:ext cx="498348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4069080"/>
            <a:ext cx="54864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178808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为什么需要多级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572000"/>
            <a:ext cx="47548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高光去除不是单尺度问题。大亮斑需要深层上下文；边缘恢复需要浅层细节；条纹连续性需要中层周期结构。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7 · SKIP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Attention_block：对编码器 skip 做注意力筛选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325880"/>
            <a:ext cx="2008022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325880"/>
            <a:ext cx="54864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35607"/>
            <a:ext cx="177942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8FAFC"/>
                </a:solidFill>
                <a:latin typeface="Microsoft YaHei"/>
              </a:rPr>
              <a:t>decoder 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1779422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CBD5E1"/>
                </a:solidFill>
                <a:latin typeface="Microsoft YaHei"/>
              </a:rPr>
              <a:t>W_g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85262" y="1851660"/>
            <a:ext cx="164592" cy="0"/>
          </a:xfrm>
          <a:prstGeom prst="line">
            <a:avLst/>
          </a:prstGeom>
          <a:ln w="152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49854" y="1325880"/>
            <a:ext cx="2008022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49854" y="1325880"/>
            <a:ext cx="54864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87014" y="1435607"/>
            <a:ext cx="177942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8FAFC"/>
                </a:solidFill>
                <a:latin typeface="Microsoft YaHei"/>
              </a:rPr>
              <a:t>encoder skip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1828800"/>
            <a:ext cx="1779422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CBD5E1"/>
                </a:solidFill>
                <a:latin typeface="Microsoft YaHei"/>
              </a:rPr>
              <a:t>W_x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57876" y="1851660"/>
            <a:ext cx="164592" cy="0"/>
          </a:xfrm>
          <a:prstGeom prst="line">
            <a:avLst/>
          </a:prstGeom>
          <a:ln w="152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22468" y="1325880"/>
            <a:ext cx="2008022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2468" y="1325880"/>
            <a:ext cx="54864" cy="10515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9628" y="1435607"/>
            <a:ext cx="177942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8FAFC"/>
                </a:solidFill>
                <a:latin typeface="Microsoft YaHei"/>
              </a:rPr>
              <a:t>add + ReLU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9628" y="1828800"/>
            <a:ext cx="1779422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CBD5E1"/>
                </a:solidFill>
                <a:latin typeface="Microsoft YaHei"/>
              </a:rPr>
              <a:t>融合响应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30491" y="1851660"/>
            <a:ext cx="164592" cy="0"/>
          </a:xfrm>
          <a:prstGeom prst="line">
            <a:avLst/>
          </a:prstGeom>
          <a:ln w="1524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95083" y="1325880"/>
            <a:ext cx="2008022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5083" y="1325880"/>
            <a:ext cx="54864" cy="10515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32243" y="1435607"/>
            <a:ext cx="177942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8FAFC"/>
                </a:solidFill>
                <a:latin typeface="Microsoft YaHei"/>
              </a:rPr>
              <a:t>psi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32243" y="1828800"/>
            <a:ext cx="1779422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CBD5E1"/>
                </a:solidFill>
                <a:latin typeface="Microsoft YaHei"/>
              </a:rPr>
              <a:t>通道注意力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03105" y="1851660"/>
            <a:ext cx="164592" cy="0"/>
          </a:xfrm>
          <a:prstGeom prst="line">
            <a:avLst/>
          </a:prstGeom>
          <a:ln w="1524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67697" y="1325880"/>
            <a:ext cx="2008022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67697" y="1325880"/>
            <a:ext cx="54864" cy="1051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4857" y="1435607"/>
            <a:ext cx="177942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8FAFC"/>
                </a:solidFill>
                <a:latin typeface="Microsoft YaHei"/>
              </a:rPr>
              <a:t>skip * psi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4857" y="1828800"/>
            <a:ext cx="1779422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CBD5E1"/>
                </a:solidFill>
                <a:latin typeface="Microsoft YaHei"/>
              </a:rPr>
              <a:t>筛选后拼接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2926080"/>
            <a:ext cx="5166360" cy="141732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68680" y="2926080"/>
            <a:ext cx="54864" cy="1417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39" y="3035808"/>
            <a:ext cx="4937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结构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39" y="3429000"/>
            <a:ext cx="493776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W_g 和 W_x 都是 1×1 Conv + BN，二者相加后经 ReLU 和 psi 得到注意力权重。当前 psi 输出 F_l 通道，属于逐通道注意力。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2926080"/>
            <a:ext cx="4892040" cy="141732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2926080"/>
            <a:ext cx="54864" cy="1417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3035808"/>
            <a:ext cx="46634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意义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3429000"/>
            <a:ext cx="46634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skip connection 保留大量浅层信息，但不是所有信息都对去高光有用。注意力块让解码器选择性接收编码器特征。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417320" y="4937760"/>
            <a:ext cx="9326880" cy="841248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81912" y="5120640"/>
            <a:ext cx="8997696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8FAFC"/>
                </a:solidFill>
                <a:latin typeface="Cambria Math"/>
              </a:rPr>
              <a:t>skip_att = skip · sigmoid(ψ(ReLU(W_g(dec) + W_x(skip))))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45920" y="5742432"/>
            <a:ext cx="8869680" cy="-27431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解码器状态决定哪些 skip 信息应该进入当前层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7 · MODULATION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三路先验调制：g、x、s 共同影响解码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325880"/>
            <a:ext cx="2053742" cy="1078992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325880"/>
            <a:ext cx="54864" cy="10789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35607"/>
            <a:ext cx="182514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1">
                <a:solidFill>
                  <a:srgbClr val="F8FAFC"/>
                </a:solidFill>
                <a:latin typeface="Microsoft YaHei"/>
              </a:rPr>
              <a:t>grad_gate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828800"/>
            <a:ext cx="1825142" cy="484631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>
                <a:solidFill>
                  <a:srgbClr val="CBD5E1"/>
                </a:solidFill>
                <a:latin typeface="Microsoft YaHei"/>
              </a:rPr>
              <a:t>来自 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39542" y="1865376"/>
            <a:ext cx="164592" cy="0"/>
          </a:xfrm>
          <a:prstGeom prst="line">
            <a:avLst/>
          </a:prstGeom>
          <a:ln w="1524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04134" y="1325880"/>
            <a:ext cx="2053742" cy="1078992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04134" y="1325880"/>
            <a:ext cx="54864" cy="10789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1294" y="1435607"/>
            <a:ext cx="182514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1">
                <a:solidFill>
                  <a:srgbClr val="F8FAFC"/>
                </a:solidFill>
                <a:latin typeface="Microsoft YaHei"/>
              </a:rPr>
              <a:t>joint_gate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1294" y="1828800"/>
            <a:ext cx="1825142" cy="484631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>
                <a:solidFill>
                  <a:srgbClr val="CBD5E1"/>
                </a:solidFill>
                <a:latin typeface="Microsoft YaHei"/>
              </a:rPr>
              <a:t>来自 [g,x,s]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57876" y="1865376"/>
            <a:ext cx="164592" cy="0"/>
          </a:xfrm>
          <a:prstGeom prst="line">
            <a:avLst/>
          </a:prstGeom>
          <a:ln w="152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22468" y="1325880"/>
            <a:ext cx="2053742" cy="1078992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2468" y="1325880"/>
            <a:ext cx="54864" cy="107899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9628" y="1435607"/>
            <a:ext cx="182514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1">
                <a:solidFill>
                  <a:srgbClr val="F8FAFC"/>
                </a:solidFill>
                <a:latin typeface="Microsoft YaHei"/>
              </a:rPr>
              <a:t>spec_lik_gate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9628" y="1828800"/>
            <a:ext cx="1825142" cy="484631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>
                <a:solidFill>
                  <a:srgbClr val="CBD5E1"/>
                </a:solidFill>
                <a:latin typeface="Microsoft YaHei"/>
              </a:rPr>
              <a:t>来自 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76211" y="1865376"/>
            <a:ext cx="164592" cy="0"/>
          </a:xfrm>
          <a:prstGeom prst="line">
            <a:avLst/>
          </a:prstGeom>
          <a:ln w="1524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40803" y="1325880"/>
            <a:ext cx="2053742" cy="1078992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0803" y="1325880"/>
            <a:ext cx="54864" cy="10789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77963" y="1435607"/>
            <a:ext cx="182514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1">
                <a:solidFill>
                  <a:srgbClr val="F8FAFC"/>
                </a:solidFill>
                <a:latin typeface="Microsoft YaHei"/>
              </a:rPr>
              <a:t>scale 参数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7963" y="1828800"/>
            <a:ext cx="1825142" cy="484631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>
                <a:solidFill>
                  <a:srgbClr val="CBD5E1"/>
                </a:solidFill>
                <a:latin typeface="Microsoft YaHei"/>
              </a:rPr>
              <a:t>控制强度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94545" y="1865376"/>
            <a:ext cx="164592" cy="0"/>
          </a:xfrm>
          <a:prstGeom prst="line">
            <a:avLst/>
          </a:prstGeom>
          <a:ln w="152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559137" y="1325880"/>
            <a:ext cx="2053742" cy="1078992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59137" y="1325880"/>
            <a:ext cx="54864" cy="10789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6297" y="1435607"/>
            <a:ext cx="182514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1">
                <a:solidFill>
                  <a:srgbClr val="F8FAFC"/>
                </a:solidFill>
                <a:latin typeface="Microsoft YaHei"/>
              </a:rPr>
              <a:t>乘性调制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6297" y="1828800"/>
            <a:ext cx="1825142" cy="484631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>
                <a:solidFill>
                  <a:srgbClr val="CBD5E1"/>
                </a:solidFill>
                <a:latin typeface="Microsoft YaHei"/>
              </a:rPr>
              <a:t>作用于 decoder feature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" y="2743200"/>
            <a:ext cx="10058400" cy="89611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70432" y="2926080"/>
            <a:ext cx="9729216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8FAFC"/>
                </a:solidFill>
                <a:latin typeface="Cambria Math"/>
              </a:rPr>
              <a:t>x ← x · (1 + a·G_grad + b·G_joint + c·G_spec)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3547872"/>
            <a:ext cx="9601200" cy="274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三种先验以乘性残差方式调制解码特征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4069080"/>
            <a:ext cx="324612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8680" y="4069080"/>
            <a:ext cx="54864" cy="10515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39" y="4178808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grad_gate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39" y="4572000"/>
            <a:ext cx="301752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强调边界、条纹断裂、高光边缘等梯度显著区域。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34840" y="4069080"/>
            <a:ext cx="324612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34840" y="4069080"/>
            <a:ext cx="54864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0" y="4178808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joint_gate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4572000"/>
            <a:ext cx="301752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同时看 g、原始输入 x 和 s，形成更完整的高光区域判断。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01000" y="4069080"/>
            <a:ext cx="324612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01000" y="4069080"/>
            <a:ext cx="54864" cy="10515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38160" y="4178808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spec_lik_gate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4572000"/>
            <a:ext cx="301752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直接使用高光概率 s，让高光区域获得更强的解码调整。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7 · OUTPUT 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输出头：同时预测 b 与 r_direct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1566671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25880"/>
            <a:ext cx="54864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35607"/>
            <a:ext cx="1338071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8FAFC"/>
                </a:solidFill>
                <a:latin typeface="Microsoft YaHei"/>
              </a:rPr>
              <a:t>共享解码特征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28800"/>
            <a:ext cx="1338071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CBD5E1"/>
                </a:solidFill>
                <a:latin typeface="Microsoft YaHei"/>
              </a:rPr>
              <a:t>16ch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98192" y="1851660"/>
            <a:ext cx="164592" cy="0"/>
          </a:xfrm>
          <a:prstGeom prst="line">
            <a:avLst/>
          </a:prstGeom>
          <a:ln w="152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62784" y="1325880"/>
            <a:ext cx="1566671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2784" y="1325880"/>
            <a:ext cx="54864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9944" y="1435607"/>
            <a:ext cx="1338071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8FAFC"/>
                </a:solidFill>
                <a:latin typeface="Microsoft YaHei"/>
              </a:rPr>
              <a:t>output_conv4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9944" y="1828800"/>
            <a:ext cx="1338071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CBD5E1"/>
                </a:solidFill>
                <a:latin typeface="Microsoft YaHei"/>
              </a:rPr>
              <a:t>→ sigmoid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29455" y="1851660"/>
            <a:ext cx="164592" cy="0"/>
          </a:xfrm>
          <a:prstGeom prst="line">
            <a:avLst/>
          </a:prstGeom>
          <a:ln w="152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194047" y="1325880"/>
            <a:ext cx="1566671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94047" y="1325880"/>
            <a:ext cx="54864" cy="1051560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31208" y="1435607"/>
            <a:ext cx="1338071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8FAFC"/>
                </a:solidFill>
                <a:latin typeface="Microsoft YaHei"/>
              </a:rPr>
              <a:t>est_b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1208" y="1828800"/>
            <a:ext cx="1338071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CBD5E1"/>
                </a:solidFill>
                <a:latin typeface="Microsoft YaHei"/>
              </a:rPr>
              <a:t>高光分量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1325880"/>
            <a:ext cx="1505711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1325880"/>
            <a:ext cx="54864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435607"/>
            <a:ext cx="1277111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8FAFC"/>
                </a:solidFill>
                <a:latin typeface="Microsoft YaHei"/>
              </a:rPr>
              <a:t>共享解码特征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1828800"/>
            <a:ext cx="1277111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CBD5E1"/>
                </a:solidFill>
                <a:latin typeface="Microsoft YaHei"/>
              </a:rPr>
              <a:t>16ch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860792" y="1851660"/>
            <a:ext cx="164592" cy="0"/>
          </a:xfrm>
          <a:prstGeom prst="line">
            <a:avLst/>
          </a:prstGeom>
          <a:ln w="1524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025384" y="1325880"/>
            <a:ext cx="1505711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25384" y="1325880"/>
            <a:ext cx="54864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62544" y="1435607"/>
            <a:ext cx="1277111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8FAFC"/>
                </a:solidFill>
                <a:latin typeface="Microsoft YaHei"/>
              </a:rPr>
              <a:t>output_r_direct_conv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2544" y="1828800"/>
            <a:ext cx="1277111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CBD5E1"/>
                </a:solidFill>
                <a:latin typeface="Microsoft YaHei"/>
              </a:rPr>
              <a:t>→ sigmoid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531096" y="1851660"/>
            <a:ext cx="164592" cy="0"/>
          </a:xfrm>
          <a:prstGeom prst="line">
            <a:avLst/>
          </a:prstGeom>
          <a:ln w="1524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695688" y="1325880"/>
            <a:ext cx="1505711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95688" y="1325880"/>
            <a:ext cx="54864" cy="1051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32848" y="1435607"/>
            <a:ext cx="1277111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8FAFC"/>
                </a:solidFill>
                <a:latin typeface="Microsoft YaHei"/>
              </a:rPr>
              <a:t>r_direct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32848" y="1828800"/>
            <a:ext cx="1277111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CBD5E1"/>
                </a:solidFill>
                <a:latin typeface="Microsoft YaHei"/>
              </a:rPr>
              <a:t>直接漫反射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3017520"/>
            <a:ext cx="507492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68680" y="3017520"/>
            <a:ext cx="54864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39" y="3127248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b 分支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39" y="3520439"/>
            <a:ext cx="48463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预测输入中应该被移除的镜面反射/高反光分量。后续可形成物理减法路径 r_sub = clamp(x-b)。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3017520"/>
            <a:ext cx="489204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3017520"/>
            <a:ext cx="54864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3127248"/>
            <a:ext cx="46634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r_direct 分支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3520439"/>
            <a:ext cx="46634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直接从解码特征中预测漫反射图像，为最终 r 提供不依赖减法的重建路径。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874519" y="4983480"/>
            <a:ext cx="8321040" cy="8229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39112" y="5166360"/>
            <a:ext cx="7991856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8FAFC"/>
                </a:solidFill>
                <a:latin typeface="Cambria Math"/>
              </a:rPr>
              <a:t>alpha = sigmoid(dual_head_alpha_logit)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03120" y="5788152"/>
            <a:ext cx="7863840" cy="-457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可学习融合权重，控制 r_direct 与 r_sub 的相对贡献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7 · DIFFUSE 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双路径漫反射形成：物理减法 + 直接预测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234440"/>
            <a:ext cx="5303520" cy="960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417320"/>
            <a:ext cx="4974336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8FAFC"/>
                </a:solidFill>
                <a:latin typeface="Cambria Math"/>
              </a:rPr>
              <a:t>r_sub = clamp(x - est_b, 0, 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39112"/>
            <a:ext cx="4846320" cy="914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路径 A：遵循输入分解关系的物理减法路径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234440"/>
            <a:ext cx="5029200" cy="960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417320"/>
            <a:ext cx="4700016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8FAFC"/>
                </a:solidFill>
                <a:latin typeface="Cambria Math"/>
              </a:rPr>
              <a:t>r_direct = MainDecoder_head(feature)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39112"/>
            <a:ext cx="4572000" cy="914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路径 B：主解码器直接预测漫反射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2788920"/>
            <a:ext cx="8549640" cy="960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93392" y="2971800"/>
            <a:ext cx="8220456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8FAFC"/>
                </a:solidFill>
                <a:latin typeface="Cambria Math"/>
              </a:rPr>
              <a:t>r_fused = α · r_direct + (1 - α) · r_sub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593591"/>
            <a:ext cx="8092440" cy="914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两条路径由可学习 alpha 融合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4434840"/>
            <a:ext cx="10012680" cy="10058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51560" y="4434840"/>
            <a:ext cx="54864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19" y="4544568"/>
            <a:ext cx="9784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为什么这样设计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19" y="4937759"/>
            <a:ext cx="978408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b 分支提供可解释的物理分解，r_direct 分支提供直接重建能力。二者融合后再精修，可以在保持物理意义的同时提升漫反射恢复稳定性。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7 · REFINEMENT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ResidualRefinementHead：最终一公里的局部修正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169926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325880"/>
            <a:ext cx="54864" cy="1051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r_fused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28800"/>
            <a:ext cx="147066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粗漫反射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93620" y="1851660"/>
            <a:ext cx="164592" cy="0"/>
          </a:xfrm>
          <a:prstGeom prst="line">
            <a:avLst/>
          </a:prstGeom>
          <a:ln w="1524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58212" y="1325880"/>
            <a:ext cx="169926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58212" y="1325880"/>
            <a:ext cx="54864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5372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original 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5372" y="1828800"/>
            <a:ext cx="147066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原始上下文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57472" y="1851660"/>
            <a:ext cx="164592" cy="0"/>
          </a:xfrm>
          <a:prstGeom prst="line">
            <a:avLst/>
          </a:prstGeom>
          <a:ln w="152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22064" y="1325880"/>
            <a:ext cx="169926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2064" y="1325880"/>
            <a:ext cx="54864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9224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r_direct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9224" y="1828800"/>
            <a:ext cx="147066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直接预测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21324" y="1851660"/>
            <a:ext cx="164592" cy="0"/>
          </a:xfrm>
          <a:prstGeom prst="line">
            <a:avLst/>
          </a:prstGeom>
          <a:ln w="1524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85916" y="1325880"/>
            <a:ext cx="169926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85916" y="1325880"/>
            <a:ext cx="54864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3076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concat 3ch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3076" y="1828800"/>
            <a:ext cx="147066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拼接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885176" y="1851660"/>
            <a:ext cx="164592" cy="0"/>
          </a:xfrm>
          <a:prstGeom prst="line">
            <a:avLst/>
          </a:prstGeom>
          <a:ln w="152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049768" y="1325880"/>
            <a:ext cx="169926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9768" y="1325880"/>
            <a:ext cx="54864" cy="10515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6928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5层轻量CNN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6928" y="1828800"/>
            <a:ext cx="147066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残差估计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749028" y="1851660"/>
            <a:ext cx="164592" cy="0"/>
          </a:xfrm>
          <a:prstGeom prst="line">
            <a:avLst/>
          </a:prstGeom>
          <a:ln w="1524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913620" y="1325880"/>
            <a:ext cx="169926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13620" y="1325880"/>
            <a:ext cx="54864" cy="1051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0780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clamp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0780" y="1828800"/>
            <a:ext cx="147066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最终 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" y="2880360"/>
            <a:ext cx="5257800" cy="13258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68680" y="2880360"/>
            <a:ext cx="54864" cy="13258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39" y="2990088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结构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39" y="3383280"/>
            <a:ext cx="5029200" cy="7315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3 通道输入 → 24ch → 轻量残差块 → 16ch → 1ch → Tanh。输出是局部残差 delta，而不是重新生成整张图。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2880360"/>
            <a:ext cx="4800600" cy="13258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0" y="2880360"/>
            <a:ext cx="54864" cy="1325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2990088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意义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60" y="3383280"/>
            <a:ext cx="4572000" cy="7315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融合后的 r 可能仍有细小边界误差、亮点残留或局部灰度不连续。精修头专门负责小范围修正。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691640" y="4937760"/>
            <a:ext cx="8823960" cy="8686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856232" y="5120640"/>
            <a:ext cx="8494776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8FAFC"/>
                </a:solidFill>
                <a:latin typeface="Cambria Math"/>
              </a:rPr>
              <a:t>r_final = clamp(r_fused + 0.15 · tanh(delta), 0, 1)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20240" y="5742432"/>
            <a:ext cx="8366760" cy="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残差幅度受限制，保证精修稳定、不过度改写主体结果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7 · YFFC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YFFC 主模型：所有模块如何拼在一起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234440"/>
            <a:ext cx="10378440" cy="2788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344168"/>
            <a:ext cx="100126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38BDF8"/>
                </a:solidFill>
                <a:latin typeface="Microsoft YaHei"/>
              </a:rPr>
              <a:t>主模型结构摘要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636776"/>
            <a:ext cx="10058400" cy="2331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class YFFC(nn.Module):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    encoder = Encoder()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    gradient_decoder = GradientDecoder()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    enhancement_layers = EnhancementLayers()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    main_decoder = MainDecoder(in_channels=256)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    refinement_head = ResidualRefinementHead(scale=0.15)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forward(x):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    c_feat = encoder(x)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    xe, g, s = gradient_decoder(c_feat, x)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    enh = enhancement_layers(xe, g, x, s)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    b, r_direct, alpha_logit = main_decoder(c_feat, enh, g, s, x)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    r = fuse_and_refine(x, b, r_direct, alpha_logit)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    return {"r", "g", "b", "s", "r_direct", "alpha", "cs"}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526280"/>
            <a:ext cx="10287000" cy="10058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4526280"/>
            <a:ext cx="54864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636008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一句话总结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02920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YFFC 是一个多分支图像分解网络：编码器负责看全局与局部，梯度/高光分支负责产生先验，增强层把先验转成特征，主解码器生成 b 和 r_direct，精修头输出最终 r。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9080" y="0"/>
            <a:ext cx="4114800" cy="6858000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38160" y="0"/>
            <a:ext cx="41148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94A3B8"/>
                </a:solidFill>
                <a:latin typeface="Microsoft YaHei"/>
              </a:rPr>
              <a:t>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914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>
                <a:solidFill>
                  <a:srgbClr val="EC4899"/>
                </a:solidFill>
                <a:latin typeface="Microsoft YaHei"/>
              </a:rPr>
              <a:t>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64208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3100" b="1">
                <a:solidFill>
                  <a:srgbClr val="F8FAFC"/>
                </a:solidFill>
                <a:latin typeface="Microsoft YaHei"/>
              </a:rPr>
              <a:t>损失函数与训练目标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2578608"/>
            <a:ext cx="8961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CBD5E1"/>
                </a:solidFill>
                <a:latin typeface="Microsoft YaHei"/>
              </a:rPr>
              <a:t>EnhancedCompositeLoss 同时监督 r、b、g、s、r_direct 和跨尺度特征，让整个分解链条都可学习。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3337560"/>
            <a:ext cx="804672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8 · LOSSES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损失体系总览：不仅约束最终 r，也约束中间分解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207203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325880"/>
            <a:ext cx="54864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35607"/>
            <a:ext cx="184343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1">
                <a:solidFill>
                  <a:srgbClr val="F8FAFC"/>
                </a:solidFill>
                <a:latin typeface="Microsoft YaHei"/>
              </a:rPr>
              <a:t>r 质量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28800"/>
            <a:ext cx="184343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19" b="0">
                <a:solidFill>
                  <a:srgbClr val="CBD5E1"/>
                </a:solidFill>
                <a:latin typeface="Microsoft YaHei"/>
              </a:rPr>
              <a:t>SSIM / MS-SSIM</a:t>
            </a:r>
          </a:p>
          <a:p>
            <a:pPr algn="l">
              <a:lnSpc>
                <a:spcPct val="105000"/>
              </a:lnSpc>
            </a:pPr>
            <a:r>
              <a:rPr sz="719" b="0">
                <a:solidFill>
                  <a:srgbClr val="CBD5E1"/>
                </a:solidFill>
                <a:latin typeface="Microsoft YaHei"/>
              </a:rPr>
              <a:t>L1 / smooth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1943100"/>
            <a:ext cx="164592" cy="0"/>
          </a:xfrm>
          <a:prstGeom prst="line">
            <a:avLst/>
          </a:prstGeom>
          <a:ln w="1524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30982" y="1325880"/>
            <a:ext cx="207203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0982" y="1325880"/>
            <a:ext cx="54864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8142" y="1435607"/>
            <a:ext cx="184343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1">
                <a:solidFill>
                  <a:srgbClr val="F8FAFC"/>
                </a:solidFill>
                <a:latin typeface="Microsoft YaHei"/>
              </a:rPr>
              <a:t>b 质量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8142" y="1828800"/>
            <a:ext cx="184343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19" b="0">
                <a:solidFill>
                  <a:srgbClr val="CBD5E1"/>
                </a:solidFill>
                <a:latin typeface="Microsoft YaHei"/>
              </a:rPr>
              <a:t>Specular</a:t>
            </a:r>
          </a:p>
          <a:p>
            <a:pPr algn="l">
              <a:lnSpc>
                <a:spcPct val="105000"/>
              </a:lnSpc>
            </a:pPr>
            <a:r>
              <a:rPr sz="719" b="0">
                <a:solidFill>
                  <a:srgbClr val="CBD5E1"/>
                </a:solidFill>
                <a:latin typeface="Microsoft YaHei"/>
              </a:rPr>
              <a:t>Focal / Dice / Peak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03012" y="1943100"/>
            <a:ext cx="164592" cy="0"/>
          </a:xfrm>
          <a:prstGeom prst="line">
            <a:avLst/>
          </a:prstGeom>
          <a:ln w="152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67604" y="1325880"/>
            <a:ext cx="207203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67604" y="1325880"/>
            <a:ext cx="54864" cy="1234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04764" y="1435607"/>
            <a:ext cx="184343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1">
                <a:solidFill>
                  <a:srgbClr val="F8FAFC"/>
                </a:solidFill>
                <a:latin typeface="Microsoft YaHei"/>
              </a:rPr>
              <a:t>g 质量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4764" y="1828800"/>
            <a:ext cx="184343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19" b="0">
                <a:solidFill>
                  <a:srgbClr val="CBD5E1"/>
                </a:solidFill>
                <a:latin typeface="Microsoft YaHei"/>
              </a:rPr>
              <a:t>Gradient</a:t>
            </a:r>
          </a:p>
          <a:p>
            <a:pPr algn="l">
              <a:lnSpc>
                <a:spcPct val="105000"/>
              </a:lnSpc>
            </a:pPr>
            <a:r>
              <a:rPr sz="719" b="0">
                <a:solidFill>
                  <a:srgbClr val="CBD5E1"/>
                </a:solidFill>
                <a:latin typeface="Microsoft YaHei"/>
              </a:rPr>
              <a:t>Edge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39635" y="1943100"/>
            <a:ext cx="164592" cy="0"/>
          </a:xfrm>
          <a:prstGeom prst="line">
            <a:avLst/>
          </a:prstGeom>
          <a:ln w="1524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04227" y="1325880"/>
            <a:ext cx="207203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04227" y="1325880"/>
            <a:ext cx="54864" cy="1234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1387" y="1435607"/>
            <a:ext cx="184343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1">
                <a:solidFill>
                  <a:srgbClr val="F8FAFC"/>
                </a:solidFill>
                <a:latin typeface="Microsoft YaHei"/>
              </a:rPr>
              <a:t>s 质量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1387" y="1828800"/>
            <a:ext cx="184343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19" b="0">
                <a:solidFill>
                  <a:srgbClr val="CBD5E1"/>
                </a:solidFill>
                <a:latin typeface="Microsoft YaHei"/>
              </a:rPr>
              <a:t>BCE + SSIM</a:t>
            </a:r>
          </a:p>
          <a:p>
            <a:pPr algn="l">
              <a:lnSpc>
                <a:spcPct val="105000"/>
              </a:lnSpc>
            </a:pPr>
            <a:r>
              <a:rPr sz="719" b="0">
                <a:solidFill>
                  <a:srgbClr val="CBD5E1"/>
                </a:solidFill>
                <a:latin typeface="Microsoft YaHei"/>
              </a:rPr>
              <a:t>Consistency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76257" y="1943100"/>
            <a:ext cx="164592" cy="0"/>
          </a:xfrm>
          <a:prstGeom prst="line">
            <a:avLst/>
          </a:prstGeom>
          <a:ln w="1524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540849" y="1325880"/>
            <a:ext cx="207203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40849" y="1325880"/>
            <a:ext cx="54864" cy="1234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78009" y="1435607"/>
            <a:ext cx="184343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1">
                <a:solidFill>
                  <a:srgbClr val="F8FAFC"/>
                </a:solidFill>
                <a:latin typeface="Microsoft YaHei"/>
              </a:rPr>
              <a:t>全局结构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78009" y="1828800"/>
            <a:ext cx="184343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19" b="0">
                <a:solidFill>
                  <a:srgbClr val="CBD5E1"/>
                </a:solidFill>
                <a:latin typeface="Microsoft YaHei"/>
              </a:rPr>
              <a:t>Freq / Perceptual</a:t>
            </a:r>
          </a:p>
          <a:p>
            <a:pPr algn="l">
              <a:lnSpc>
                <a:spcPct val="105000"/>
              </a:lnSpc>
            </a:pPr>
            <a:r>
              <a:rPr sz="719" b="0">
                <a:solidFill>
                  <a:srgbClr val="CBD5E1"/>
                </a:solidFill>
                <a:latin typeface="Microsoft YaHei"/>
              </a:rPr>
              <a:t>Cross-scale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3063240"/>
            <a:ext cx="525780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" y="3063240"/>
            <a:ext cx="54864" cy="1234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3172968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核心思路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3566160"/>
            <a:ext cx="5029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最终目标是高质量 r，但如果只监督 r，模型很难学会可解释的高光分解。因此训练同时约束 b、g、s 和 r_direct。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55080" y="3063240"/>
            <a:ext cx="489204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5080" y="3063240"/>
            <a:ext cx="54864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3172968"/>
            <a:ext cx="46634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训练信号如何构造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3566160"/>
            <a:ext cx="46634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target 是真实去高光图；gt_specular 由 input-target 得到；gt_grad 由输入图 Sobel 得到。这样不需要额外人工标注高光 mask。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23160" y="4983480"/>
            <a:ext cx="7315200" cy="8229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87752" y="5166360"/>
            <a:ext cx="6986016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8FAFC"/>
                </a:solidFill>
                <a:latin typeface="Cambria Math"/>
              </a:rPr>
              <a:t>total = Σ λ_i · loss_i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51760" y="5788152"/>
            <a:ext cx="6858000" cy="-457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每项权重由 ImprovedWeightScheduler 在训练过程中动态调整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8 · DIFFUSE LOSSES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漫反射 r 的直接监督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325880"/>
            <a:ext cx="333756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325880"/>
            <a:ext cx="54864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35607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SSIM / MS-SSIM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31089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约束结构相似性，让条纹连续、边界合理。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当前组合更关注多尺度结构。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325880"/>
            <a:ext cx="333756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325880"/>
            <a:ext cx="54864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435607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L1 / Charbonnier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28800"/>
            <a:ext cx="31089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约束像素级灰度，保证输出 r 与 target 的整体亮度和局部数值接近。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325880"/>
            <a:ext cx="324612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325880"/>
            <a:ext cx="54864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435607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r_focal_hl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828800"/>
            <a:ext cx="30175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在高光区域强化 r 与 target 的误差惩罚，减少高光残留。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154680"/>
            <a:ext cx="5257800" cy="11430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154680"/>
            <a:ext cx="54864" cy="1143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264408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r_dual_cons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657600"/>
            <a:ext cx="50292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约束 r_direct 与最终 r 一致，让直接预测路径与融合输出互相校准。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154680"/>
            <a:ext cx="4983480" cy="11430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3154680"/>
            <a:ext cx="54864" cy="1143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264408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r_smooth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657600"/>
            <a:ext cx="47548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在高光区域约束 r 与局部均值接近，鼓励去高光后区域更平滑，避免亮点或锯齿残留。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166360"/>
            <a:ext cx="10287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>
                <a:solidFill>
                  <a:srgbClr val="CBD5E1"/>
                </a:solidFill>
                <a:latin typeface="Microsoft YaHei"/>
              </a:rPr>
              <a:t>这些损失共同保证：最终 r 既像目标图，又在高光区域稳定、平滑，并与 r_direct 路径保持一致。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8 · AUXILIARY LOSSES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b / g / s 的辅助监督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23444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926080"/>
                <a:gridCol w="3200400"/>
                <a:gridCol w="402336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890" b="1">
                          <a:solidFill>
                            <a:srgbClr val="F8FAFC"/>
                          </a:solidFill>
                          <a:latin typeface="Microsoft YaHei"/>
                        </a:rPr>
                        <a:t>对象</a:t>
                      </a:r>
                    </a:p>
                  </a:txBody>
                  <a:tcPr marL="45720" marR="45720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1">
                          <a:solidFill>
                            <a:srgbClr val="F8FAFC"/>
                          </a:solidFill>
                          <a:latin typeface="Microsoft YaHei"/>
                        </a:rPr>
                        <a:t>监督目标</a:t>
                      </a:r>
                    </a:p>
                  </a:txBody>
                  <a:tcPr marL="45720" marR="45720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1">
                          <a:solidFill>
                            <a:srgbClr val="F8FAFC"/>
                          </a:solidFill>
                          <a:latin typeface="Microsoft YaHei"/>
                        </a:rPr>
                        <a:t>主要损失</a:t>
                      </a:r>
                    </a:p>
                  </a:txBody>
                  <a:tcPr marL="45720" marR="45720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1">
                          <a:solidFill>
                            <a:srgbClr val="F8FAFC"/>
                          </a:solidFill>
                          <a:latin typeface="Microsoft YaHei"/>
                        </a:rPr>
                        <a:t>意义</a:t>
                      </a:r>
                    </a:p>
                  </a:txBody>
                  <a:tcPr marL="45720" marR="45720" marT="27432" marB="27432">
                    <a:solidFill>
                      <a:srgbClr val="1E29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CBD5E1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CBD5E1"/>
                          </a:solidFill>
                          <a:latin typeface="Microsoft YaHei"/>
                        </a:rPr>
                        <a:t>gt_specular = clamp(x-target)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CBD5E1"/>
                          </a:solidFill>
                          <a:latin typeface="Microsoft YaHei"/>
                        </a:rPr>
                        <a:t>Specular + Focal + Dice + Peak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CBD5E1"/>
                          </a:solidFill>
                          <a:latin typeface="Microsoft YaHei"/>
                        </a:rPr>
                        <a:t>让高光分量可解释、区域完整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CBD5E1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CBD5E1"/>
                          </a:solidFill>
                          <a:latin typeface="Microsoft YaHei"/>
                        </a:rPr>
                        <a:t>Sobel(input)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CBD5E1"/>
                          </a:solidFill>
                          <a:latin typeface="Microsoft YaHei"/>
                        </a:rPr>
                        <a:t>Gradient SSIM + Edge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CBD5E1"/>
                          </a:solidFill>
                          <a:latin typeface="Microsoft YaHei"/>
                        </a:rPr>
                        <a:t>让网络显式学习边界和条纹变化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CBD5E1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CBD5E1"/>
                          </a:solidFill>
                          <a:latin typeface="Microsoft YaHei"/>
                        </a:rPr>
                        <a:t>gt_specular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CBD5E1"/>
                          </a:solidFill>
                          <a:latin typeface="Microsoft YaHei"/>
                        </a:rPr>
                        <a:t>BCE + SSIM + Consistency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CBD5E1"/>
                          </a:solidFill>
                          <a:latin typeface="Microsoft YaHei"/>
                        </a:rPr>
                        <a:t>提供高光概率软先验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CBD5E1"/>
                          </a:solidFill>
                          <a:latin typeface="Microsoft YaHei"/>
                        </a:rPr>
                        <a:t>cs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CBD5E1"/>
                          </a:solidFill>
                          <a:latin typeface="Microsoft YaHei"/>
                        </a:rPr>
                        <a:t>多尺度特征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CBD5E1"/>
                          </a:solidFill>
                          <a:latin typeface="Microsoft YaHei"/>
                        </a:rPr>
                        <a:t>cross_scale_consistency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CBD5E1"/>
                          </a:solidFill>
                          <a:latin typeface="Microsoft YaHei"/>
                        </a:rPr>
                        <a:t>保持特征金字塔结构一致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22960" y="3703320"/>
            <a:ext cx="3291840" cy="118872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703320"/>
            <a:ext cx="54864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13048"/>
            <a:ext cx="3063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b 的意义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06240"/>
            <a:ext cx="306324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b 是模型解释“哪些亮度被当作高光移除”的结果。它越准确，物理减法路径 r_sub 越可靠。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703320"/>
            <a:ext cx="3291840" cy="118872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3703320"/>
            <a:ext cx="54864" cy="1188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813048"/>
            <a:ext cx="3063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g 的意义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206240"/>
            <a:ext cx="306324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g 让边界信息显式参与训练和解码，降低高光边缘处的模糊和错位。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703320"/>
            <a:ext cx="3291840" cy="118872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3703320"/>
            <a:ext cx="54864" cy="1188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3813048"/>
            <a:ext cx="3063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s 的意义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4206240"/>
            <a:ext cx="306324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s 是可微高光 soft mask，会进入增强层和主解码器门控，影响后续重建。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8 · GLOBAL CONSISTENCY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频域、感知与结构损失的意义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325880"/>
            <a:ext cx="3429000" cy="13258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325880"/>
            <a:ext cx="54864" cy="1325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35607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frequency_loss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3200400" cy="7315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对 pred_r 和 target 做 rFFT，比较幅度谱和相位相关项。用于保持条纹周期和频率结构。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325880"/>
            <a:ext cx="3429000" cy="13258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325880"/>
            <a:ext cx="54864" cy="13258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435607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PerceptualLoss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28800"/>
            <a:ext cx="3200400" cy="7315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使用 VGG16 多层特征约束图像结构。小尺寸 patch 下可自动降级，避免不稳定。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325880"/>
            <a:ext cx="3246120" cy="13258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325880"/>
            <a:ext cx="54864" cy="1325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435607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SSIM / MS-SSIM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828800"/>
            <a:ext cx="3017520" cy="7315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比单纯像素误差更关注局部结构相似性，适合条纹连续性和边界质量评价。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08760" y="3429000"/>
            <a:ext cx="9144000" cy="8686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73351" y="3611880"/>
            <a:ext cx="8814816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8FAFC"/>
                </a:solidFill>
                <a:latin typeface="Cambria Math"/>
              </a:rPr>
              <a:t>frequency_loss = amplitude_loss + 0.15 · phase_loss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233672"/>
            <a:ext cx="8686800" cy="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频域约束直接对应条纹周期结构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46320"/>
            <a:ext cx="103327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>
                <a:solidFill>
                  <a:srgbClr val="CBD5E1"/>
                </a:solidFill>
                <a:latin typeface="Microsoft YaHei"/>
              </a:rPr>
              <a:t>最终训练目标覆盖像素、结构、频率、感知、高光区域、梯度边界与多尺度一致性。这样模型不只是输出“看起来更暗”的图，而是输出结构上可用的漫反射条纹。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9080" y="0"/>
            <a:ext cx="4114800" cy="6858000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38160" y="0"/>
            <a:ext cx="41148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94A3B8"/>
                </a:solidFill>
                <a:latin typeface="Microsoft YaHei"/>
              </a:rPr>
              <a:t>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914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>
                <a:solidFill>
                  <a:srgbClr val="F59E0B"/>
                </a:solidFill>
                <a:latin typeface="Microsoft YaHei"/>
              </a:rPr>
              <a:t>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64208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3100" b="1">
                <a:solidFill>
                  <a:srgbClr val="F8FAFC"/>
                </a:solidFill>
                <a:latin typeface="Microsoft YaHei"/>
              </a:rPr>
              <a:t>训练脚本 train.py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2578608"/>
            <a:ext cx="8961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CBD5E1"/>
                </a:solidFill>
                <a:latin typeface="Microsoft YaHei"/>
              </a:rPr>
              <a:t>训练工程包含数据读取、合成高光增强、动态权重、分层学习率、EMA、验证、曲线和多指标 checkpoint 保存。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3337560"/>
            <a:ext cx="8046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9 ·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数据集与增强：从 input/target 构造全部监督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169926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325880"/>
            <a:ext cx="54864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input_dir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28800"/>
            <a:ext cx="147066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带高光输入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93620" y="1851660"/>
            <a:ext cx="164592" cy="0"/>
          </a:xfrm>
          <a:prstGeom prst="line">
            <a:avLst/>
          </a:prstGeom>
          <a:ln w="152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58212" y="1325880"/>
            <a:ext cx="169926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58212" y="1325880"/>
            <a:ext cx="54864" cy="1051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5372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target_dir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5372" y="1828800"/>
            <a:ext cx="147066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去高光目标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57472" y="1851660"/>
            <a:ext cx="164592" cy="0"/>
          </a:xfrm>
          <a:prstGeom prst="line">
            <a:avLst/>
          </a:prstGeom>
          <a:ln w="1524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22064" y="1325880"/>
            <a:ext cx="169926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2064" y="1325880"/>
            <a:ext cx="54864" cy="10515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9224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匹配文件名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9224" y="1828800"/>
            <a:ext cx="147066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input→target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21324" y="1851660"/>
            <a:ext cx="164592" cy="0"/>
          </a:xfrm>
          <a:prstGeom prst="line">
            <a:avLst/>
          </a:prstGeom>
          <a:ln w="1524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85916" y="1325880"/>
            <a:ext cx="169926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85916" y="1325880"/>
            <a:ext cx="54864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3076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resize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3076" y="1828800"/>
            <a:ext cx="147066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int / (H,W) / None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885176" y="1851660"/>
            <a:ext cx="164592" cy="0"/>
          </a:xfrm>
          <a:prstGeom prst="line">
            <a:avLst/>
          </a:prstGeom>
          <a:ln w="1524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049768" y="1325880"/>
            <a:ext cx="169926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9768" y="1325880"/>
            <a:ext cx="54864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6928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增强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6928" y="1828800"/>
            <a:ext cx="147066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翻转/旋转/裁剪/亮度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749028" y="1851660"/>
            <a:ext cx="164592" cy="0"/>
          </a:xfrm>
          <a:prstGeom prst="line">
            <a:avLst/>
          </a:prstGeom>
          <a:ln w="152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913620" y="1325880"/>
            <a:ext cx="169926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13620" y="1325880"/>
            <a:ext cx="54864" cy="10515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0780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返回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0780" y="1828800"/>
            <a:ext cx="147066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inp,tgt,gt_spec,gt_grad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2880360"/>
            <a:ext cx="338328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" y="2880360"/>
            <a:ext cx="54864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2990088"/>
            <a:ext cx="3154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ImprovedFringeDataset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3383280"/>
            <a:ext cx="31546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读取灰度输入与目标图，自动匹配文件名；归一化到 [0,1]；返回 [1,H,W] 张量。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34840" y="2880360"/>
            <a:ext cx="338328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34840" y="2880360"/>
            <a:ext cx="54864" cy="1234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2990088"/>
            <a:ext cx="3154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EnhancedPairedTransform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383280"/>
            <a:ext cx="31546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对输入和目标同步做几何增强，保持两者像素对应关系不被破坏。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20" y="2880360"/>
            <a:ext cx="324612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046720" y="2880360"/>
            <a:ext cx="54864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83880" y="2990088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HighlightAugmentation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83880" y="3383280"/>
            <a:ext cx="30175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在输入图叠加随机高斯亮斑，并同步更新 gt_specular，增强模型对高反光形态的鲁棒性。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57400" y="4892040"/>
            <a:ext cx="8092440" cy="685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40280" y="5001768"/>
            <a:ext cx="7726679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38BDF8"/>
                </a:solidFill>
                <a:latin typeface="Microsoft YaHei"/>
              </a:rPr>
              <a:t>训练中自动构造辅助监督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21992" y="5294376"/>
            <a:ext cx="77724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gt_specular = clamp(input_img - target_img, 0, 1)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gt_gradient = compute_input_gradient_target(input_img)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9 · TRAIN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训练流程：从 batch 到 checkpoint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1699260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325880"/>
            <a:ext cx="54864" cy="10972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DataLoader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28800"/>
            <a:ext cx="1470660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inp,tgt,gt_s,gt_g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93620" y="1874519"/>
            <a:ext cx="164592" cy="0"/>
          </a:xfrm>
          <a:prstGeom prst="line">
            <a:avLst/>
          </a:prstGeom>
          <a:ln w="152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58212" y="1325880"/>
            <a:ext cx="1699260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58212" y="1325880"/>
            <a:ext cx="54864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5372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model(inp)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5372" y="1828800"/>
            <a:ext cx="1470660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r,g,b,s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57472" y="1874519"/>
            <a:ext cx="164592" cy="0"/>
          </a:xfrm>
          <a:prstGeom prst="line">
            <a:avLst/>
          </a:prstGeom>
          <a:ln w="1524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22064" y="1325880"/>
            <a:ext cx="1699260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2064" y="1325880"/>
            <a:ext cx="54864" cy="10972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9224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loss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9224" y="1828800"/>
            <a:ext cx="1470660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EnhancedCompositeLoss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21324" y="1874519"/>
            <a:ext cx="164592" cy="0"/>
          </a:xfrm>
          <a:prstGeom prst="line">
            <a:avLst/>
          </a:prstGeom>
          <a:ln w="1524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85916" y="1325880"/>
            <a:ext cx="1699260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85916" y="1325880"/>
            <a:ext cx="54864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3076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backward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3076" y="1828800"/>
            <a:ext cx="1470660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累积梯度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885176" y="1874519"/>
            <a:ext cx="164592" cy="0"/>
          </a:xfrm>
          <a:prstGeom prst="line">
            <a:avLst/>
          </a:prstGeom>
          <a:ln w="152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049768" y="1325880"/>
            <a:ext cx="1699260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9768" y="1325880"/>
            <a:ext cx="54864" cy="1097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6928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clip + step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6928" y="1828800"/>
            <a:ext cx="1470660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AdamW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749028" y="1874519"/>
            <a:ext cx="164592" cy="0"/>
          </a:xfrm>
          <a:prstGeom prst="line">
            <a:avLst/>
          </a:prstGeom>
          <a:ln w="1524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913620" y="1325880"/>
            <a:ext cx="1699260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13620" y="1325880"/>
            <a:ext cx="54864" cy="109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0780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EMA + validate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0780" y="1828800"/>
            <a:ext cx="1470660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保存最优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2971800"/>
            <a:ext cx="516636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" y="2971800"/>
            <a:ext cx="54864" cy="123444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3081528"/>
            <a:ext cx="4937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稳定性保护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3474720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训练循环检查输入、输出、loss、梯度和优化器状态是否存在 NaN/Inf；异常 batch 会被跳过或修复。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2971800"/>
            <a:ext cx="498348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2971800"/>
            <a:ext cx="54864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3081528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小 batch 训练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3474720"/>
            <a:ext cx="47548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当前配置支持 GroupNorm、梯度累积、梯度裁剪和 EMA，适合显存有限但模型较复杂的训练场景。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34440" y="4663440"/>
            <a:ext cx="9738360" cy="1143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17320" y="4773168"/>
            <a:ext cx="93726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38BDF8"/>
                </a:solidFill>
                <a:latin typeface="Microsoft YaHei"/>
              </a:rPr>
              <a:t>train_one_epoch 核心步骤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99032" y="5065776"/>
            <a:ext cx="94183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loss = criterion(pred_r, tgt, est_b, gt_s, pred_g, gt_g, ...)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loss = loss / ACCUMULATION_STEPS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loss.backward()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clip_grad_norm_(model.parameters(), 1.0)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optimizer.step()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ema.update(model)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9 ·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分层学习率与动态损失权重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18872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  <a:gridCol w="6035040"/>
              </a:tblGrid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8FAFC"/>
                          </a:solidFill>
                          <a:latin typeface="Microsoft YaHei"/>
                        </a:rPr>
                        <a:t>参数组</a:t>
                      </a:r>
                    </a:p>
                  </a:txBody>
                  <a:tcPr marL="45720" marR="45720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8FAFC"/>
                          </a:solidFill>
                          <a:latin typeface="Microsoft YaHei"/>
                        </a:rPr>
                        <a:t>学习率</a:t>
                      </a:r>
                    </a:p>
                  </a:txBody>
                  <a:tcPr marL="45720" marR="45720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8FAFC"/>
                          </a:solidFill>
                          <a:latin typeface="Microsoft YaHei"/>
                        </a:rPr>
                        <a:t>包含模块</a:t>
                      </a:r>
                    </a:p>
                  </a:txBody>
                  <a:tcPr marL="45720" marR="45720" marT="27432" marB="27432">
                    <a:solidFill>
                      <a:srgbClr val="1E293B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CBD5E1"/>
                          </a:solidFill>
                          <a:latin typeface="Microsoft YaHei"/>
                        </a:rPr>
                        <a:t>encoder_pretrained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CBD5E1"/>
                          </a:solidFill>
                          <a:latin typeface="Microsoft YaHei"/>
                        </a:rPr>
                        <a:t>0.1× base_lr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CBD5E1"/>
                          </a:solidFill>
                          <a:latin typeface="Microsoft YaHei"/>
                        </a:rPr>
                        <a:t>ResNet / Swin 主干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CBD5E1"/>
                          </a:solidFill>
                          <a:latin typeface="Microsoft YaHei"/>
                        </a:rPr>
                        <a:t>adaptive_skip_fusion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CBD5E1"/>
                          </a:solidFill>
                          <a:latin typeface="Microsoft YaHei"/>
                        </a:rPr>
                        <a:t>1.0× base_lr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CBD5E1"/>
                          </a:solidFill>
                          <a:latin typeface="Microsoft YaHei"/>
                        </a:rPr>
                        <a:t>fuse_h4 / fuse_h8 / swin16_proj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CBD5E1"/>
                          </a:solidFill>
                          <a:latin typeface="Microsoft YaHei"/>
                        </a:rPr>
                        <a:t>fusion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CBD5E1"/>
                          </a:solidFill>
                          <a:latin typeface="Microsoft YaHei"/>
                        </a:rPr>
                        <a:t>0.5× base_lr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CBD5E1"/>
                          </a:solidFill>
                          <a:latin typeface="Microsoft YaHei"/>
                        </a:rPr>
                        <a:t>其他融合参数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CBD5E1"/>
                          </a:solidFill>
                          <a:latin typeface="Microsoft YaHei"/>
                        </a:rPr>
                        <a:t>decoders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CBD5E1"/>
                          </a:solidFill>
                          <a:latin typeface="Microsoft YaHei"/>
                        </a:rPr>
                        <a:t>1.0× base_lr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CBD5E1"/>
                          </a:solidFill>
                          <a:latin typeface="Microsoft YaHei"/>
                        </a:rPr>
                        <a:t>GradientDecoder / MainDecoder / EnhancementLayers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CBD5E1"/>
                          </a:solidFill>
                          <a:latin typeface="Microsoft YaHei"/>
                        </a:rPr>
                        <a:t>ffc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CBD5E1"/>
                          </a:solidFill>
                          <a:latin typeface="Microsoft YaHei"/>
                        </a:rPr>
                        <a:t>0.5× base_lr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CBD5E1"/>
                          </a:solidFill>
                          <a:latin typeface="Microsoft YaHei"/>
                        </a:rPr>
                        <a:t>FFC 相关模块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CBD5E1"/>
                          </a:solidFill>
                          <a:latin typeface="Microsoft YaHei"/>
                        </a:rPr>
                        <a:t>new_modules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CBD5E1"/>
                          </a:solidFill>
                          <a:latin typeface="Microsoft YaHei"/>
                        </a:rPr>
                        <a:t>1.0× base_lr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CBD5E1"/>
                          </a:solidFill>
                          <a:latin typeface="Microsoft YaHei"/>
                        </a:rPr>
                        <a:t>高光注意力 / 高频增强 / 精修头 / 顶向回流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22960" y="3931920"/>
            <a:ext cx="5166360" cy="11430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931920"/>
            <a:ext cx="54864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41648"/>
            <a:ext cx="4937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学习率调度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434840"/>
            <a:ext cx="49377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使用 warmup + cosine decay。训练前期先缓慢升高，避免预训练主干和新模块一开始被大步长破坏。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931920"/>
            <a:ext cx="4983480" cy="11430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3931920"/>
            <a:ext cx="54864" cy="1143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041648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动态损失权重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434840"/>
            <a:ext cx="47548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ImprovedWeightScheduler 按训练进度调节各项 λ，让早期快速收敛，随后逐渐强化结构、高光和 r 端直接监督。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9 ·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验证、指标与模型保存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325880"/>
            <a:ext cx="3429000" cy="12801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325880"/>
            <a:ext cx="54864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35607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MetricTracker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3200400" cy="6857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统一统计 Loss、SSIM、MAE、MSE、PSNR 和各子损失，避免训练/验证阶段指标口径不一致。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325880"/>
            <a:ext cx="3429000" cy="12801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325880"/>
            <a:ext cx="54864" cy="1280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435607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多指标最优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28800"/>
            <a:ext cx="3200400" cy="6857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保存综合最优、SSIM 最优、Loss 最优和最后一轮模型，便于按不同部署目标选择 checkpoint。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325880"/>
            <a:ext cx="3246120" cy="12801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325880"/>
            <a:ext cx="54864" cy="12801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435607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可视化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828800"/>
            <a:ext cx="3017520" cy="6857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保存验证样本对比图、训练历史曲线、子损失曲线和训练总结文件，提升可观测性。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143000" y="3337560"/>
          <a:ext cx="98755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676656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8FAFC"/>
                          </a:solidFill>
                          <a:latin typeface="Microsoft YaHei"/>
                        </a:rPr>
                        <a:t>保存文件</a:t>
                      </a:r>
                    </a:p>
                  </a:txBody>
                  <a:tcPr marL="45720" marR="45720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8FAFC"/>
                          </a:solidFill>
                          <a:latin typeface="Microsoft YaHei"/>
                        </a:rPr>
                        <a:t>意义</a:t>
                      </a:r>
                    </a:p>
                  </a:txBody>
                  <a:tcPr marL="45720" marR="45720" marT="27432" marB="27432"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CBD5E1"/>
                          </a:solidFill>
                          <a:latin typeface="Microsoft YaHei"/>
                        </a:rPr>
                        <a:t>best_model.pth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CBD5E1"/>
                          </a:solidFill>
                          <a:latin typeface="Microsoft YaHei"/>
                        </a:rPr>
                        <a:t>综合评分最优：0.7×SSIM + 0.3×Loss score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CBD5E1"/>
                          </a:solidFill>
                          <a:latin typeface="Microsoft YaHei"/>
                        </a:rPr>
                        <a:t>best_model_best_ssim.pth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CBD5E1"/>
                          </a:solidFill>
                          <a:latin typeface="Microsoft YaHei"/>
                        </a:rPr>
                        <a:t>验证 SSIM 最高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CBD5E1"/>
                          </a:solidFill>
                          <a:latin typeface="Microsoft YaHei"/>
                        </a:rPr>
                        <a:t>best_model_best_loss.pth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CBD5E1"/>
                          </a:solidFill>
                          <a:latin typeface="Microsoft YaHei"/>
                        </a:rPr>
                        <a:t>验证 Loss 最低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CBD5E1"/>
                          </a:solidFill>
                          <a:latin typeface="Microsoft YaHei"/>
                        </a:rPr>
                        <a:t>last_model.pth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CBD5E1"/>
                          </a:solidFill>
                          <a:latin typeface="Microsoft YaHei"/>
                        </a:rPr>
                        <a:t>最后一轮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CBD5E1"/>
                          </a:solidFill>
                          <a:latin typeface="Microsoft YaHei"/>
                        </a:rPr>
                        <a:t>checkpoint_epoch_*.pth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CBD5E1"/>
                          </a:solidFill>
                          <a:latin typeface="Microsoft YaHei"/>
                        </a:rPr>
                        <a:t>定期保存的训练快照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9080" y="0"/>
            <a:ext cx="4114800" cy="6858000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38160" y="0"/>
            <a:ext cx="41148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94A3B8"/>
                </a:solidFill>
                <a:latin typeface="Microsoft YaHei"/>
              </a:rPr>
              <a:t>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914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>
                <a:solidFill>
                  <a:srgbClr val="22C55E"/>
                </a:solidFill>
                <a:latin typeface="Microsoft YaHei"/>
              </a:rPr>
              <a:t>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64208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3100" b="1">
                <a:solidFill>
                  <a:srgbClr val="F8FAFC"/>
                </a:solidFill>
                <a:latin typeface="Microsoft YaHei"/>
              </a:rPr>
              <a:t>推理脚本 process_images.py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2578608"/>
            <a:ext cx="8961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CBD5E1"/>
                </a:solidFill>
                <a:latin typeface="Microsoft YaHei"/>
              </a:rPr>
              <a:t>推理端保持原始尺寸，支持 EMA 权重、GroupNorm checkpoint、滑窗融合、TTA 和多输出结果保存。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3337560"/>
            <a:ext cx="804672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10 ·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推理流程：单图或文件夹批处理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1699260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325880"/>
            <a:ext cx="54864" cy="10972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INPUT_PATH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28800"/>
            <a:ext cx="1470660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单图/文件夹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93620" y="1874519"/>
            <a:ext cx="164592" cy="0"/>
          </a:xfrm>
          <a:prstGeom prst="line">
            <a:avLst/>
          </a:prstGeom>
          <a:ln w="152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58212" y="1325880"/>
            <a:ext cx="1699260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58212" y="1325880"/>
            <a:ext cx="54864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5372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load_model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5372" y="1828800"/>
            <a:ext cx="1470660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checkpoint + EMA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57472" y="1874519"/>
            <a:ext cx="164592" cy="0"/>
          </a:xfrm>
          <a:prstGeom prst="line">
            <a:avLst/>
          </a:prstGeom>
          <a:ln w="1524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22064" y="1325880"/>
            <a:ext cx="1699260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2064" y="1325880"/>
            <a:ext cx="54864" cy="109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9224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load_image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9224" y="1828800"/>
            <a:ext cx="1470660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灰度 [1,1,H,W]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21324" y="1874519"/>
            <a:ext cx="164592" cy="0"/>
          </a:xfrm>
          <a:prstGeom prst="line">
            <a:avLst/>
          </a:prstGeom>
          <a:ln w="1524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85916" y="1325880"/>
            <a:ext cx="1699260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85916" y="1325880"/>
            <a:ext cx="54864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3076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sliding_window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3076" y="1828800"/>
            <a:ext cx="1470660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大图 patch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885176" y="1874519"/>
            <a:ext cx="164592" cy="0"/>
          </a:xfrm>
          <a:prstGeom prst="line">
            <a:avLst/>
          </a:prstGeom>
          <a:ln w="152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049768" y="1325880"/>
            <a:ext cx="1699260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9768" y="1325880"/>
            <a:ext cx="54864" cy="10972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6928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TTA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6928" y="1828800"/>
            <a:ext cx="1470660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4-flip 平均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749028" y="1874519"/>
            <a:ext cx="164592" cy="0"/>
          </a:xfrm>
          <a:prstGeom prst="line">
            <a:avLst/>
          </a:prstGeom>
          <a:ln w="1524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913620" y="1325880"/>
            <a:ext cx="1699260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13620" y="1325880"/>
            <a:ext cx="54864" cy="1097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0780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save_result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0780" y="1828800"/>
            <a:ext cx="1470660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r/b/g/s/vis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2971800"/>
            <a:ext cx="516636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" y="2971800"/>
            <a:ext cx="54864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3081528"/>
            <a:ext cx="4937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保持原始尺寸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3474720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推理默认不 resize 输入图。大图通过滑窗 patch 处理，最后裁回原始尺寸，输出与输入尺寸一致。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2971800"/>
            <a:ext cx="498348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2971800"/>
            <a:ext cx="54864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3081528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输出文件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3474720"/>
            <a:ext cx="47548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*_diffuse.png 是主结果；*_specular.png、*_gradient.png、*_spec_likelihood.png 和 *_visualization.png 用于分析和展示。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25880" y="4709160"/>
            <a:ext cx="9555480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08760" y="4818888"/>
            <a:ext cx="9189719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38BDF8"/>
                </a:solidFill>
                <a:latin typeface="Microsoft YaHei"/>
              </a:rPr>
              <a:t>推理脚本使用方式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90472" y="5111496"/>
            <a:ext cx="9235440" cy="59435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python process_images.py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INPUT_PATH: image or folder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MODEL_PATH: trained checkpoint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OUTPUT_DIR: result folder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USE_TTA: True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TRAIN_IMAGE_SIZE: from checkpoint when available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10 · MODEL LOADING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模型加载：EMA、GN 与 flexible state_dict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169926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325880"/>
            <a:ext cx="54864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torch.load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28800"/>
            <a:ext cx="147066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checkpoint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93620" y="1851660"/>
            <a:ext cx="164592" cy="0"/>
          </a:xfrm>
          <a:prstGeom prst="line">
            <a:avLst/>
          </a:prstGeom>
          <a:ln w="152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58212" y="1325880"/>
            <a:ext cx="169926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58212" y="1325880"/>
            <a:ext cx="54864" cy="10515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5372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YFFC(False)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5372" y="1828800"/>
            <a:ext cx="147066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不下载预训练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57472" y="1851660"/>
            <a:ext cx="164592" cy="0"/>
          </a:xfrm>
          <a:prstGeom prst="line">
            <a:avLst/>
          </a:prstGeom>
          <a:ln w="1524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22064" y="1325880"/>
            <a:ext cx="169926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2064" y="1325880"/>
            <a:ext cx="54864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9224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GN 检测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9224" y="1828800"/>
            <a:ext cx="147066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BN→GN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21324" y="1851660"/>
            <a:ext cx="164592" cy="0"/>
          </a:xfrm>
          <a:prstGeom prst="line">
            <a:avLst/>
          </a:prstGeom>
          <a:ln w="1524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85916" y="1325880"/>
            <a:ext cx="169926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85916" y="1325880"/>
            <a:ext cx="54864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3076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EMA 合并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3076" y="1828800"/>
            <a:ext cx="147066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prefer_ema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885176" y="1851660"/>
            <a:ext cx="164592" cy="0"/>
          </a:xfrm>
          <a:prstGeom prst="line">
            <a:avLst/>
          </a:prstGeom>
          <a:ln w="152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049768" y="1325880"/>
            <a:ext cx="169926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9768" y="1325880"/>
            <a:ext cx="54864" cy="10515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6928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flexible load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6928" y="1828800"/>
            <a:ext cx="147066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跳过不匹配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749028" y="1851660"/>
            <a:ext cx="164592" cy="0"/>
          </a:xfrm>
          <a:prstGeom prst="line">
            <a:avLst/>
          </a:prstGeom>
          <a:ln w="1524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913620" y="1325880"/>
            <a:ext cx="169926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13620" y="1325880"/>
            <a:ext cx="54864" cy="1051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0780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F8FAFC"/>
                </a:solidFill>
                <a:latin typeface="Microsoft YaHei"/>
              </a:rPr>
              <a:t>eval()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0780" y="1828800"/>
            <a:ext cx="147066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CBD5E1"/>
                </a:solidFill>
                <a:latin typeface="Microsoft YaHei"/>
              </a:rPr>
              <a:t>推理模式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2880360"/>
            <a:ext cx="525780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" y="2880360"/>
            <a:ext cx="54864" cy="1234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2990088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为什么 swin_pretrained=False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3383280"/>
            <a:ext cx="5029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推理 checkpoint 已包含训练后的 Swin 权重，不需要也不应该在离线推理时重新下载 ImageNet 预训练权重。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55080" y="2880360"/>
            <a:ext cx="489204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5080" y="2880360"/>
            <a:ext cx="54864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2990088"/>
            <a:ext cx="46634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EMA 权重优先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3383280"/>
            <a:ext cx="46634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checkpoint 中若包含 ema_shadow / ema，推理默认优先加载 EMA 参数。EMA 权重通常更平滑，输出更稳定。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" y="4526280"/>
            <a:ext cx="525780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2960" y="4526280"/>
            <a:ext cx="54864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636008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灵活加载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" y="5029200"/>
            <a:ext cx="502920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如果 checkpoint 与当前结构不完全匹配，只加载名称存在且 shape 一致的张量，并打印跳过数量。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55080" y="4526280"/>
            <a:ext cx="489204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55080" y="4526280"/>
            <a:ext cx="54864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4636008"/>
            <a:ext cx="46634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GN 自动识别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5029200"/>
            <a:ext cx="466344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通过是否存在 running_mean/running_var/num_batches_tracked 判断 checkpoint 是否来自 BN→GN 后的模型。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10 · SLIDING WINDOW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滑窗推理：用训练 patch 尺寸处理大图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1459121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54864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35607"/>
            <a:ext cx="1230521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1">
                <a:solidFill>
                  <a:srgbClr val="F8FAFC"/>
                </a:solidFill>
                <a:latin typeface="Microsoft YaHei"/>
              </a:rPr>
              <a:t>原图 H×W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1230521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680" b="0">
                <a:solidFill>
                  <a:srgbClr val="CBD5E1"/>
                </a:solidFill>
                <a:latin typeface="Microsoft YaHei"/>
              </a:rPr>
              <a:t>保持尺寸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62041" y="1851660"/>
            <a:ext cx="164592" cy="0"/>
          </a:xfrm>
          <a:prstGeom prst="line">
            <a:avLst/>
          </a:prstGeom>
          <a:ln w="152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126633" y="1325880"/>
            <a:ext cx="1459121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26633" y="1325880"/>
            <a:ext cx="54864" cy="10515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63793" y="1435607"/>
            <a:ext cx="1230521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1">
                <a:solidFill>
                  <a:srgbClr val="F8FAFC"/>
                </a:solidFill>
                <a:latin typeface="Microsoft YaHei"/>
              </a:rPr>
              <a:t>patch_size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3793" y="1828800"/>
            <a:ext cx="1230521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680" b="0">
                <a:solidFill>
                  <a:srgbClr val="CBD5E1"/>
                </a:solidFill>
                <a:latin typeface="Microsoft YaHei"/>
              </a:rPr>
              <a:t>训练尺寸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85754" y="1851660"/>
            <a:ext cx="164592" cy="0"/>
          </a:xfrm>
          <a:prstGeom prst="line">
            <a:avLst/>
          </a:prstGeom>
          <a:ln w="1524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750346" y="1325880"/>
            <a:ext cx="1459121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50346" y="1325880"/>
            <a:ext cx="54864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87506" y="1435607"/>
            <a:ext cx="1230521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1">
                <a:solidFill>
                  <a:srgbClr val="F8FAFC"/>
                </a:solidFill>
                <a:latin typeface="Microsoft YaHei"/>
              </a:rPr>
              <a:t>overlap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7506" y="1828800"/>
            <a:ext cx="1230521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680" b="0">
                <a:solidFill>
                  <a:srgbClr val="CBD5E1"/>
                </a:solidFill>
                <a:latin typeface="Microsoft YaHei"/>
              </a:rPr>
              <a:t>重叠区域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209467" y="1851660"/>
            <a:ext cx="164592" cy="0"/>
          </a:xfrm>
          <a:prstGeom prst="line">
            <a:avLst/>
          </a:prstGeom>
          <a:ln w="1524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374059" y="1325880"/>
            <a:ext cx="1459121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74059" y="1325880"/>
            <a:ext cx="54864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11219" y="1435607"/>
            <a:ext cx="1230521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1">
                <a:solidFill>
                  <a:srgbClr val="F8FAFC"/>
                </a:solidFill>
                <a:latin typeface="Microsoft YaHei"/>
              </a:rPr>
              <a:t>padding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11219" y="1828800"/>
            <a:ext cx="1230521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680" b="0">
                <a:solidFill>
                  <a:srgbClr val="CBD5E1"/>
                </a:solidFill>
                <a:latin typeface="Microsoft YaHei"/>
              </a:rPr>
              <a:t>右/下补齐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33180" y="1851660"/>
            <a:ext cx="164592" cy="0"/>
          </a:xfrm>
          <a:prstGeom prst="line">
            <a:avLst/>
          </a:prstGeom>
          <a:ln w="152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997772" y="1325880"/>
            <a:ext cx="1459121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97772" y="1325880"/>
            <a:ext cx="54864" cy="10515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4932" y="1435607"/>
            <a:ext cx="1230521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1">
                <a:solidFill>
                  <a:srgbClr val="F8FAFC"/>
                </a:solidFill>
                <a:latin typeface="Microsoft YaHei"/>
              </a:rPr>
              <a:t>patch 推理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4932" y="1828800"/>
            <a:ext cx="1230521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680" b="0">
                <a:solidFill>
                  <a:srgbClr val="CBD5E1"/>
                </a:solidFill>
                <a:latin typeface="Microsoft YaHei"/>
              </a:rPr>
              <a:t>逐块预测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456893" y="1851660"/>
            <a:ext cx="164592" cy="0"/>
          </a:xfrm>
          <a:prstGeom prst="line">
            <a:avLst/>
          </a:prstGeom>
          <a:ln w="1524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621485" y="1325880"/>
            <a:ext cx="1459121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621485" y="1325880"/>
            <a:ext cx="54864" cy="10515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58645" y="1435607"/>
            <a:ext cx="1230521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1">
                <a:solidFill>
                  <a:srgbClr val="F8FAFC"/>
                </a:solidFill>
                <a:latin typeface="Microsoft YaHei"/>
              </a:rPr>
              <a:t>加权融合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58645" y="1828800"/>
            <a:ext cx="1230521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680" b="0">
                <a:solidFill>
                  <a:srgbClr val="CBD5E1"/>
                </a:solidFill>
                <a:latin typeface="Microsoft YaHei"/>
              </a:rPr>
              <a:t>Tukey 窗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080606" y="1851660"/>
            <a:ext cx="164592" cy="0"/>
          </a:xfrm>
          <a:prstGeom prst="line">
            <a:avLst/>
          </a:prstGeom>
          <a:ln w="1524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0245198" y="1325880"/>
            <a:ext cx="1459121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245198" y="1325880"/>
            <a:ext cx="54864" cy="1051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82358" y="1435607"/>
            <a:ext cx="1230521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1">
                <a:solidFill>
                  <a:srgbClr val="F8FAFC"/>
                </a:solidFill>
                <a:latin typeface="Microsoft YaHei"/>
              </a:rPr>
              <a:t>裁回原尺寸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82358" y="1828800"/>
            <a:ext cx="1230521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680" b="0">
                <a:solidFill>
                  <a:srgbClr val="CBD5E1"/>
                </a:solidFill>
                <a:latin typeface="Microsoft YaHei"/>
              </a:rPr>
              <a:t>输出一致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" y="2834640"/>
            <a:ext cx="5166360" cy="13258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2960" y="2834640"/>
            <a:ext cx="54864" cy="1325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2944368"/>
            <a:ext cx="4937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为什么要滑窗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" y="3337560"/>
            <a:ext cx="4937760" cy="7315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训练时模型看到的是固定尺寸 patch；大图直接整图前向可能显存不足，也可能与训练尺度不一致。滑窗让推理口径更接近训练。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63640" y="2834640"/>
            <a:ext cx="4983480" cy="13258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63640" y="2834640"/>
            <a:ext cx="54864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2944368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为什么要 overlap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3337560"/>
            <a:ext cx="4754880" cy="7315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每个 patch 边缘信息不完整。重叠推理让边缘区域可以由邻近 patch 共同贡献，减少拼接痕迹。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600200" y="4892040"/>
            <a:ext cx="8915400" cy="8229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764792" y="5074920"/>
            <a:ext cx="8586216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8FAFC"/>
                </a:solidFill>
                <a:latin typeface="Cambria Math"/>
              </a:rPr>
              <a:t>stride_h = patch_h - overlap,  stride_w = patch_w - overlap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28800" y="5696712"/>
            <a:ext cx="8458200" cy="-457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overlap 必须小于 patch 短边；默认 PATCH_OVERLAP = 64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10 · TUKEY BLENDING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Tukey 窗融合：让 patch 边界更平滑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4754880" cy="205740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8719" y="3035808"/>
            <a:ext cx="178723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4460" y="3035808"/>
            <a:ext cx="178723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00199" y="3035808"/>
            <a:ext cx="178723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05939" y="3020322"/>
            <a:ext cx="178723" cy="15264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79" y="1618487"/>
            <a:ext cx="178723" cy="1554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7420" y="1618487"/>
            <a:ext cx="178723" cy="1554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1618487"/>
            <a:ext cx="178723" cy="1554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28900" y="1618487"/>
            <a:ext cx="178723" cy="1554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34639" y="1618487"/>
            <a:ext cx="178723" cy="1554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40379" y="1618487"/>
            <a:ext cx="178723" cy="1554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46120" y="1618487"/>
            <a:ext cx="178723" cy="1554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51860" y="1618487"/>
            <a:ext cx="178723" cy="1554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0" y="1618487"/>
            <a:ext cx="178723" cy="1554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63339" y="1618487"/>
            <a:ext cx="178723" cy="1554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69079" y="1618487"/>
            <a:ext cx="178723" cy="1554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74820" y="1618487"/>
            <a:ext cx="178723" cy="1554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1633973"/>
            <a:ext cx="178723" cy="153899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86300" y="1618487"/>
            <a:ext cx="178723" cy="1554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92040" y="1618487"/>
            <a:ext cx="178723" cy="1554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97780" y="1618487"/>
            <a:ext cx="178723" cy="1554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31720" y="155448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F8FAFC"/>
                </a:solidFill>
                <a:latin typeface="Microsoft YaHei"/>
              </a:rPr>
              <a:t>Tukey window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80760" y="1417320"/>
            <a:ext cx="5212080" cy="11430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80760" y="1417320"/>
            <a:ext cx="54864" cy="1143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1527048"/>
            <a:ext cx="4983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权重特点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1920240"/>
            <a:ext cx="49834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中央区域权重接近 1，边缘区域平滑衰减。这样 patch 中心贡献更多，边缘不会形成硬切换。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80760" y="2880360"/>
            <a:ext cx="5212080" cy="114300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80760" y="2880360"/>
            <a:ext cx="54864" cy="1143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2990088"/>
            <a:ext cx="4983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融合对象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383280"/>
            <a:ext cx="49834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滑窗推理会对 r、b、g 进行加权累加；如果输出存在 s 和 r_direct，也会同步累加。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965960" y="4892040"/>
            <a:ext cx="8229600" cy="8229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30552" y="5074920"/>
            <a:ext cx="7900416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8FAFC"/>
                </a:solidFill>
                <a:latin typeface="Cambria Math"/>
              </a:rPr>
              <a:t>output = Σ(patch_pred · window) / Σ(window)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94560" y="5696712"/>
            <a:ext cx="7772400" cy="-457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加权平均后再裁回原图尺寸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10 · TTA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TTA 4-flip 推理：减少方向性误差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169926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325880"/>
            <a:ext cx="54864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1">
                <a:solidFill>
                  <a:srgbClr val="F8FAFC"/>
                </a:solidFill>
                <a:latin typeface="Microsoft YaHei"/>
              </a:rPr>
              <a:t>原 patch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28800"/>
            <a:ext cx="147066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30" b="0">
                <a:solidFill>
                  <a:srgbClr val="CBD5E1"/>
                </a:solidFill>
                <a:latin typeface="Microsoft YaHei"/>
              </a:rPr>
              <a:t>forward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93620" y="1851660"/>
            <a:ext cx="164592" cy="0"/>
          </a:xfrm>
          <a:prstGeom prst="line">
            <a:avLst/>
          </a:prstGeom>
          <a:ln w="152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58212" y="1325880"/>
            <a:ext cx="169926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58212" y="1325880"/>
            <a:ext cx="54864" cy="10515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5372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1">
                <a:solidFill>
                  <a:srgbClr val="F8FAFC"/>
                </a:solidFill>
                <a:latin typeface="Microsoft YaHei"/>
              </a:rPr>
              <a:t>水平翻转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5372" y="1828800"/>
            <a:ext cx="147066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30" b="0">
                <a:solidFill>
                  <a:srgbClr val="CBD5E1"/>
                </a:solidFill>
                <a:latin typeface="Microsoft YaHei"/>
              </a:rPr>
              <a:t>forward → 翻回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57472" y="1851660"/>
            <a:ext cx="164592" cy="0"/>
          </a:xfrm>
          <a:prstGeom prst="line">
            <a:avLst/>
          </a:prstGeom>
          <a:ln w="1524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22064" y="1325880"/>
            <a:ext cx="169926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2064" y="1325880"/>
            <a:ext cx="54864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9224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1">
                <a:solidFill>
                  <a:srgbClr val="F8FAFC"/>
                </a:solidFill>
                <a:latin typeface="Microsoft YaHei"/>
              </a:rPr>
              <a:t>垂直翻转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9224" y="1828800"/>
            <a:ext cx="147066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30" b="0">
                <a:solidFill>
                  <a:srgbClr val="CBD5E1"/>
                </a:solidFill>
                <a:latin typeface="Microsoft YaHei"/>
              </a:rPr>
              <a:t>forward → 翻回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21324" y="1851660"/>
            <a:ext cx="164592" cy="0"/>
          </a:xfrm>
          <a:prstGeom prst="line">
            <a:avLst/>
          </a:prstGeom>
          <a:ln w="1524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85916" y="1325880"/>
            <a:ext cx="169926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85916" y="1325880"/>
            <a:ext cx="54864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3076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1">
                <a:solidFill>
                  <a:srgbClr val="F8FAFC"/>
                </a:solidFill>
                <a:latin typeface="Microsoft YaHei"/>
              </a:rPr>
              <a:t>双翻转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3076" y="1828800"/>
            <a:ext cx="147066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30" b="0">
                <a:solidFill>
                  <a:srgbClr val="CBD5E1"/>
                </a:solidFill>
                <a:latin typeface="Microsoft YaHei"/>
              </a:rPr>
              <a:t>forward → 翻回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885176" y="1851660"/>
            <a:ext cx="164592" cy="0"/>
          </a:xfrm>
          <a:prstGeom prst="line">
            <a:avLst/>
          </a:prstGeom>
          <a:ln w="152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049768" y="1325880"/>
            <a:ext cx="169926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9768" y="1325880"/>
            <a:ext cx="54864" cy="10515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6928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1">
                <a:solidFill>
                  <a:srgbClr val="F8FAFC"/>
                </a:solidFill>
                <a:latin typeface="Microsoft YaHei"/>
              </a:rPr>
              <a:t>平均输出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6928" y="1828800"/>
            <a:ext cx="147066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30" b="0">
                <a:solidFill>
                  <a:srgbClr val="CBD5E1"/>
                </a:solidFill>
                <a:latin typeface="Microsoft YaHei"/>
              </a:rPr>
              <a:t>b/r_direct/g/s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749028" y="1851660"/>
            <a:ext cx="164592" cy="0"/>
          </a:xfrm>
          <a:prstGeom prst="line">
            <a:avLst/>
          </a:prstGeom>
          <a:ln w="1524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913620" y="1325880"/>
            <a:ext cx="1699260" cy="105156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13620" y="1325880"/>
            <a:ext cx="54864" cy="1051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0780" y="1435607"/>
            <a:ext cx="14706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1">
                <a:solidFill>
                  <a:srgbClr val="F8FAFC"/>
                </a:solidFill>
                <a:latin typeface="Microsoft YaHei"/>
              </a:rPr>
              <a:t>重做融合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0780" y="1828800"/>
            <a:ext cx="1470660" cy="4571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730" b="0">
                <a:solidFill>
                  <a:srgbClr val="CBD5E1"/>
                </a:solidFill>
                <a:latin typeface="Microsoft YaHei"/>
              </a:rPr>
              <a:t>r_final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2880360"/>
            <a:ext cx="516636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" y="2880360"/>
            <a:ext cx="54864" cy="1234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2990088"/>
            <a:ext cx="4937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TTA 的作用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3383280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模型在不同翻转方向上的预测略有差异。对四次预测取平均，可以降低局部偶然误差，让输出更平滑稳定。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2880360"/>
            <a:ext cx="498348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2880360"/>
            <a:ext cx="54864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2990088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与双头兼容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3383280"/>
            <a:ext cx="47548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TTA 不只是平均最终 r，而是平均 b、r_direct、g、s，再按 YFFC.forward 末尾逻辑重新做 r_sub、alpha 融合和 refinement。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34440" y="4572000"/>
            <a:ext cx="9738360" cy="1234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17320" y="4681728"/>
            <a:ext cx="93726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38BDF8"/>
                </a:solidFill>
                <a:latin typeface="Microsoft YaHei"/>
              </a:rPr>
              <a:t>_tta_forward 核心逻辑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99032" y="4974336"/>
            <a:ext cx="941832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for flip_h in [False, True]: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  for flip_v in [False, True]: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    out = model(flip(inp))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    unflip(out)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avg_b = mean(preds_b)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avg_r_direct = mean(preds_r_direct)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r_sub = clamp(inp - avg_b, 0, 1)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r_final = refinement_head(fuse(avg_r_direct, r_sub), inp, avg_r_direct)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10 · OUTPUT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推理输出与诊断方式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18872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063240"/>
                <a:gridCol w="52578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8FAFC"/>
                          </a:solidFill>
                          <a:latin typeface="Microsoft YaHei"/>
                        </a:rPr>
                        <a:t>文件</a:t>
                      </a:r>
                    </a:p>
                  </a:txBody>
                  <a:tcPr marL="45720" marR="45720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8FAFC"/>
                          </a:solidFill>
                          <a:latin typeface="Microsoft YaHei"/>
                        </a:rPr>
                        <a:t>含义</a:t>
                      </a:r>
                    </a:p>
                  </a:txBody>
                  <a:tcPr marL="45720" marR="45720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8FAFC"/>
                          </a:solidFill>
                          <a:latin typeface="Microsoft YaHei"/>
                        </a:rPr>
                        <a:t>用于检查</a:t>
                      </a:r>
                    </a:p>
                  </a:txBody>
                  <a:tcPr marL="45720" marR="45720" marT="27432" marB="27432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CBD5E1"/>
                          </a:solidFill>
                          <a:latin typeface="Microsoft YaHei"/>
                        </a:rPr>
                        <a:t>*_diffuse.png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CBD5E1"/>
                          </a:solidFill>
                          <a:latin typeface="Microsoft YaHei"/>
                        </a:rPr>
                        <a:t>最终漫反射 r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CBD5E1"/>
                          </a:solidFill>
                          <a:latin typeface="Microsoft YaHei"/>
                        </a:rPr>
                        <a:t>主效果：高光是否去除、条纹是否保留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CBD5E1"/>
                          </a:solidFill>
                          <a:latin typeface="Microsoft YaHei"/>
                        </a:rPr>
                        <a:t>*_specular.png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CBD5E1"/>
                          </a:solidFill>
                          <a:latin typeface="Microsoft YaHei"/>
                        </a:rPr>
                        <a:t>镜面/高光分量 b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CBD5E1"/>
                          </a:solidFill>
                          <a:latin typeface="Microsoft YaHei"/>
                        </a:rPr>
                        <a:t>模型移除了哪些亮度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CBD5E1"/>
                          </a:solidFill>
                          <a:latin typeface="Microsoft YaHei"/>
                        </a:rPr>
                        <a:t>*_gradient.png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CBD5E1"/>
                          </a:solidFill>
                          <a:latin typeface="Microsoft YaHei"/>
                        </a:rPr>
                        <a:t>梯度图 g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CBD5E1"/>
                          </a:solidFill>
                          <a:latin typeface="Microsoft YaHei"/>
                        </a:rPr>
                        <a:t>边界与条纹结构是否清楚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CBD5E1"/>
                          </a:solidFill>
                          <a:latin typeface="Microsoft YaHei"/>
                        </a:rPr>
                        <a:t>*_spec_likelihood.png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CBD5E1"/>
                          </a:solidFill>
                          <a:latin typeface="Microsoft YaHei"/>
                        </a:rPr>
                        <a:t>高光概率 s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CBD5E1"/>
                          </a:solidFill>
                          <a:latin typeface="Microsoft YaHei"/>
                        </a:rPr>
                        <a:t>高光定位是否准确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CBD5E1"/>
                          </a:solidFill>
                          <a:latin typeface="Microsoft YaHei"/>
                        </a:rPr>
                        <a:t>*_visualization.png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CBD5E1"/>
                          </a:solidFill>
                          <a:latin typeface="Microsoft YaHei"/>
                        </a:rPr>
                        <a:t>综合对比图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CBD5E1"/>
                          </a:solidFill>
                          <a:latin typeface="Microsoft YaHei"/>
                        </a:rPr>
                        <a:t>快速汇报和人工检查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CBD5E1"/>
                          </a:solidFill>
                          <a:latin typeface="Microsoft YaHei"/>
                        </a:rPr>
                        <a:t>*_16bit.png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CBD5E1"/>
                          </a:solidFill>
                          <a:latin typeface="Microsoft YaHei"/>
                        </a:rPr>
                        <a:t>可选 16-bit 输出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CBD5E1"/>
                          </a:solidFill>
                          <a:latin typeface="Microsoft YaHei"/>
                        </a:rPr>
                        <a:t>高精度后处理场景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22960" y="4160520"/>
            <a:ext cx="516636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4160520"/>
            <a:ext cx="54864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70248"/>
            <a:ext cx="4937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常见现象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663440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高光残留 → 看 specular 和 spec_likelihood 是否响应不足。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结果偏暗 → 看 specular 是否过强。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边界模糊 → 看 gradient 是否清晰。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160520"/>
            <a:ext cx="498348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4160520"/>
            <a:ext cx="54864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270248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部署建议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663440"/>
            <a:ext cx="47548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优先使用 checkpoint 记录的 image_size 作为滑窗 patch 尺寸；质量优先时启用 TTA；大图建议使用滑窗而非整图推理。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9080" y="0"/>
            <a:ext cx="4114800" cy="6858000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38160" y="0"/>
            <a:ext cx="41148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94A3B8"/>
                </a:solidFill>
                <a:latin typeface="Microsoft YaHei"/>
              </a:rPr>
              <a:t>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914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>
                <a:solidFill>
                  <a:srgbClr val="F43F5E"/>
                </a:solidFill>
                <a:latin typeface="Microsoft YaHei"/>
              </a:rPr>
              <a:t>十一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64208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3100" b="1">
                <a:solidFill>
                  <a:srgbClr val="F8FAFC"/>
                </a:solidFill>
                <a:latin typeface="Microsoft YaHei"/>
              </a:rPr>
              <a:t>数值稳定性与工程鲁棒性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2578608"/>
            <a:ext cx="8961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CBD5E1"/>
                </a:solidFill>
                <a:latin typeface="Microsoft YaHei"/>
              </a:rPr>
              <a:t>FFT、注意力和复杂损失容易出现异常值，当前工程在模型、训练和推理三处都加入了保护。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3337560"/>
            <a:ext cx="8046720" cy="45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11 · STABILITY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数值稳定性：从模型内部到推理输出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325880"/>
            <a:ext cx="342900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325880"/>
            <a:ext cx="54864" cy="123444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35607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_safe_tensor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32004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处理 NaN、+Inf、-Inf，并可做范围裁剪。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常用于 FFT、注意力、高频增强和输出边界。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325880"/>
            <a:ext cx="342900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325880"/>
            <a:ext cx="54864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435607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Sobel 归一化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28800"/>
            <a:ext cx="32004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梯度幅值内部加 eps，并使用分位数归一化，避免零梯度或极端梯度导致训练不稳。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325880"/>
            <a:ext cx="324612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325880"/>
            <a:ext cx="54864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435607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训练循环保护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828800"/>
            <a:ext cx="30175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检查输入、输出、loss、梯度、参数和 optimizer state。发现异常会跳过、修复或裁剪。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063240"/>
            <a:ext cx="525780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063240"/>
            <a:ext cx="54864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172968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推理保护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566160"/>
            <a:ext cx="5029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_sanitize_output_tensor 将输出中的异常值替换并裁剪到 [0,1]，保证保存结果不会因局部异常而崩溃。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063240"/>
            <a:ext cx="498348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3063240"/>
            <a:ext cx="54864" cy="1234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172968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为什么重要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566160"/>
            <a:ext cx="47548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当前模型包含 FFT、注意力、多分支损失和小 batch 训练。稳定性设计可以把偶发异常限制在局部，避免整轮训练或整张图推理失败。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34440" y="4892040"/>
            <a:ext cx="9692640" cy="868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17320" y="5001768"/>
            <a:ext cx="93268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38BDF8"/>
                </a:solidFill>
                <a:latin typeface="Microsoft YaHei"/>
              </a:rPr>
              <a:t>核心保护逻辑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99032" y="5294376"/>
            <a:ext cx="9372600" cy="41147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tensor = torch.nan_to_num(tensor, nan=0.0, posinf=1e4, neginf=-1e4)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tensor = tensor.clamp(min_value, max_value)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output = torch.nan_to_num(output, nan=0.0, posinf=1.0, neginf=0.0).clamp(0.0, 1.0)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核心模块作用总表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097280"/>
          <a:ext cx="113842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3657600"/>
                <a:gridCol w="530352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790" b="1">
                          <a:solidFill>
                            <a:srgbClr val="F8FAFC"/>
                          </a:solidFill>
                          <a:latin typeface="Microsoft YaHei"/>
                        </a:rPr>
                        <a:t>模块</a:t>
                      </a:r>
                    </a:p>
                  </a:txBody>
                  <a:tcPr marL="45720" marR="45720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90" b="1">
                          <a:solidFill>
                            <a:srgbClr val="F8FAFC"/>
                          </a:solidFill>
                          <a:latin typeface="Microsoft YaHei"/>
                        </a:rPr>
                        <a:t>结构关键词</a:t>
                      </a:r>
                    </a:p>
                  </a:txBody>
                  <a:tcPr marL="45720" marR="45720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90" b="1">
                          <a:solidFill>
                            <a:srgbClr val="F8FAFC"/>
                          </a:solidFill>
                          <a:latin typeface="Microsoft YaHei"/>
                        </a:rPr>
                        <a:t>在模型中的作用</a:t>
                      </a:r>
                    </a:p>
                  </a:txBody>
                  <a:tcPr marL="45720" marR="45720" marT="27432" marB="27432"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CBD5E1"/>
                          </a:solidFill>
                          <a:latin typeface="Microsoft YaHei"/>
                        </a:rPr>
                        <a:t>Encoder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CBD5E1"/>
                          </a:solidFill>
                          <a:latin typeface="Microsoft YaHei"/>
                        </a:rPr>
                        <a:t>ResNet50 + Swin + Fusion + FFC + HFE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CBD5E1"/>
                          </a:solidFill>
                          <a:latin typeface="Microsoft YaHei"/>
                        </a:rPr>
                        <a:t>提取局部纹理、上下文、高频边界与瓶颈特征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CBD5E1"/>
                          </a:solidFill>
                          <a:latin typeface="Microsoft YaHei"/>
                        </a:rPr>
                        <a:t>FourierUnit / FFC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CBD5E1"/>
                          </a:solidFill>
                          <a:latin typeface="Microsoft YaHei"/>
                        </a:rPr>
                        <a:t>FFT / real-imag / Conv1×1 / SE / IFFT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CBD5E1"/>
                          </a:solidFill>
                          <a:latin typeface="Microsoft YaHei"/>
                        </a:rPr>
                        <a:t>在频域建模条纹周期和全局高光模式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CBD5E1"/>
                          </a:solidFill>
                          <a:latin typeface="Microsoft YaHei"/>
                        </a:rPr>
                        <a:t>GradientDecoder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CBD5E1"/>
                          </a:solidFill>
                          <a:latin typeface="Microsoft YaHei"/>
                        </a:rPr>
                        <a:t>多级上采样 + FFC + g/s heads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CBD5E1"/>
                          </a:solidFill>
                          <a:latin typeface="Microsoft YaHei"/>
                        </a:rPr>
                        <a:t>输出梯度图、高光概率和待增强特征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CBD5E1"/>
                          </a:solidFill>
                          <a:latin typeface="Microsoft YaHei"/>
                        </a:rPr>
                        <a:t>EnhancementLayers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CBD5E1"/>
                          </a:solidFill>
                          <a:latin typeface="Microsoft YaHei"/>
                        </a:rPr>
                        <a:t>SpectralDecomposition + x/g/s gates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CBD5E1"/>
                          </a:solidFill>
                          <a:latin typeface="Microsoft YaHei"/>
                        </a:rPr>
                        <a:t>把辅助先验转成主解码器可用的增强特征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CBD5E1"/>
                          </a:solidFill>
                          <a:latin typeface="Microsoft YaHei"/>
                        </a:rPr>
                        <a:t>MainDecoder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CBD5E1"/>
                          </a:solidFill>
                          <a:latin typeface="Microsoft YaHei"/>
                        </a:rPr>
                        <a:t>skip attention + SA attention + gates + dual heads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CBD5E1"/>
                          </a:solidFill>
                          <a:latin typeface="Microsoft YaHei"/>
                        </a:rPr>
                        <a:t>生成高光 b、直接漫反射 r_direct 和 alpha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CBD5E1"/>
                          </a:solidFill>
                          <a:latin typeface="Microsoft YaHei"/>
                        </a:rPr>
                        <a:t>ResidualRefinementHead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CBD5E1"/>
                          </a:solidFill>
                          <a:latin typeface="Microsoft YaHei"/>
                        </a:rPr>
                        <a:t>3输入轻量残差 CNN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CBD5E1"/>
                          </a:solidFill>
                          <a:latin typeface="Microsoft YaHei"/>
                        </a:rPr>
                        <a:t>对融合后的漫反射进行稳定局部修正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CBD5E1"/>
                          </a:solidFill>
                          <a:latin typeface="Microsoft YaHei"/>
                        </a:rPr>
                        <a:t>EnhancedCompositeLoss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CBD5E1"/>
                          </a:solidFill>
                          <a:latin typeface="Microsoft YaHei"/>
                        </a:rPr>
                        <a:t>SSIM/L1/Freq/Spec/Grad/S/r losses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CBD5E1"/>
                          </a:solidFill>
                          <a:latin typeface="Microsoft YaHei"/>
                        </a:rPr>
                        <a:t>监督整个分解链条，而不仅是最终图像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CBD5E1"/>
                          </a:solidFill>
                          <a:latin typeface="Microsoft YaHei"/>
                        </a:rPr>
                        <a:t>process_images.py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CBD5E1"/>
                          </a:solidFill>
                          <a:latin typeface="Microsoft YaHei"/>
                        </a:rPr>
                        <a:t>checkpoint/EMA/GN/TTA/sliding window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0">
                          <a:solidFill>
                            <a:srgbClr val="CBD5E1"/>
                          </a:solidFill>
                          <a:latin typeface="Microsoft YaHei"/>
                        </a:rPr>
                        <a:t>把训练模型稳定部署到单图或批量大图推理</a:t>
                      </a:r>
                    </a:p>
                  </a:txBody>
                  <a:tcPr marL="45720" marR="45720" marT="27432" marB="27432">
                    <a:solidFill>
                      <a:srgbClr val="162033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7150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8FAFC"/>
                </a:solidFill>
                <a:latin typeface="Microsoft YaHei"/>
              </a:rPr>
              <a:t>一句话：当前 X-FFC V3.2 是一个“多尺度编码 + 频域建模 + 高光先验 + 双路径漫反射重建”的高反光去除网络。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8778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8FAFC"/>
                </a:solidFill>
                <a:latin typeface="Microsoft YaHei"/>
              </a:rPr>
              <a:t>实际使用建议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415"/>
            <a:ext cx="123444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>
                <a:solidFill>
                  <a:srgbClr val="94A3B8"/>
                </a:solidFill>
                <a:latin typeface="Microsoft YaHei"/>
              </a:rPr>
              <a:t>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325880"/>
            <a:ext cx="5257800" cy="13258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325880"/>
            <a:ext cx="54864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35607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训练建议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5029200" cy="7315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保持训练 IMAGE_SIZE 与推理 TRAIN_IMAGE_SIZE 一致；小 batch 推荐 USE_GN=True；真实高光样本少时启用 HighlightAugmentation。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25880"/>
            <a:ext cx="4937760" cy="13258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25880"/>
            <a:ext cx="54864" cy="1325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35607"/>
            <a:ext cx="4709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推理建议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828800"/>
            <a:ext cx="4709160" cy="7315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大图使用滑窗；优先使用 checkpoint 中记录的 image_size；质量优先开启 USE_TTA；需要高精度时保存 16-bit。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063240"/>
            <a:ext cx="525780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063240"/>
            <a:ext cx="54864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172968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汇报建议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66160"/>
            <a:ext cx="5029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展示 diffuse 主结果，同时附 specular、gradient、spec_likelihood 说明模型为什么这样去高光。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063240"/>
            <a:ext cx="4937760" cy="123444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063240"/>
            <a:ext cx="54864" cy="1234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172968"/>
            <a:ext cx="4709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调参关注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566160"/>
            <a:ext cx="47091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BD5E1"/>
                </a:solidFill>
                <a:latin typeface="Microsoft YaHei"/>
              </a:rPr>
              <a:t>观察 val_ssim、val_loss、r_focal_hl、s_lik、spec_peak、grad_edge 和可视化样本，判断高光去除与条纹保持是否平衡。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06040" y="4846320"/>
            <a:ext cx="6903720" cy="868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8920" y="4956048"/>
            <a:ext cx="6537959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38BDF8"/>
                </a:solidFill>
                <a:latin typeface="Microsoft YaHei"/>
              </a:rPr>
              <a:t>运行方式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70632" y="5248656"/>
            <a:ext cx="6583680" cy="41147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训练: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python train.py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推理: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python process_images.py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主输出:</a:t>
            </a:r>
          </a:p>
          <a:p>
            <a:pPr algn="l">
              <a:lnSpc>
                <a:spcPct val="95000"/>
              </a:lnSpc>
            </a:pPr>
            <a:r>
              <a:rPr sz="919" b="0">
                <a:solidFill>
                  <a:srgbClr val="E2E8F0"/>
                </a:solidFill>
                <a:latin typeface="Consolas"/>
              </a:rPr>
              <a:t>*_diffuse.png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8FAFC"/>
                </a:solidFill>
                <a:latin typeface="Microsoft YaHei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43000"/>
            <a:ext cx="566928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8BDF8"/>
                </a:solidFill>
                <a:latin typeface="Microsoft YaHei"/>
              </a:rPr>
              <a:t>X-FFC V3.2 当前模型结构完整讲解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2026310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57400"/>
            <a:ext cx="54864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67128"/>
            <a:ext cx="179771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8FAFC"/>
                </a:solidFill>
                <a:latin typeface="Microsoft YaHei"/>
              </a:rPr>
              <a:t>看得全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1797710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CBD5E1"/>
                </a:solidFill>
                <a:latin typeface="Microsoft YaHei"/>
              </a:rPr>
              <a:t>ResNet + Swin + FFC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57830" y="2606040"/>
            <a:ext cx="164592" cy="0"/>
          </a:xfrm>
          <a:prstGeom prst="line">
            <a:avLst/>
          </a:prstGeom>
          <a:ln w="1524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2422" y="2057400"/>
            <a:ext cx="2026310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2422" y="2057400"/>
            <a:ext cx="54864" cy="10972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59582" y="2167128"/>
            <a:ext cx="179771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8FAFC"/>
                </a:solidFill>
                <a:latin typeface="Microsoft YaHei"/>
              </a:rPr>
              <a:t>看得准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9582" y="2560320"/>
            <a:ext cx="1797710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CBD5E1"/>
                </a:solidFill>
                <a:latin typeface="Microsoft YaHei"/>
              </a:rPr>
              <a:t>g/s 先验 + 高光注意力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48732" y="2606040"/>
            <a:ext cx="164592" cy="0"/>
          </a:xfrm>
          <a:prstGeom prst="line">
            <a:avLst/>
          </a:prstGeom>
          <a:ln w="1524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13324" y="2057400"/>
            <a:ext cx="2026310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13324" y="2057400"/>
            <a:ext cx="54864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0484" y="2167128"/>
            <a:ext cx="179771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8FAFC"/>
                </a:solidFill>
                <a:latin typeface="Microsoft YaHei"/>
              </a:rPr>
              <a:t>分得清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0484" y="2560320"/>
            <a:ext cx="1797710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CBD5E1"/>
                </a:solidFill>
                <a:latin typeface="Microsoft YaHei"/>
              </a:rPr>
              <a:t>b 与 r_direct 双头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9635" y="2606040"/>
            <a:ext cx="164592" cy="0"/>
          </a:xfrm>
          <a:prstGeom prst="line">
            <a:avLst/>
          </a:prstGeom>
          <a:ln w="152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04227" y="2057400"/>
            <a:ext cx="2026310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04227" y="2057400"/>
            <a:ext cx="54864" cy="1097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41387" y="2167128"/>
            <a:ext cx="179771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8FAFC"/>
                </a:solidFill>
                <a:latin typeface="Microsoft YaHei"/>
              </a:rPr>
              <a:t>修得稳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1387" y="2560320"/>
            <a:ext cx="1797710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CBD5E1"/>
                </a:solidFill>
                <a:latin typeface="Microsoft YaHei"/>
              </a:rPr>
              <a:t>alpha 融合 + 残差精修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30537" y="2606040"/>
            <a:ext cx="164592" cy="0"/>
          </a:xfrm>
          <a:prstGeom prst="line">
            <a:avLst/>
          </a:prstGeom>
          <a:ln w="1524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495129" y="2057400"/>
            <a:ext cx="2026310" cy="1097280"/>
          </a:xfrm>
          <a:prstGeom prst="roundRect">
            <a:avLst/>
          </a:prstGeom>
          <a:solidFill>
            <a:srgbClr val="16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95129" y="2057400"/>
            <a:ext cx="54864" cy="10972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32289" y="2167128"/>
            <a:ext cx="179771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8FAFC"/>
                </a:solidFill>
                <a:latin typeface="Microsoft YaHei"/>
              </a:rPr>
              <a:t>训得住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2289" y="2560320"/>
            <a:ext cx="1797710" cy="5029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CBD5E1"/>
                </a:solidFill>
                <a:latin typeface="Microsoft YaHei"/>
              </a:rPr>
              <a:t>复合损失 + EMA + GN + 稳定性保护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977639"/>
            <a:ext cx="1014984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F8FAFC"/>
                </a:solidFill>
                <a:latin typeface="Microsoft YaHei"/>
              </a:rPr>
              <a:t>最终目标：从单张灰度结构光条纹图中，稳定分离高反光分量 b，恢复连续、干净、可用于后续三维重建的漫反射条纹 r。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5285232"/>
            <a:ext cx="1554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94A3B8"/>
                </a:solidFill>
                <a:latin typeface="Microsoft YaHei"/>
              </a:rPr>
              <a:t>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6446520"/>
            <a:ext cx="60350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</a:rPr>
              <a:t>X-FFC V3.2 当前模型技术讲解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" y="6665976"/>
            <a:ext cx="1141171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X-FFC V3.2 Current Model Detailed Technical Presentation</dc:title>
  <dc:subject>Detailed structure explanation of the current X-FFC/Y-FFC highlight removal model</dc:subject>
  <dc:creator>OpenAI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